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7.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26.xml" ContentType="application/vnd.openxmlformats-officedocument.presentationml.slide+xml"/>
  <Override PartName="/ppt/slides/slide48.xml" ContentType="application/vnd.openxmlformats-officedocument.presentationml.slide+xml"/>
  <Override PartName="/ppt/slides/slide5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4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9.xml" ContentType="application/vnd.openxmlformats-officedocument.presentationml.notesSlide+xml"/>
  <Override PartName="/ppt/notesSlides/notesSlide23.xml" ContentType="application/vnd.openxmlformats-officedocument.presentationml.notesSlide+xml"/>
  <Override PartName="/ppt/notesSlides/notesSlide37.xml" ContentType="application/vnd.openxmlformats-officedocument.presentationml.notesSlide+xml"/>
  <Override PartName="/ppt/notesSlides/notesSlide45.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35.xml" ContentType="application/vnd.openxmlformats-officedocument.presentationml.notesSlide+xml"/>
  <Override PartName="/ppt/notesSlides/notesSlide43.xml" ContentType="application/vnd.openxmlformats-officedocument.presentationml.notesSlide+xml"/>
  <Override PartName="/ppt/notesSlides/notesSlide36.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31.xml" ContentType="application/vnd.openxmlformats-officedocument.presentationml.notesSlide+xml"/>
  <Override PartName="/ppt/notesSlides/notesSlide44.xml" ContentType="application/vnd.openxmlformats-officedocument.presentationml.notesSlide+xml"/>
  <Override PartName="/ppt/notesSlides/notesSlide41.xml" ContentType="application/vnd.openxmlformats-officedocument.presentationml.notesSlide+xml"/>
  <Override PartName="/ppt/notesSlides/notesSlide30.xml" ContentType="application/vnd.openxmlformats-officedocument.presentationml.notesSlide+xml"/>
  <Override PartName="/ppt/notesSlides/notesSlide48.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52"/>
  </p:notesMasterIdLst>
  <p:handoutMasterIdLst>
    <p:handoutMasterId r:id="rId5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3" r:id="rId21"/>
    <p:sldId id="276" r:id="rId22"/>
    <p:sldId id="307" r:id="rId23"/>
    <p:sldId id="305" r:id="rId24"/>
    <p:sldId id="306" r:id="rId25"/>
    <p:sldId id="304"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1" r:id="rId40"/>
    <p:sldId id="292" r:id="rId41"/>
    <p:sldId id="293" r:id="rId42"/>
    <p:sldId id="294" r:id="rId43"/>
    <p:sldId id="308" r:id="rId44"/>
    <p:sldId id="310" r:id="rId45"/>
    <p:sldId id="311" r:id="rId46"/>
    <p:sldId id="309" r:id="rId47"/>
    <p:sldId id="295" r:id="rId48"/>
    <p:sldId id="296" r:id="rId49"/>
    <p:sldId id="297" r:id="rId50"/>
    <p:sldId id="300"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trimx@jmu.edu" initials="m" lastIdx="2" clrIdx="0">
    <p:extLst>
      <p:ext uri="{19B8F6BF-5375-455C-9EA6-DF929625EA0E}">
        <p15:presenceInfo xmlns:p15="http://schemas.microsoft.com/office/powerpoint/2012/main" userId="e1a938607e11e8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834" autoAdjust="0"/>
  </p:normalViewPr>
  <p:slideViewPr>
    <p:cSldViewPr>
      <p:cViewPr varScale="1">
        <p:scale>
          <a:sx n="65" d="100"/>
          <a:sy n="65" d="100"/>
        </p:scale>
        <p:origin x="198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71" d="100"/>
          <a:sy n="71" d="100"/>
        </p:scale>
        <p:origin x="3029"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anose="05000000000000000000" pitchFamily="2" charset="2"/>
              <a:buBlip>
                <a:blip r:embed="rId2"/>
              </a:buBlip>
              <a:defRPr sz="1200"/>
            </a:lvl1pPr>
          </a:lstStyle>
          <a:p>
            <a:fld id="{2A9FE85F-BC8E-4ACD-9E59-4FFC34542938}" type="slidenum">
              <a:rPr lang="en-US" altLang="en-US"/>
              <a:pPr/>
              <a:t>‹#›</a:t>
            </a:fld>
            <a:endParaRPr lang="en-US" altLang="en-US"/>
          </a:p>
        </p:txBody>
      </p:sp>
    </p:spTree>
    <p:extLst>
      <p:ext uri="{BB962C8B-B14F-4D97-AF65-F5344CB8AC3E}">
        <p14:creationId xmlns:p14="http://schemas.microsoft.com/office/powerpoint/2010/main" val="1504939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F5F488AC-279B-4D8B-A679-FF80C5A02C55}" type="slidenum">
              <a:rPr lang="en-US" altLang="en-US"/>
              <a:pPr/>
              <a:t>‹#›</a:t>
            </a:fld>
            <a:endParaRPr lang="en-US" altLang="en-US"/>
          </a:p>
        </p:txBody>
      </p:sp>
    </p:spTree>
    <p:extLst>
      <p:ext uri="{BB962C8B-B14F-4D97-AF65-F5344CB8AC3E}">
        <p14:creationId xmlns:p14="http://schemas.microsoft.com/office/powerpoint/2010/main" val="271016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C1F9C0-743D-4B9E-9ADD-0EEF6F5876F2}" type="slidenum">
              <a:rPr lang="en-US" altLang="en-US">
                <a:latin typeface="Tahoma" panose="020B0604030504040204" pitchFamily="34" charset="0"/>
              </a:rPr>
              <a:pPr eaLnBrk="1" hangingPunct="1"/>
              <a:t>1</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1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A614A7C-2820-4788-9B7C-F00F85172373}" type="slidenum">
              <a:rPr lang="en-US" altLang="en-US">
                <a:latin typeface="Tahoma" panose="020B0604030504040204" pitchFamily="34" charset="0"/>
              </a:rPr>
              <a:pPr eaLnBrk="1" hangingPunct="1"/>
              <a:t>2</a:t>
            </a:fld>
            <a:endParaRPr lang="en-US" altLang="en-US">
              <a:latin typeface="Tahoma" panose="020B060403050404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5773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8B1140-8227-438A-B834-C714477A62F2}" type="slidenum">
              <a:rPr lang="en-US" altLang="en-US">
                <a:latin typeface="Tahoma" panose="020B0604030504040204" pitchFamily="34" charset="0"/>
              </a:rPr>
              <a:pPr eaLnBrk="1" hangingPunct="1"/>
              <a:t>3</a:t>
            </a:fld>
            <a:endParaRPr lang="en-US" altLang="en-US">
              <a:latin typeface="Tahoma" panose="020B0604030504040204" pitchFamily="34" charset="0"/>
            </a:endParaRPr>
          </a:p>
        </p:txBody>
      </p:sp>
    </p:spTree>
    <p:extLst>
      <p:ext uri="{BB962C8B-B14F-4D97-AF65-F5344CB8AC3E}">
        <p14:creationId xmlns:p14="http://schemas.microsoft.com/office/powerpoint/2010/main" val="2948351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chapter includes several examples related to PVF, a furniture manufacturing company. This figure shows PVF’s information system prior to creating a centralized database.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Throughout this chapter, we’ll see discussion of a few projects at PVF.</a:t>
            </a: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2008E8-FF74-4EA2-B7AE-7C5455DEBD45}" type="slidenum">
              <a:rPr lang="en-US" altLang="en-US">
                <a:latin typeface="Tahoma" panose="020B0604030504040204" pitchFamily="34" charset="0"/>
              </a:rPr>
              <a:pPr eaLnBrk="1" hangingPunct="1"/>
              <a:t>4</a:t>
            </a:fld>
            <a:endParaRPr lang="en-US" altLang="en-US">
              <a:latin typeface="Tahoma" panose="020B0604030504040204" pitchFamily="34" charset="0"/>
            </a:endParaRPr>
          </a:p>
        </p:txBody>
      </p:sp>
    </p:spTree>
    <p:extLst>
      <p:ext uri="{BB962C8B-B14F-4D97-AF65-F5344CB8AC3E}">
        <p14:creationId xmlns:p14="http://schemas.microsoft.com/office/powerpoint/2010/main" val="2179799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CEAEC-F6E4-46EB-BE10-5AD7C31FED83}"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Tree>
    <p:extLst>
      <p:ext uri="{BB962C8B-B14F-4D97-AF65-F5344CB8AC3E}">
        <p14:creationId xmlns:p14="http://schemas.microsoft.com/office/powerpoint/2010/main" val="2592014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project manager needs to have both technical and organizational skills, and should be a good communicator with a strong sense of time management.</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Each SDLC phase will have some deliverable. Planning’s deliverable is typically a feasibility report, a budget, and a preliminary schedule. The Analysis phase usually results in a set of functional requirements. Logical design results in system specifications and physical design delivers actual programs and databases. So, each phase has</a:t>
            </a:r>
            <a:r>
              <a:rPr lang="en-US" altLang="en-US" baseline="0" dirty="0">
                <a:latin typeface="Arial" panose="020B0604020202020204" pitchFamily="34" charset="0"/>
                <a:cs typeface="Arial" panose="020B0604020202020204" pitchFamily="34" charset="0"/>
              </a:rPr>
              <a:t> a deliverable.</a:t>
            </a:r>
            <a:r>
              <a:rPr lang="en-US" altLang="en-US" dirty="0">
                <a:latin typeface="Arial" panose="020B0604020202020204" pitchFamily="34" charset="0"/>
                <a:cs typeface="Arial" panose="020B0604020202020204" pitchFamily="34" charset="0"/>
              </a:rPr>
              <a:t> </a:t>
            </a:r>
          </a:p>
          <a:p>
            <a:endParaRPr lang="en-US" altLang="en-US" dirty="0">
              <a:latin typeface="Arial" panose="020B0604020202020204" pitchFamily="34" charset="0"/>
              <a:cs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We talked about these a bit in chapter 1, and will talk in more detail in future chapters. </a:t>
            </a:r>
          </a:p>
          <a:p>
            <a:endParaRPr lang="en-US" altLang="en-US" dirty="0">
              <a:latin typeface="Arial" panose="020B0604020202020204" pitchFamily="34" charset="0"/>
              <a:cs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1338C5-872A-4B08-B7CF-6261DFB8760A}"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Tree>
    <p:extLst>
      <p:ext uri="{BB962C8B-B14F-4D97-AF65-F5344CB8AC3E}">
        <p14:creationId xmlns:p14="http://schemas.microsoft.com/office/powerpoint/2010/main" val="447324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 company</a:t>
            </a:r>
            <a:r>
              <a:rPr lang="en-US" altLang="en-US" baseline="0" dirty="0">
                <a:latin typeface="Arial" panose="020B0604020202020204" pitchFamily="34" charset="0"/>
                <a:cs typeface="Arial" panose="020B0604020202020204" pitchFamily="34" charset="0"/>
              </a:rPr>
              <a:t> will often need to consider several potential projects. </a:t>
            </a:r>
            <a:r>
              <a:rPr lang="en-US" altLang="en-US" dirty="0">
                <a:latin typeface="Arial" panose="020B0604020202020204" pitchFamily="34" charset="0"/>
                <a:cs typeface="Arial" panose="020B0604020202020204" pitchFamily="34" charset="0"/>
              </a:rPr>
              <a:t>Not all project requests should be granted. These requests will be prioritized based on importance and feasibility. Typically, a review board judges and approves project requests. At PVF, they call this the Systems Priority Board. </a:t>
            </a:r>
          </a:p>
          <a:p>
            <a:endParaRPr lang="en-US" altLang="en-US" dirty="0">
              <a:latin typeface="Arial" panose="020B0604020202020204" pitchFamily="34" charset="0"/>
              <a:cs typeface="Arial" panose="020B0604020202020204" pitchFamily="34" charset="0"/>
            </a:endParaRPr>
          </a:p>
          <a:p>
            <a:r>
              <a:rPr kumimoji="1" lang="en-US" sz="1200" b="0" i="0" u="none" strike="noStrike" kern="1200" baseline="0" dirty="0">
                <a:solidFill>
                  <a:schemeClr val="tx1"/>
                </a:solidFill>
                <a:latin typeface="Arial" charset="0"/>
                <a:ea typeface="+mn-ea"/>
                <a:cs typeface="Arial" charset="0"/>
              </a:rPr>
              <a:t>The board evaluates requests based on the business problems or opportunities the system addresses and judges how the proposed project fits within the organization’s information systems architecture and long-range development plans. The board selects the projects that best meet overall organizational objectives.</a:t>
            </a:r>
            <a:endParaRPr lang="en-US" altLang="en-US" dirty="0">
              <a:latin typeface="Arial" panose="020B0604020202020204" pitchFamily="34" charset="0"/>
              <a:cs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8343F0-8680-40D8-8900-42E1A3189C07}"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Tree>
    <p:extLst>
      <p:ext uri="{BB962C8B-B14F-4D97-AF65-F5344CB8AC3E}">
        <p14:creationId xmlns:p14="http://schemas.microsoft.com/office/powerpoint/2010/main" val="22412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is the Purchasing Fulfillment System SSR. As you can see, Juanita Lopez</a:t>
            </a:r>
            <a:r>
              <a:rPr lang="en-US" altLang="en-US" baseline="0" dirty="0">
                <a:latin typeface="Arial" panose="020B0604020202020204" pitchFamily="34" charset="0"/>
                <a:cs typeface="Arial" panose="020B0604020202020204" pitchFamily="34" charset="0"/>
              </a:rPr>
              <a:t> identifies a business problem and a requested solution. This is a request for a new system, the biggest level request. The primary beneficiaries will be Purchasing and Manufacturing. Although it is an important project, there is recognition and acceptance that this may be a long-term project, as you can see in the “urgency” section. </a:t>
            </a:r>
          </a:p>
          <a:p>
            <a:endParaRPr lang="en-US" altLang="en-US" baseline="0" dirty="0">
              <a:latin typeface="Arial" panose="020B0604020202020204" pitchFamily="34" charset="0"/>
              <a:cs typeface="Arial" panose="020B0604020202020204" pitchFamily="34" charset="0"/>
            </a:endParaRPr>
          </a:p>
          <a:p>
            <a:r>
              <a:rPr kumimoji="1" lang="en-US" sz="1200" b="0" i="0" u="none" strike="noStrike" kern="1200" baseline="0" dirty="0">
                <a:solidFill>
                  <a:schemeClr val="tx1"/>
                </a:solidFill>
                <a:latin typeface="Arial" charset="0"/>
                <a:ea typeface="+mn-ea"/>
                <a:cs typeface="Arial" charset="0"/>
              </a:rPr>
              <a:t>Systems development projects are undertaken for two primary reasons: to take advantage of business opportunities and to solve business problems. Taking advantage of an opportunity might mean providing an innovative service to customers through the creation of a new system. Solving a business problem could involve modifying the way an existing system processes data so that more accurate or timely information is provided to users.</a:t>
            </a:r>
            <a:endParaRPr lang="en-US" altLang="en-US" dirty="0">
              <a:latin typeface="Arial" panose="020B0604020202020204" pitchFamily="34" charset="0"/>
              <a:cs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531C104-15D8-4630-9A7B-1F6AED5822F1}" type="slidenum">
              <a:rPr lang="en-US" altLang="en-US">
                <a:latin typeface="Tahoma" panose="020B0604030504040204" pitchFamily="34" charset="0"/>
              </a:rPr>
              <a:pPr eaLnBrk="1" hangingPunct="1"/>
              <a:t>8</a:t>
            </a:fld>
            <a:endParaRPr lang="en-US" altLang="en-US">
              <a:latin typeface="Tahoma" panose="020B0604030504040204" pitchFamily="34" charset="0"/>
            </a:endParaRPr>
          </a:p>
        </p:txBody>
      </p:sp>
    </p:spTree>
    <p:extLst>
      <p:ext uri="{BB962C8B-B14F-4D97-AF65-F5344CB8AC3E}">
        <p14:creationId xmlns:p14="http://schemas.microsoft.com/office/powerpoint/2010/main" val="3924992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As you can see, a project manager leads a very busy</a:t>
            </a:r>
            <a:r>
              <a:rPr lang="en-US" altLang="en-US" baseline="0" dirty="0">
                <a:latin typeface="Arial" panose="020B0604020202020204" pitchFamily="34" charset="0"/>
                <a:cs typeface="Arial" panose="020B0604020202020204" pitchFamily="34" charset="0"/>
              </a:rPr>
              <a:t> life, and needs to take into account many factors and stakeholders when making scheduling, resource, and design decisions.</a:t>
            </a:r>
            <a:endParaRPr lang="en-US" altLang="en-US" dirty="0">
              <a:latin typeface="Arial" panose="020B0604020202020204" pitchFamily="34" charset="0"/>
              <a:cs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097067E-0540-4BC7-A477-7C33D16FB768}" type="slidenum">
              <a:rPr lang="en-US" altLang="en-US">
                <a:latin typeface="Tahoma" panose="020B0604030504040204" pitchFamily="34" charset="0"/>
              </a:rPr>
              <a:pPr eaLnBrk="1" hangingPunct="1"/>
              <a:t>9</a:t>
            </a:fld>
            <a:endParaRPr lang="en-US" altLang="en-US">
              <a:latin typeface="Tahoma" panose="020B0604030504040204" pitchFamily="34" charset="0"/>
            </a:endParaRPr>
          </a:p>
        </p:txBody>
      </p:sp>
    </p:spTree>
    <p:extLst>
      <p:ext uri="{BB962C8B-B14F-4D97-AF65-F5344CB8AC3E}">
        <p14:creationId xmlns:p14="http://schemas.microsoft.com/office/powerpoint/2010/main" val="1819447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078F0EF-BB6E-408B-82CC-940983E023EB}" type="slidenum">
              <a:rPr lang="en-US" altLang="en-US">
                <a:latin typeface="Tahoma" panose="020B0604030504040204" pitchFamily="34" charset="0"/>
              </a:rPr>
              <a:pPr eaLnBrk="1" hangingPunct="1"/>
              <a:t>10</a:t>
            </a:fld>
            <a:endParaRPr lang="en-US" altLang="en-US">
              <a:latin typeface="Tahoma" panose="020B0604030504040204" pitchFamily="34" charset="0"/>
            </a:endParaRPr>
          </a:p>
        </p:txBody>
      </p:sp>
    </p:spTree>
    <p:extLst>
      <p:ext uri="{BB962C8B-B14F-4D97-AF65-F5344CB8AC3E}">
        <p14:creationId xmlns:p14="http://schemas.microsoft.com/office/powerpoint/2010/main" val="1893509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In the case of PVF’s purchasing fulfillment system project, initiation involved these steps:</a:t>
            </a:r>
          </a:p>
          <a:p>
            <a:endParaRPr lang="en-US" altLang="en-US" dirty="0">
              <a:latin typeface="Arial" panose="020B0604020202020204" pitchFamily="34" charset="0"/>
              <a:cs typeface="Arial" panose="020B0604020202020204" pitchFamily="34" charset="0"/>
            </a:endParaRPr>
          </a:p>
          <a:p>
            <a:pPr marL="228600" indent="-228600">
              <a:buAutoNum type="arabicParenR"/>
            </a:pPr>
            <a:r>
              <a:rPr kumimoji="1" lang="en-US" sz="1200" b="0" i="0" u="none" strike="noStrike" kern="1200" baseline="0" dirty="0">
                <a:solidFill>
                  <a:schemeClr val="tx1"/>
                </a:solidFill>
                <a:latin typeface="Arial" charset="0"/>
                <a:ea typeface="+mn-ea"/>
                <a:cs typeface="Arial" charset="0"/>
              </a:rPr>
              <a:t>Juanita observed problems with the existing purchasing system.</a:t>
            </a:r>
          </a:p>
          <a:p>
            <a:pPr marL="228600" indent="-228600">
              <a:buAutoNum type="arabicParenR"/>
            </a:pPr>
            <a:r>
              <a:rPr kumimoji="1" lang="en-US" altLang="en-US" sz="1200" b="0" i="0" u="none" strike="noStrike" kern="1200" baseline="0" dirty="0">
                <a:solidFill>
                  <a:schemeClr val="tx1"/>
                </a:solidFill>
                <a:latin typeface="Arial" charset="0"/>
                <a:ea typeface="+mn-ea"/>
                <a:cs typeface="Arial" charset="0"/>
              </a:rPr>
              <a:t>She contacted Chris from the IS department to set up an SSR.</a:t>
            </a:r>
          </a:p>
          <a:p>
            <a:pPr marL="228600" indent="-228600">
              <a:buAutoNum type="arabicParenR"/>
            </a:pPr>
            <a:r>
              <a:rPr kumimoji="1" lang="en-US" altLang="en-US" sz="1200" b="0" i="0" u="none" strike="noStrike" kern="1200" baseline="0" dirty="0">
                <a:solidFill>
                  <a:schemeClr val="tx1"/>
                </a:solidFill>
                <a:latin typeface="Arial" charset="0"/>
                <a:ea typeface="+mn-ea"/>
                <a:cs typeface="Arial" charset="0"/>
              </a:rPr>
              <a:t>The Systems Priority Board at PVF reviewed and approved the project request.</a:t>
            </a:r>
          </a:p>
          <a:p>
            <a:pPr marL="228600" indent="-228600">
              <a:buAutoNum type="arabicParenR"/>
            </a:pPr>
            <a:r>
              <a:rPr kumimoji="1" lang="en-US" altLang="en-US" sz="1200" b="0" i="0" u="none" strike="noStrike" kern="1200" baseline="0" dirty="0">
                <a:solidFill>
                  <a:schemeClr val="tx1"/>
                </a:solidFill>
                <a:latin typeface="Arial" charset="0"/>
                <a:ea typeface="+mn-ea"/>
                <a:cs typeface="Arial" charset="0"/>
              </a:rPr>
              <a:t>A steering committee was set up to oversee the project.</a:t>
            </a:r>
          </a:p>
          <a:p>
            <a:pPr marL="228600" indent="-228600">
              <a:buAutoNum type="arabicParenR"/>
            </a:pPr>
            <a:r>
              <a:rPr kumimoji="1" lang="en-US" altLang="en-US" sz="1200" b="0" i="0" u="none" strike="noStrike" kern="1200" baseline="0" dirty="0">
                <a:solidFill>
                  <a:schemeClr val="tx1"/>
                </a:solidFill>
                <a:latin typeface="Arial" charset="0"/>
                <a:ea typeface="+mn-ea"/>
                <a:cs typeface="Arial" charset="0"/>
              </a:rPr>
              <a:t>A detailed project plan was developed and executed.</a:t>
            </a:r>
            <a:endParaRPr lang="en-US" altLang="en-US" dirty="0">
              <a:latin typeface="Arial" panose="020B0604020202020204" pitchFamily="34" charset="0"/>
              <a:cs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251F377-6CE7-4C7A-B58E-A7F896634252}" type="slidenum">
              <a:rPr lang="en-US" altLang="en-US">
                <a:latin typeface="Tahoma" panose="020B0604030504040204" pitchFamily="34" charset="0"/>
              </a:rPr>
              <a:pPr eaLnBrk="1" hangingPunct="1"/>
              <a:t>11</a:t>
            </a:fld>
            <a:endParaRPr lang="en-US" altLang="en-US">
              <a:latin typeface="Tahoma" panose="020B0604030504040204" pitchFamily="34" charset="0"/>
            </a:endParaRPr>
          </a:p>
        </p:txBody>
      </p:sp>
    </p:spTree>
    <p:extLst>
      <p:ext uri="{BB962C8B-B14F-4D97-AF65-F5344CB8AC3E}">
        <p14:creationId xmlns:p14="http://schemas.microsoft.com/office/powerpoint/2010/main" val="2301609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project workbook contains all of the documentation regarding the project. For example, the SSR we saw in a previous slide is contained kept</a:t>
            </a:r>
            <a:r>
              <a:rPr lang="en-US" altLang="en-US" baseline="0" dirty="0">
                <a:latin typeface="Arial" panose="020B0604020202020204" pitchFamily="34" charset="0"/>
                <a:cs typeface="Arial" panose="020B0604020202020204" pitchFamily="34" charset="0"/>
              </a:rPr>
              <a:t> in the workbook. </a:t>
            </a:r>
            <a:r>
              <a:rPr lang="en-US" altLang="en-US" dirty="0">
                <a:latin typeface="Arial" panose="020B0604020202020204" pitchFamily="34" charset="0"/>
                <a:cs typeface="Arial" panose="020B0604020202020204" pitchFamily="34" charset="0"/>
              </a:rPr>
              <a:t> </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The project workbook will consist of a</a:t>
            </a:r>
            <a:r>
              <a:rPr lang="en-US" altLang="en-US" baseline="0" dirty="0">
                <a:latin typeface="Arial" panose="020B0604020202020204" pitchFamily="34" charset="0"/>
                <a:cs typeface="Arial" panose="020B0604020202020204" pitchFamily="34" charset="0"/>
              </a:rPr>
              <a:t> bunch of other documents that we’ll look at in the next few slides.</a:t>
            </a:r>
            <a:endParaRPr lang="en-US" altLang="en-US" dirty="0">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C837ED-7623-470D-A9C5-C50B3B7EF486}" type="slidenum">
              <a:rPr lang="en-US" altLang="en-US">
                <a:latin typeface="Tahoma" panose="020B0604030504040204" pitchFamily="34" charset="0"/>
              </a:rPr>
              <a:pPr eaLnBrk="1" hangingPunct="1"/>
              <a:t>12</a:t>
            </a:fld>
            <a:endParaRPr lang="en-US" altLang="en-US">
              <a:latin typeface="Tahoma" panose="020B0604030504040204" pitchFamily="34" charset="0"/>
            </a:endParaRPr>
          </a:p>
        </p:txBody>
      </p:sp>
    </p:spTree>
    <p:extLst>
      <p:ext uri="{BB962C8B-B14F-4D97-AF65-F5344CB8AC3E}">
        <p14:creationId xmlns:p14="http://schemas.microsoft.com/office/powerpoint/2010/main" val="220478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charter gives</a:t>
            </a:r>
            <a:r>
              <a:rPr lang="en-US" baseline="0" dirty="0"/>
              <a:t> a formal expression of the common understanding between the IS project team and the client. Different companies may have different formats for their project charters.</a:t>
            </a:r>
          </a:p>
          <a:p>
            <a:endParaRPr lang="en-US" baseline="0" dirty="0"/>
          </a:p>
          <a:p>
            <a:r>
              <a:rPr lang="en-US" baseline="0" dirty="0"/>
              <a:t>The project charter is another document that goes into the project workbook.</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13</a:t>
            </a:fld>
            <a:endParaRPr lang="en-US" altLang="en-US"/>
          </a:p>
        </p:txBody>
      </p:sp>
    </p:spTree>
    <p:extLst>
      <p:ext uri="{BB962C8B-B14F-4D97-AF65-F5344CB8AC3E}">
        <p14:creationId xmlns:p14="http://schemas.microsoft.com/office/powerpoint/2010/main" val="4291465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As you can see, project planning involves several different activities.</a:t>
            </a:r>
            <a:r>
              <a:rPr lang="en-US" altLang="en-US" baseline="0" dirty="0">
                <a:latin typeface="Arial" panose="020B0604020202020204" pitchFamily="34" charset="0"/>
                <a:cs typeface="Arial" panose="020B0604020202020204" pitchFamily="34" charset="0"/>
              </a:rPr>
              <a:t> Some of these tasks can be aided with project management software tools, like Microsoft Project. For example, MS Project directly helps with #2, 3, 4, 8, and 10.</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We’ll see some MS project screenshots in future slides. These MS Project files will also be part of the project workbook.</a:t>
            </a:r>
            <a:endParaRPr lang="en-US" altLang="en-US" dirty="0">
              <a:latin typeface="Arial" panose="020B0604020202020204" pitchFamily="34" charset="0"/>
              <a:cs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0F42D8-0D43-4545-9DAA-7B82C9E1F67B}" type="slidenum">
              <a:rPr lang="en-US" altLang="en-US">
                <a:latin typeface="Tahoma" panose="020B0604030504040204" pitchFamily="34" charset="0"/>
              </a:rPr>
              <a:pPr eaLnBrk="1" hangingPunct="1"/>
              <a:t>14</a:t>
            </a:fld>
            <a:endParaRPr lang="en-US" altLang="en-US">
              <a:latin typeface="Tahoma" panose="020B0604030504040204" pitchFamily="34" charset="0"/>
            </a:endParaRPr>
          </a:p>
        </p:txBody>
      </p:sp>
    </p:spTree>
    <p:extLst>
      <p:ext uri="{BB962C8B-B14F-4D97-AF65-F5344CB8AC3E}">
        <p14:creationId xmlns:p14="http://schemas.microsoft.com/office/powerpoint/2010/main" val="3622614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general principal is that we need to accept the fact of uncertainty, and that things will change over time. So, although we want</a:t>
            </a:r>
            <a:r>
              <a:rPr lang="en-US" altLang="en-US" baseline="0" dirty="0">
                <a:latin typeface="Arial" panose="020B0604020202020204" pitchFamily="34" charset="0"/>
                <a:cs typeface="Arial" panose="020B0604020202020204" pitchFamily="34" charset="0"/>
              </a:rPr>
              <a:t> a detailed idea of what we’re going to do in the immediate future, we allow for more flexibility as time goes on.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This implies that planning is always going on. Plans are revisited and evolve over time.</a:t>
            </a:r>
            <a:endParaRPr lang="en-US" altLang="en-US" dirty="0">
              <a:latin typeface="Arial" panose="020B0604020202020204" pitchFamily="34" charset="0"/>
              <a:cs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C93013-E769-47A6-BCC6-57787176DD71}" type="slidenum">
              <a:rPr lang="en-US" altLang="en-US">
                <a:latin typeface="Tahoma" panose="020B0604030504040204" pitchFamily="34" charset="0"/>
              </a:rPr>
              <a:pPr eaLnBrk="1" hangingPunct="1"/>
              <a:t>15</a:t>
            </a:fld>
            <a:endParaRPr lang="en-US" altLang="en-US">
              <a:latin typeface="Tahoma" panose="020B0604030504040204" pitchFamily="34" charset="0"/>
            </a:endParaRPr>
          </a:p>
        </p:txBody>
      </p:sp>
    </p:spTree>
    <p:extLst>
      <p:ext uri="{BB962C8B-B14F-4D97-AF65-F5344CB8AC3E}">
        <p14:creationId xmlns:p14="http://schemas.microsoft.com/office/powerpoint/2010/main" val="3888370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It’s important to watch out for “scope creep”, where the project</a:t>
            </a:r>
            <a:r>
              <a:rPr lang="en-US" altLang="en-US" baseline="0" dirty="0">
                <a:latin typeface="Arial" panose="020B0604020202020204" pitchFamily="34" charset="0"/>
                <a:cs typeface="Arial" panose="020B0604020202020204" pitchFamily="34" charset="0"/>
              </a:rPr>
              <a:t> requirements grow too much. To avoid this, part of the planning process is to define the expectations ahead of time. </a:t>
            </a:r>
          </a:p>
          <a:p>
            <a:endParaRPr lang="en-US" altLang="en-US" baseline="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660E826-4B24-42F7-A0D2-138B62313E4C}" type="slidenum">
              <a:rPr lang="en-US" altLang="en-US">
                <a:latin typeface="Tahoma" panose="020B0604030504040204" pitchFamily="34" charset="0"/>
              </a:rPr>
              <a:pPr eaLnBrk="1" hangingPunct="1"/>
              <a:t>16</a:t>
            </a:fld>
            <a:endParaRPr lang="en-US" altLang="en-US">
              <a:latin typeface="Tahoma" panose="020B0604030504040204" pitchFamily="34" charset="0"/>
            </a:endParaRPr>
          </a:p>
        </p:txBody>
      </p:sp>
    </p:spTree>
    <p:extLst>
      <p:ext uri="{BB962C8B-B14F-4D97-AF65-F5344CB8AC3E}">
        <p14:creationId xmlns:p14="http://schemas.microsoft.com/office/powerpoint/2010/main" val="177901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17</a:t>
            </a:fld>
            <a:endParaRPr lang="en-US" altLang="en-US"/>
          </a:p>
        </p:txBody>
      </p:sp>
    </p:spTree>
    <p:extLst>
      <p:ext uri="{BB962C8B-B14F-4D97-AF65-F5344CB8AC3E}">
        <p14:creationId xmlns:p14="http://schemas.microsoft.com/office/powerpoint/2010/main" val="4095715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a typical</a:t>
            </a:r>
            <a:r>
              <a:rPr lang="en-US" altLang="en-US" baseline="0" dirty="0">
                <a:latin typeface="Arial" panose="020B0604020202020204" pitchFamily="34" charset="0"/>
                <a:cs typeface="Arial" panose="020B0604020202020204" pitchFamily="34" charset="0"/>
              </a:rPr>
              <a:t> Microsoft Project screen. </a:t>
            </a:r>
            <a:r>
              <a:rPr lang="en-US" altLang="en-US" dirty="0">
                <a:latin typeface="Arial" panose="020B0604020202020204" pitchFamily="34" charset="0"/>
                <a:cs typeface="Arial" panose="020B0604020202020204" pitchFamily="34" charset="0"/>
              </a:rPr>
              <a:t>The left part of this screen is a Work Breakdown Structure</a:t>
            </a:r>
            <a:r>
              <a:rPr lang="en-US" altLang="en-US" baseline="0" dirty="0">
                <a:latin typeface="Arial" panose="020B0604020202020204" pitchFamily="34" charset="0"/>
                <a:cs typeface="Arial" panose="020B0604020202020204" pitchFamily="34" charset="0"/>
              </a:rPr>
              <a:t> (WBS), which shows the hierarchy of tasks, subtasks, sub-subtasks, etc. The boldfaced tasks are summary tasks, and their durations are based on the durations and dependencies of their subtasks. MS Project automatically calculates project duration based on how you set the task durations and dependencies.</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The durations and dependencies between these tasks are shown graphically in the Gantt chart to the right. You can use either the WBS of the Gantt chart or both as you set up the project schedule.</a:t>
            </a:r>
            <a:endParaRPr lang="en-US" altLang="en-US" dirty="0">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00CBFFA-3EB8-4997-8761-1D2CFAA3E6DB}" type="slidenum">
              <a:rPr lang="en-US" altLang="en-US">
                <a:latin typeface="Tahoma" panose="020B0604030504040204" pitchFamily="34" charset="0"/>
              </a:rPr>
              <a:pPr eaLnBrk="1" hangingPunct="1"/>
              <a:t>18</a:t>
            </a:fld>
            <a:endParaRPr lang="en-US" altLang="en-US">
              <a:latin typeface="Tahoma" panose="020B0604030504040204" pitchFamily="34" charset="0"/>
            </a:endParaRPr>
          </a:p>
        </p:txBody>
      </p:sp>
    </p:spTree>
    <p:extLst>
      <p:ext uri="{BB962C8B-B14F-4D97-AF65-F5344CB8AC3E}">
        <p14:creationId xmlns:p14="http://schemas.microsoft.com/office/powerpoint/2010/main" val="2309531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another screen shot, that shows the tasks in a network diagram. You have different ways of viewing</a:t>
            </a:r>
            <a:r>
              <a:rPr lang="en-US" altLang="en-US" baseline="0" dirty="0">
                <a:latin typeface="Arial" panose="020B0604020202020204" pitchFamily="34" charset="0"/>
                <a:cs typeface="Arial" panose="020B0604020202020204" pitchFamily="34" charset="0"/>
              </a:rPr>
              <a:t> a project.</a:t>
            </a:r>
            <a:endParaRPr lang="en-US" altLang="en-US" dirty="0">
              <a:latin typeface="Arial" panose="020B0604020202020204" pitchFamily="34" charset="0"/>
              <a:cs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B5B1529-6591-4EB4-9440-C1B18177CBA7}" type="slidenum">
              <a:rPr lang="en-US" altLang="en-US">
                <a:latin typeface="Tahoma" panose="020B0604030504040204" pitchFamily="34" charset="0"/>
              </a:rPr>
              <a:pPr eaLnBrk="1" hangingPunct="1"/>
              <a:t>19</a:t>
            </a:fld>
            <a:endParaRPr lang="en-US" altLang="en-US">
              <a:latin typeface="Tahoma" panose="020B0604030504040204" pitchFamily="34" charset="0"/>
            </a:endParaRPr>
          </a:p>
        </p:txBody>
      </p:sp>
    </p:spTree>
    <p:extLst>
      <p:ext uri="{BB962C8B-B14F-4D97-AF65-F5344CB8AC3E}">
        <p14:creationId xmlns:p14="http://schemas.microsoft.com/office/powerpoint/2010/main" val="3600123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COCOMO is a commonly</a:t>
            </a:r>
            <a:r>
              <a:rPr lang="en-US" baseline="0" dirty="0"/>
              <a:t> used tool in software development projects. It provides an estimate of software costs. </a:t>
            </a:r>
          </a:p>
          <a:p>
            <a:endParaRPr lang="en-US" baseline="0" dirty="0"/>
          </a:p>
          <a:p>
            <a:r>
              <a:rPr lang="en-US" baseline="0" dirty="0"/>
              <a:t>When assigning people to tasks, you want to make sure a person’s talents, skills and interests match well with the tasks that need to be done. Some projects divide people into highly specialized roles, whereas in other projects each person gets a variety of different types of tasks. These are important interpersonal issues that a project manager is faced with.</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20</a:t>
            </a:fld>
            <a:endParaRPr lang="en-US" altLang="en-US"/>
          </a:p>
        </p:txBody>
      </p:sp>
    </p:spTree>
    <p:extLst>
      <p:ext uri="{BB962C8B-B14F-4D97-AF65-F5344CB8AC3E}">
        <p14:creationId xmlns:p14="http://schemas.microsoft.com/office/powerpoint/2010/main" val="188863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 project may affect many groups within and outside the organization. With all these stakeholders, it is important to</a:t>
            </a:r>
            <a:r>
              <a:rPr lang="en-US" baseline="0" dirty="0"/>
              <a:t> create and execute a workable and efficient plan for keeping everyone in the loop. </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21</a:t>
            </a:fld>
            <a:endParaRPr lang="en-US" altLang="en-US"/>
          </a:p>
        </p:txBody>
      </p:sp>
    </p:spTree>
    <p:extLst>
      <p:ext uri="{BB962C8B-B14F-4D97-AF65-F5344CB8AC3E}">
        <p14:creationId xmlns:p14="http://schemas.microsoft.com/office/powerpoint/2010/main" val="3096768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good expression of the communication plan. And it would be another document to add to the project workbook.</a:t>
            </a:r>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22</a:t>
            </a:fld>
            <a:endParaRPr lang="en-US" altLang="en-US"/>
          </a:p>
        </p:txBody>
      </p:sp>
    </p:spTree>
    <p:extLst>
      <p:ext uri="{BB962C8B-B14F-4D97-AF65-F5344CB8AC3E}">
        <p14:creationId xmlns:p14="http://schemas.microsoft.com/office/powerpoint/2010/main" val="18995909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Spreadsheet software like Microsoft Excel is often used for budgeting.</a:t>
            </a:r>
            <a:r>
              <a:rPr lang="en-US" altLang="en-US" baseline="0" dirty="0">
                <a:latin typeface="Arial" panose="020B0604020202020204" pitchFamily="34" charset="0"/>
                <a:cs typeface="Arial" panose="020B0604020202020204" pitchFamily="34" charset="0"/>
              </a:rPr>
              <a:t> MS Project also provides a vehicle for budgeting, which is tied to the scheduling and resource allocation parts of the tool.</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Obviously, the project budget is another important part of the overall project workbook.</a:t>
            </a:r>
            <a:endParaRPr lang="en-US" altLang="en-US" dirty="0">
              <a:latin typeface="Arial" panose="020B0604020202020204" pitchFamily="34" charset="0"/>
              <a:cs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4BC411-D0B1-4195-9A97-F807AB156217}" type="slidenum">
              <a:rPr lang="en-US" altLang="en-US">
                <a:latin typeface="Tahoma" panose="020B0604030504040204" pitchFamily="34" charset="0"/>
              </a:rPr>
              <a:pPr eaLnBrk="1" hangingPunct="1"/>
              <a:t>25</a:t>
            </a:fld>
            <a:endParaRPr lang="en-US" altLang="en-US">
              <a:latin typeface="Tahoma" panose="020B0604030504040204" pitchFamily="34" charset="0"/>
            </a:endParaRPr>
          </a:p>
        </p:txBody>
      </p:sp>
    </p:spTree>
    <p:extLst>
      <p:ext uri="{BB962C8B-B14F-4D97-AF65-F5344CB8AC3E}">
        <p14:creationId xmlns:p14="http://schemas.microsoft.com/office/powerpoint/2010/main" val="24608802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“baseline” we mean a standard against</a:t>
            </a:r>
            <a:r>
              <a:rPr lang="en-US" baseline="0" dirty="0"/>
              <a:t> which we’ll evaluate the project’s actual progress. The baseline is our prediction. Remember that we talked about uncertainty, which is why the project plan can’t be too detailed for the long-term future. So, it’s not surprising that the baseline plan will be modified as time goes on. </a:t>
            </a:r>
          </a:p>
          <a:p>
            <a:endParaRPr lang="en-US" baseline="0" dirty="0"/>
          </a:p>
          <a:p>
            <a:r>
              <a:rPr lang="en-US" baseline="0" dirty="0"/>
              <a:t>But it gives us a direction by setting goals and expectations, in terms of both time and financial cost.</a:t>
            </a:r>
          </a:p>
          <a:p>
            <a:endParaRPr lang="en-US" baseline="0" dirty="0"/>
          </a:p>
          <a:p>
            <a:r>
              <a:rPr lang="en-US" baseline="0" dirty="0"/>
              <a:t>Microsoft Project includes the capability to set a baseline plan and compare it to actual progress.</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26</a:t>
            </a:fld>
            <a:endParaRPr lang="en-US" altLang="en-US"/>
          </a:p>
        </p:txBody>
      </p:sp>
    </p:spTree>
    <p:extLst>
      <p:ext uri="{BB962C8B-B14F-4D97-AF65-F5344CB8AC3E}">
        <p14:creationId xmlns:p14="http://schemas.microsoft.com/office/powerpoint/2010/main" val="3585952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Phase 2 was about planning the project. At phase 3, the activities</a:t>
            </a:r>
            <a:r>
              <a:rPr lang="en-US" altLang="en-US" baseline="0" dirty="0">
                <a:latin typeface="Arial" panose="020B0604020202020204" pitchFamily="34" charset="0"/>
                <a:cs typeface="Arial" panose="020B0604020202020204" pitchFamily="34" charset="0"/>
              </a:rPr>
              <a:t> defined in the project plan are actually tackled by the people (resources) who are assigned these tasks. While the project is being executed, the project manager monitors progress and adjusts plans, resource allocation, etc. accordingly. All the time, new documentation is added to the project workbook, and the communication channels remain open and active.</a:t>
            </a:r>
            <a:endParaRPr lang="en-US" altLang="en-US" dirty="0">
              <a:latin typeface="Arial" panose="020B0604020202020204" pitchFamily="34" charset="0"/>
              <a:cs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307073-C9F6-4C91-BB82-6926B71A1111}" type="slidenum">
              <a:rPr lang="en-US" altLang="en-US">
                <a:latin typeface="Tahoma" panose="020B0604030504040204" pitchFamily="34" charset="0"/>
              </a:rPr>
              <a:pPr eaLnBrk="1" hangingPunct="1"/>
              <a:t>27</a:t>
            </a:fld>
            <a:endParaRPr lang="en-US" altLang="en-US">
              <a:latin typeface="Tahoma" panose="020B0604030504040204" pitchFamily="34" charset="0"/>
            </a:endParaRPr>
          </a:p>
        </p:txBody>
      </p:sp>
    </p:spTree>
    <p:extLst>
      <p:ext uri="{BB962C8B-B14F-4D97-AF65-F5344CB8AC3E}">
        <p14:creationId xmlns:p14="http://schemas.microsoft.com/office/powerpoint/2010/main" val="2411358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red bars are the critical path, which means that these tasks cannot be delayed or</a:t>
            </a:r>
            <a:r>
              <a:rPr lang="en-US" altLang="en-US" baseline="0" dirty="0">
                <a:latin typeface="Arial" panose="020B0604020202020204" pitchFamily="34" charset="0"/>
                <a:cs typeface="Arial" panose="020B0604020202020204" pitchFamily="34" charset="0"/>
              </a:rPr>
              <a:t> lengthened without affecting the overall duration of the project. There is a precise algorithm for calculating the critical path in a project, and we’ll go through this formula shortly. Fortunately, project management tools like Microsoft Project automatically calculate critical paths.</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The little black bars inside the blue bars of the Gantt chart show how much of the task is actually completed. So, here we see a case of using MS Project to monitor and track progress during project execution.</a:t>
            </a:r>
            <a:endParaRPr lang="en-US" altLang="en-US" dirty="0">
              <a:latin typeface="Arial" panose="020B0604020202020204" pitchFamily="34" charset="0"/>
              <a:cs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76E54C-D296-4692-9975-796DF8717B3C}" type="slidenum">
              <a:rPr lang="en-US" altLang="en-US">
                <a:latin typeface="Tahoma" panose="020B0604030504040204" pitchFamily="34" charset="0"/>
              </a:rPr>
              <a:pPr eaLnBrk="1" hangingPunct="1"/>
              <a:t>28</a:t>
            </a:fld>
            <a:endParaRPr lang="en-US" altLang="en-US">
              <a:latin typeface="Tahoma" panose="020B0604030504040204" pitchFamily="34" charset="0"/>
            </a:endParaRPr>
          </a:p>
        </p:txBody>
      </p:sp>
    </p:spTree>
    <p:extLst>
      <p:ext uri="{BB962C8B-B14F-4D97-AF65-F5344CB8AC3E}">
        <p14:creationId xmlns:p14="http://schemas.microsoft.com/office/powerpoint/2010/main" val="3178521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We’ve already talked about the importance</a:t>
            </a:r>
            <a:r>
              <a:rPr lang="en-US" altLang="en-US" baseline="0" dirty="0">
                <a:latin typeface="Arial" panose="020B0604020202020204" pitchFamily="34" charset="0"/>
                <a:cs typeface="Arial" panose="020B0604020202020204" pitchFamily="34" charset="0"/>
              </a:rPr>
              <a:t> of communication, and in the planning phase we discussed the construction of a communication plan. This table shows several different modes of communication that are possible among project stakeholders. Most teams will use multiple of these methods.</a:t>
            </a:r>
            <a:endParaRPr lang="en-US" altLang="en-US" dirty="0">
              <a:latin typeface="Arial" panose="020B0604020202020204" pitchFamily="34" charset="0"/>
              <a:cs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187584-04D2-4E3B-BE5F-445B7D419B42}" type="slidenum">
              <a:rPr lang="en-US" altLang="en-US">
                <a:latin typeface="Tahoma" panose="020B0604030504040204" pitchFamily="34" charset="0"/>
              </a:rPr>
              <a:pPr eaLnBrk="1" hangingPunct="1"/>
              <a:t>29</a:t>
            </a:fld>
            <a:endParaRPr lang="en-US" altLang="en-US">
              <a:latin typeface="Tahoma" panose="020B0604030504040204" pitchFamily="34" charset="0"/>
            </a:endParaRPr>
          </a:p>
        </p:txBody>
      </p:sp>
    </p:spTree>
    <p:extLst>
      <p:ext uri="{BB962C8B-B14F-4D97-AF65-F5344CB8AC3E}">
        <p14:creationId xmlns:p14="http://schemas.microsoft.com/office/powerpoint/2010/main" val="30102350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At some point in time, the project ends. These are the three main activities of this final phase.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Closing the project involves </a:t>
            </a:r>
            <a:r>
              <a:rPr lang="en-US" dirty="0"/>
              <a:t>reassigning team members to other jobs, assessing team member performance, notifying stakeholders that project has ended, and celebrating team accomplishments.</a:t>
            </a:r>
          </a:p>
          <a:p>
            <a:endParaRPr lang="en-US" dirty="0"/>
          </a:p>
          <a:p>
            <a:r>
              <a:rPr lang="en-US" dirty="0"/>
              <a:t>It’s important</a:t>
            </a:r>
            <a:r>
              <a:rPr lang="en-US" baseline="0" dirty="0"/>
              <a:t> to perform post project reviews in order to benefit from reflecting on “lessons learned”. Sometimes this is called a postmortem review.</a:t>
            </a:r>
          </a:p>
          <a:p>
            <a:endParaRPr lang="en-US" baseline="0" dirty="0"/>
          </a:p>
          <a:p>
            <a:r>
              <a:rPr lang="en-US" baseline="0" dirty="0"/>
              <a:t>It’s important to get the agreement that the terms of the SSR have been met and the contract is complete.</a:t>
            </a:r>
            <a:endParaRPr lang="en-US" dirty="0"/>
          </a:p>
          <a:p>
            <a:endParaRPr lang="en-US" altLang="en-US" dirty="0">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5A2E7E-1EFE-4931-89FD-2B08E19FF033}" type="slidenum">
              <a:rPr lang="en-US" altLang="en-US">
                <a:latin typeface="Tahoma" panose="020B0604030504040204" pitchFamily="34" charset="0"/>
              </a:rPr>
              <a:pPr eaLnBrk="1" hangingPunct="1"/>
              <a:t>30</a:t>
            </a:fld>
            <a:endParaRPr lang="en-US" altLang="en-US">
              <a:latin typeface="Tahoma" panose="020B0604030504040204" pitchFamily="34" charset="0"/>
            </a:endParaRPr>
          </a:p>
        </p:txBody>
      </p:sp>
    </p:spTree>
    <p:extLst>
      <p:ext uri="{BB962C8B-B14F-4D97-AF65-F5344CB8AC3E}">
        <p14:creationId xmlns:p14="http://schemas.microsoft.com/office/powerpoint/2010/main" val="2941577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We’ve already seen a few</a:t>
            </a:r>
            <a:r>
              <a:rPr lang="en-US" altLang="en-US" baseline="0" dirty="0">
                <a:latin typeface="Arial" panose="020B0604020202020204" pitchFamily="34" charset="0"/>
                <a:cs typeface="Arial" panose="020B0604020202020204" pitchFamily="34" charset="0"/>
              </a:rPr>
              <a:t> screen shots of Gantt charts and network diagrams. In the following slides, we delve a little deeper into the calculations that take place when creating project schedules.</a:t>
            </a:r>
            <a:endParaRPr lang="en-US" altLang="en-US" dirty="0">
              <a:latin typeface="Arial" panose="020B0604020202020204" pitchFamily="34" charset="0"/>
              <a:cs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C993F7A-1D42-4B8F-845A-513CB6E86CB0}" type="slidenum">
              <a:rPr lang="en-US" altLang="en-US">
                <a:latin typeface="Tahoma" panose="020B0604030504040204" pitchFamily="34" charset="0"/>
              </a:rPr>
              <a:pPr eaLnBrk="1" hangingPunct="1"/>
              <a:t>31</a:t>
            </a:fld>
            <a:endParaRPr lang="en-US" altLang="en-US">
              <a:latin typeface="Tahoma" panose="020B0604030504040204" pitchFamily="34" charset="0"/>
            </a:endParaRPr>
          </a:p>
        </p:txBody>
      </p:sp>
    </p:spTree>
    <p:extLst>
      <p:ext uri="{BB962C8B-B14F-4D97-AF65-F5344CB8AC3E}">
        <p14:creationId xmlns:p14="http://schemas.microsoft.com/office/powerpoint/2010/main" val="6862857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Each</a:t>
            </a:r>
            <a:r>
              <a:rPr lang="en-US" altLang="en-US" baseline="0" dirty="0">
                <a:latin typeface="Arial" panose="020B0604020202020204" pitchFamily="34" charset="0"/>
                <a:cs typeface="Arial" panose="020B0604020202020204" pitchFamily="34" charset="0"/>
              </a:rPr>
              <a:t> type of chart has its advantages. You may want to flip from one to another.</a:t>
            </a:r>
            <a:endParaRPr lang="en-US" altLang="en-US" dirty="0">
              <a:latin typeface="Arial" panose="020B0604020202020204" pitchFamily="34" charset="0"/>
              <a:cs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2BB04-A2BB-4074-B1C2-0D1A11061C5E}" type="slidenum">
              <a:rPr lang="en-US" altLang="en-US">
                <a:latin typeface="Tahoma" panose="020B0604030504040204" pitchFamily="34" charset="0"/>
              </a:rPr>
              <a:pPr eaLnBrk="1" hangingPunct="1"/>
              <a:t>32</a:t>
            </a:fld>
            <a:endParaRPr lang="en-US" altLang="en-US">
              <a:latin typeface="Tahoma" panose="020B0604030504040204" pitchFamily="34" charset="0"/>
            </a:endParaRPr>
          </a:p>
        </p:txBody>
      </p:sp>
    </p:spTree>
    <p:extLst>
      <p:ext uri="{BB962C8B-B14F-4D97-AF65-F5344CB8AC3E}">
        <p14:creationId xmlns:p14="http://schemas.microsoft.com/office/powerpoint/2010/main" val="1073478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they are in Microsoft</a:t>
            </a:r>
            <a:r>
              <a:rPr lang="en-US" altLang="en-US" baseline="0" dirty="0">
                <a:latin typeface="Arial" panose="020B0604020202020204" pitchFamily="34" charset="0"/>
                <a:cs typeface="Arial" panose="020B0604020202020204" pitchFamily="34" charset="0"/>
              </a:rPr>
              <a:t> Project.</a:t>
            </a:r>
            <a:endParaRPr lang="en-US" altLang="en-US" dirty="0">
              <a:latin typeface="Arial" panose="020B0604020202020204" pitchFamily="34" charset="0"/>
              <a:cs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E68B6CC-BA84-43EA-9A7C-7207756556B1}" type="slidenum">
              <a:rPr lang="en-US" altLang="en-US">
                <a:latin typeface="Tahoma" panose="020B0604030504040204" pitchFamily="34" charset="0"/>
              </a:rPr>
              <a:pPr eaLnBrk="1" hangingPunct="1"/>
              <a:t>33</a:t>
            </a:fld>
            <a:endParaRPr lang="en-US" altLang="en-US">
              <a:latin typeface="Tahoma" panose="020B0604030504040204" pitchFamily="34" charset="0"/>
            </a:endParaRPr>
          </a:p>
        </p:txBody>
      </p:sp>
    </p:spTree>
    <p:extLst>
      <p:ext uri="{BB962C8B-B14F-4D97-AF65-F5344CB8AC3E}">
        <p14:creationId xmlns:p14="http://schemas.microsoft.com/office/powerpoint/2010/main" val="27633182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diagram notation will be used in future slides as we manually go through the critical path calculation.</a:t>
            </a:r>
            <a:r>
              <a:rPr lang="en-US" altLang="en-US" baseline="0" dirty="0">
                <a:latin typeface="Arial" panose="020B0604020202020204" pitchFamily="34" charset="0"/>
                <a:cs typeface="Arial" panose="020B0604020202020204" pitchFamily="34" charset="0"/>
              </a:rPr>
              <a:t> This diagram shows that task D can take place at the same time that B and C are going. But B needs to complete before C can begin. And, both C and D must be completed in order for E to begin.</a:t>
            </a:r>
            <a:endParaRPr lang="en-US" altLang="en-US" dirty="0">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6EAA7A-DAB2-4232-ABF0-23C4EC545F95}" type="slidenum">
              <a:rPr lang="en-US" altLang="en-US">
                <a:latin typeface="Tahoma" panose="020B0604030504040204" pitchFamily="34" charset="0"/>
              </a:rPr>
              <a:pPr eaLnBrk="1" hangingPunct="1"/>
              <a:t>34</a:t>
            </a:fld>
            <a:endParaRPr lang="en-US" altLang="en-US">
              <a:latin typeface="Tahoma" panose="020B0604030504040204" pitchFamily="34" charset="0"/>
            </a:endParaRPr>
          </a:p>
        </p:txBody>
      </p:sp>
    </p:spTree>
    <p:extLst>
      <p:ext uri="{BB962C8B-B14F-4D97-AF65-F5344CB8AC3E}">
        <p14:creationId xmlns:p14="http://schemas.microsoft.com/office/powerpoint/2010/main" val="755463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a simple formula to estimate the time</a:t>
            </a:r>
            <a:r>
              <a:rPr lang="en-US" altLang="en-US" baseline="0" dirty="0">
                <a:latin typeface="Arial" panose="020B0604020202020204" pitchFamily="34" charset="0"/>
                <a:cs typeface="Arial" panose="020B0604020202020204" pitchFamily="34" charset="0"/>
              </a:rPr>
              <a:t> for a task based on our “optimistic”, “realistic”, and “pessimistic” judgments. Each of the detailed tasks in a project can be estimated this way.</a:t>
            </a:r>
            <a:endParaRPr lang="en-US" altLang="en-US" dirty="0">
              <a:latin typeface="Arial" panose="020B0604020202020204" pitchFamily="34" charset="0"/>
              <a:cs typeface="Arial" panose="020B0604020202020204"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CBCFE6-DDC6-41EC-8044-B9E5127A1E38}" type="slidenum">
              <a:rPr lang="en-US" altLang="en-US">
                <a:latin typeface="Tahoma" panose="020B0604030504040204" pitchFamily="34" charset="0"/>
              </a:rPr>
              <a:pPr eaLnBrk="1" hangingPunct="1"/>
              <a:t>35</a:t>
            </a:fld>
            <a:endParaRPr lang="en-US" altLang="en-US">
              <a:latin typeface="Tahoma" panose="020B0604030504040204" pitchFamily="34" charset="0"/>
            </a:endParaRPr>
          </a:p>
        </p:txBody>
      </p:sp>
    </p:spTree>
    <p:extLst>
      <p:ext uri="{BB962C8B-B14F-4D97-AF65-F5344CB8AC3E}">
        <p14:creationId xmlns:p14="http://schemas.microsoft.com/office/powerpoint/2010/main" val="4139676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a PERT analysis of the</a:t>
            </a:r>
            <a:r>
              <a:rPr lang="en-US" altLang="en-US" baseline="0" dirty="0">
                <a:latin typeface="Arial" panose="020B0604020202020204" pitchFamily="34" charset="0"/>
                <a:cs typeface="Arial" panose="020B0604020202020204" pitchFamily="34" charset="0"/>
              </a:rPr>
              <a:t> main tasks of the sales promotion tracking system project. These time estimates are based on previous experience and educated guesses. As a project manager gets more experience in more projects, he or she will get better at estimating the time it takes to complete common tasks. The project workbook helps with this, because it keeps track of history, which can then be used for making future predictions and decisions.</a:t>
            </a:r>
            <a:endParaRPr lang="en-US" altLang="en-US" dirty="0">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F0A9BB-107E-4D8A-8CDE-13EB4BBA14F3}" type="slidenum">
              <a:rPr lang="en-US" altLang="en-US">
                <a:latin typeface="Tahoma" panose="020B0604030504040204" pitchFamily="34" charset="0"/>
              </a:rPr>
              <a:pPr eaLnBrk="1" hangingPunct="1"/>
              <a:t>36</a:t>
            </a:fld>
            <a:endParaRPr lang="en-US" altLang="en-US">
              <a:latin typeface="Tahoma" panose="020B0604030504040204" pitchFamily="34" charset="0"/>
            </a:endParaRPr>
          </a:p>
        </p:txBody>
      </p:sp>
    </p:spTree>
    <p:extLst>
      <p:ext uri="{BB962C8B-B14F-4D97-AF65-F5344CB8AC3E}">
        <p14:creationId xmlns:p14="http://schemas.microsoft.com/office/powerpoint/2010/main" val="5728416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critical path is determined by the task</a:t>
            </a:r>
            <a:r>
              <a:rPr lang="en-US" altLang="en-US" baseline="0" dirty="0">
                <a:latin typeface="Arial" panose="020B0604020202020204" pitchFamily="34" charset="0"/>
                <a:cs typeface="Arial" panose="020B0604020202020204" pitchFamily="34" charset="0"/>
              </a:rPr>
              <a:t> durations and task dependencies in the project. A project will always have at least one critical path.</a:t>
            </a:r>
            <a:endParaRPr lang="en-US" altLang="en-US" dirty="0">
              <a:latin typeface="Arial" panose="020B0604020202020204" pitchFamily="34" charset="0"/>
              <a:cs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7DE246-75C5-4DFE-8E77-446C354B1924}" type="slidenum">
              <a:rPr lang="en-US" altLang="en-US">
                <a:latin typeface="Tahoma" panose="020B0604030504040204" pitchFamily="34" charset="0"/>
              </a:rPr>
              <a:pPr eaLnBrk="1" hangingPunct="1"/>
              <a:t>37</a:t>
            </a:fld>
            <a:endParaRPr lang="en-US" altLang="en-US">
              <a:latin typeface="Tahoma" panose="020B0604030504040204" pitchFamily="34" charset="0"/>
            </a:endParaRPr>
          </a:p>
        </p:txBody>
      </p:sp>
    </p:spTree>
    <p:extLst>
      <p:ext uri="{BB962C8B-B14F-4D97-AF65-F5344CB8AC3E}">
        <p14:creationId xmlns:p14="http://schemas.microsoft.com/office/powerpoint/2010/main" val="34190515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we see,</a:t>
            </a:r>
            <a:r>
              <a:rPr lang="en-US" altLang="en-US" baseline="0" dirty="0">
                <a:latin typeface="Arial" panose="020B0604020202020204" pitchFamily="34" charset="0"/>
                <a:cs typeface="Arial" panose="020B0604020202020204" pitchFamily="34" charset="0"/>
              </a:rPr>
              <a:t> for each task, the tasks that need to be completed before it can begin. As you can see, database design does not begin until screen and report design are both completed. </a:t>
            </a:r>
            <a:endParaRPr lang="en-US" altLang="en-US" dirty="0">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691BF0-491D-4377-9816-07EF6C9E5923}" type="slidenum">
              <a:rPr lang="en-US" altLang="en-US">
                <a:latin typeface="Tahoma" panose="020B0604030504040204" pitchFamily="34" charset="0"/>
              </a:rPr>
              <a:pPr eaLnBrk="1" hangingPunct="1"/>
              <a:t>38</a:t>
            </a:fld>
            <a:endParaRPr lang="en-US" altLang="en-US">
              <a:latin typeface="Tahoma" panose="020B0604030504040204" pitchFamily="34" charset="0"/>
            </a:endParaRPr>
          </a:p>
        </p:txBody>
      </p:sp>
    </p:spTree>
    <p:extLst>
      <p:ext uri="{BB962C8B-B14F-4D97-AF65-F5344CB8AC3E}">
        <p14:creationId xmlns:p14="http://schemas.microsoft.com/office/powerpoint/2010/main" val="13919362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network diagram illustrates the dependencies that</a:t>
            </a:r>
            <a:r>
              <a:rPr lang="en-US" altLang="en-US" baseline="0" dirty="0">
                <a:latin typeface="Arial" panose="020B0604020202020204" pitchFamily="34" charset="0"/>
                <a:cs typeface="Arial" panose="020B0604020202020204" pitchFamily="34" charset="0"/>
              </a:rPr>
              <a:t> were shown in the previous slide.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Note that the start task is 1. The end task is 8. There are several paths from 1 to 8:</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1,2,4,5,8</a:t>
            </a:r>
          </a:p>
          <a:p>
            <a:r>
              <a:rPr lang="en-US" altLang="en-US" baseline="0" dirty="0">
                <a:latin typeface="Arial" panose="020B0604020202020204" pitchFamily="34" charset="0"/>
                <a:cs typeface="Arial" panose="020B0604020202020204" pitchFamily="34" charset="0"/>
              </a:rPr>
              <a:t>1,2,4,6,7,8</a:t>
            </a:r>
          </a:p>
          <a:p>
            <a:r>
              <a:rPr lang="en-US" altLang="en-US" baseline="0" dirty="0">
                <a:latin typeface="Arial" panose="020B0604020202020204" pitchFamily="34" charset="0"/>
                <a:cs typeface="Arial" panose="020B0604020202020204" pitchFamily="34" charset="0"/>
              </a:rPr>
              <a:t>1,3,4,5,8</a:t>
            </a:r>
          </a:p>
          <a:p>
            <a:r>
              <a:rPr lang="en-US" altLang="en-US" baseline="0" dirty="0">
                <a:latin typeface="Arial" panose="020B0604020202020204" pitchFamily="34" charset="0"/>
                <a:cs typeface="Arial" panose="020B0604020202020204" pitchFamily="34" charset="0"/>
              </a:rPr>
              <a:t>1,3,4,6,7,8</a:t>
            </a:r>
          </a:p>
          <a:p>
            <a:endParaRPr lang="en-US" altLang="en-US" baseline="0" dirty="0">
              <a:latin typeface="Arial" panose="020B0604020202020204" pitchFamily="34" charset="0"/>
              <a:cs typeface="Arial" panose="020B0604020202020204" pitchFamily="34" charset="0"/>
            </a:endParaRP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Which one is the critical path?</a:t>
            </a:r>
            <a:endParaRPr lang="en-US" altLang="en-US" dirty="0">
              <a:latin typeface="Arial" panose="020B0604020202020204" pitchFamily="34" charset="0"/>
              <a:cs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2E089AD-8371-414B-8A7D-E799E759AE10}" type="slidenum">
              <a:rPr lang="en-US" altLang="en-US">
                <a:latin typeface="Tahoma" panose="020B0604030504040204" pitchFamily="34" charset="0"/>
              </a:rPr>
              <a:pPr eaLnBrk="1" hangingPunct="1"/>
              <a:t>39</a:t>
            </a:fld>
            <a:endParaRPr lang="en-US" altLang="en-US">
              <a:latin typeface="Tahoma" panose="020B0604030504040204" pitchFamily="34" charset="0"/>
            </a:endParaRPr>
          </a:p>
        </p:txBody>
      </p:sp>
    </p:spTree>
    <p:extLst>
      <p:ext uri="{BB962C8B-B14F-4D97-AF65-F5344CB8AC3E}">
        <p14:creationId xmlns:p14="http://schemas.microsoft.com/office/powerpoint/2010/main" val="21153996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key here is to determine</a:t>
            </a:r>
            <a:r>
              <a:rPr lang="en-US" altLang="en-US" baseline="0" dirty="0">
                <a:latin typeface="Arial" panose="020B0604020202020204" pitchFamily="34" charset="0"/>
                <a:cs typeface="Arial" panose="020B0604020202020204" pitchFamily="34" charset="0"/>
              </a:rPr>
              <a:t> slack time. Tasks that are not on the critical path may have some slack time, but no task on the critical path has any slack time. The critical path identifies the “bottleneck” in the project.</a:t>
            </a:r>
            <a:endParaRPr lang="en-US" altLang="en-US" dirty="0">
              <a:latin typeface="Arial" panose="020B0604020202020204" pitchFamily="34" charset="0"/>
              <a:cs typeface="Arial" panose="020B0604020202020204" pitchFamily="34" charset="0"/>
            </a:endParaRPr>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0BB433-B824-4A0E-8AC1-6D18CA8429C1}" type="slidenum">
              <a:rPr lang="en-US" altLang="en-US">
                <a:latin typeface="Tahoma" panose="020B0604030504040204" pitchFamily="34" charset="0"/>
              </a:rPr>
              <a:pPr eaLnBrk="1" hangingPunct="1"/>
              <a:t>40</a:t>
            </a:fld>
            <a:endParaRPr lang="en-US" altLang="en-US">
              <a:latin typeface="Tahoma" panose="020B0604030504040204" pitchFamily="34" charset="0"/>
            </a:endParaRPr>
          </a:p>
        </p:txBody>
      </p:sp>
    </p:spTree>
    <p:extLst>
      <p:ext uri="{BB962C8B-B14F-4D97-AF65-F5344CB8AC3E}">
        <p14:creationId xmlns:p14="http://schemas.microsoft.com/office/powerpoint/2010/main" val="13074540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time</a:t>
            </a:r>
            <a:r>
              <a:rPr lang="en-US" altLang="en-US" baseline="0" dirty="0">
                <a:latin typeface="Arial" panose="020B0604020202020204" pitchFamily="34" charset="0"/>
                <a:cs typeface="Arial" panose="020B0604020202020204" pitchFamily="34" charset="0"/>
              </a:rPr>
              <a:t> estimates here are based on the PERT analysis from before.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You can see that the task with slack is 5 (user documentation). That makes sense, because this happens while 6 and 7 happen. The total expected duration for user documentation (task 5) is 5.5weeks whereas the total duration for programming and testing (tasks 6 and 7) is eight weeks. So, task 5 has slack and is therefore not in a critical path.</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It turns out that there are two critical paths:</a:t>
            </a:r>
          </a:p>
          <a:p>
            <a:r>
              <a:rPr lang="en-US" altLang="en-US" baseline="0" dirty="0">
                <a:latin typeface="Arial" panose="020B0604020202020204" pitchFamily="34" charset="0"/>
                <a:cs typeface="Arial" panose="020B0604020202020204" pitchFamily="34" charset="0"/>
              </a:rPr>
              <a:t>1,2,4,6,7,8</a:t>
            </a:r>
          </a:p>
          <a:p>
            <a:r>
              <a:rPr lang="en-US" altLang="en-US" baseline="0" dirty="0">
                <a:latin typeface="Arial" panose="020B0604020202020204" pitchFamily="34" charset="0"/>
                <a:cs typeface="Arial" panose="020B0604020202020204" pitchFamily="34" charset="0"/>
              </a:rPr>
              <a:t>1,3,4,6,7,8</a:t>
            </a:r>
          </a:p>
          <a:p>
            <a:endParaRPr lang="en-US" altLang="en-US" baseline="0" dirty="0">
              <a:latin typeface="Arial" panose="020B0604020202020204" pitchFamily="34" charset="0"/>
              <a:cs typeface="Arial" panose="020B0604020202020204" pitchFamily="34" charset="0"/>
            </a:endParaRP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This was a very simple example. A real project may have dozens or even hundreds of tasks, so it’s good to have an automated way of calculating the critical path.</a:t>
            </a:r>
          </a:p>
          <a:p>
            <a:endParaRPr lang="en-US" altLang="en-US" baseline="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9827E0-B6BC-4DEB-B246-A10FC0594B1C}" type="slidenum">
              <a:rPr lang="en-US" altLang="en-US">
                <a:latin typeface="Tahoma" panose="020B0604030504040204" pitchFamily="34" charset="0"/>
              </a:rPr>
              <a:pPr eaLnBrk="1" hangingPunct="1"/>
              <a:t>41</a:t>
            </a:fld>
            <a:endParaRPr lang="en-US" altLang="en-US">
              <a:latin typeface="Tahoma" panose="020B0604030504040204" pitchFamily="34" charset="0"/>
            </a:endParaRPr>
          </a:p>
        </p:txBody>
      </p:sp>
    </p:spTree>
    <p:extLst>
      <p:ext uri="{BB962C8B-B14F-4D97-AF65-F5344CB8AC3E}">
        <p14:creationId xmlns:p14="http://schemas.microsoft.com/office/powerpoint/2010/main" val="8329556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the results of the CP calculation. Once you know of which tasks are critical and which are not, you can use this to make other scheduling</a:t>
            </a:r>
            <a:r>
              <a:rPr lang="en-US" altLang="en-US" baseline="0" dirty="0">
                <a:latin typeface="Arial" panose="020B0604020202020204" pitchFamily="34" charset="0"/>
                <a:cs typeface="Arial" panose="020B0604020202020204" pitchFamily="34" charset="0"/>
              </a:rPr>
              <a:t> and resource allocation decisions.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1D05C9-B9F6-4F57-B63C-7D5C9D6EBAA3}" type="slidenum">
              <a:rPr lang="en-US" altLang="en-US">
                <a:latin typeface="Tahoma" panose="020B0604030504040204" pitchFamily="34" charset="0"/>
              </a:rPr>
              <a:pPr eaLnBrk="1" hangingPunct="1"/>
              <a:t>42</a:t>
            </a:fld>
            <a:endParaRPr lang="en-US" altLang="en-US">
              <a:latin typeface="Tahoma" panose="020B0604030504040204" pitchFamily="34" charset="0"/>
            </a:endParaRPr>
          </a:p>
        </p:txBody>
      </p:sp>
    </p:spTree>
    <p:extLst>
      <p:ext uri="{BB962C8B-B14F-4D97-AF65-F5344CB8AC3E}">
        <p14:creationId xmlns:p14="http://schemas.microsoft.com/office/powerpoint/2010/main" val="7172873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the results of the CP calculation. Once you know of which tasks are critical and which are not, you can use this to make other scheduling</a:t>
            </a:r>
            <a:r>
              <a:rPr lang="en-US" altLang="en-US" baseline="0" dirty="0">
                <a:latin typeface="Arial" panose="020B0604020202020204" pitchFamily="34" charset="0"/>
                <a:cs typeface="Arial" panose="020B0604020202020204" pitchFamily="34" charset="0"/>
              </a:rPr>
              <a:t> and resource allocation decisions.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1D05C9-B9F6-4F57-B63C-7D5C9D6EBAA3}" type="slidenum">
              <a:rPr lang="en-US" altLang="en-US">
                <a:latin typeface="Tahoma" panose="020B0604030504040204" pitchFamily="34" charset="0"/>
              </a:rPr>
              <a:pPr eaLnBrk="1" hangingPunct="1"/>
              <a:t>43</a:t>
            </a:fld>
            <a:endParaRPr lang="en-US" altLang="en-US">
              <a:latin typeface="Tahoma" panose="020B0604030504040204" pitchFamily="34" charset="0"/>
            </a:endParaRPr>
          </a:p>
        </p:txBody>
      </p:sp>
    </p:spTree>
    <p:extLst>
      <p:ext uri="{BB962C8B-B14F-4D97-AF65-F5344CB8AC3E}">
        <p14:creationId xmlns:p14="http://schemas.microsoft.com/office/powerpoint/2010/main" val="20114827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the results of the CP calculation. Once you know of which tasks are critical and which are not, you can use this to make other scheduling</a:t>
            </a:r>
            <a:r>
              <a:rPr lang="en-US" altLang="en-US" baseline="0" dirty="0">
                <a:latin typeface="Arial" panose="020B0604020202020204" pitchFamily="34" charset="0"/>
                <a:cs typeface="Arial" panose="020B0604020202020204" pitchFamily="34" charset="0"/>
              </a:rPr>
              <a:t> and resource allocation decisions.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1D05C9-B9F6-4F57-B63C-7D5C9D6EBAA3}" type="slidenum">
              <a:rPr lang="en-US" altLang="en-US">
                <a:latin typeface="Tahoma" panose="020B0604030504040204" pitchFamily="34" charset="0"/>
              </a:rPr>
              <a:pPr eaLnBrk="1" hangingPunct="1"/>
              <a:t>44</a:t>
            </a:fld>
            <a:endParaRPr lang="en-US" altLang="en-US">
              <a:latin typeface="Tahoma" panose="020B0604030504040204" pitchFamily="34" charset="0"/>
            </a:endParaRPr>
          </a:p>
        </p:txBody>
      </p:sp>
    </p:spTree>
    <p:extLst>
      <p:ext uri="{BB962C8B-B14F-4D97-AF65-F5344CB8AC3E}">
        <p14:creationId xmlns:p14="http://schemas.microsoft.com/office/powerpoint/2010/main" val="3665332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the results of the CP calculation. Once you know of which tasks are critical and which are not, you can use this to make other scheduling</a:t>
            </a:r>
            <a:r>
              <a:rPr lang="en-US" altLang="en-US" baseline="0" dirty="0">
                <a:latin typeface="Arial" panose="020B0604020202020204" pitchFamily="34" charset="0"/>
                <a:cs typeface="Arial" panose="020B0604020202020204" pitchFamily="34" charset="0"/>
              </a:rPr>
              <a:t> and resource allocation decisions.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1D05C9-B9F6-4F57-B63C-7D5C9D6EBAA3}" type="slidenum">
              <a:rPr lang="en-US" altLang="en-US">
                <a:latin typeface="Tahoma" panose="020B0604030504040204" pitchFamily="34" charset="0"/>
              </a:rPr>
              <a:pPr eaLnBrk="1" hangingPunct="1"/>
              <a:t>45</a:t>
            </a:fld>
            <a:endParaRPr lang="en-US" altLang="en-US">
              <a:latin typeface="Tahoma" panose="020B0604030504040204" pitchFamily="34" charset="0"/>
            </a:endParaRPr>
          </a:p>
        </p:txBody>
      </p:sp>
    </p:spTree>
    <p:extLst>
      <p:ext uri="{BB962C8B-B14F-4D97-AF65-F5344CB8AC3E}">
        <p14:creationId xmlns:p14="http://schemas.microsoft.com/office/powerpoint/2010/main" val="20373411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the results of the CP calculation. Once you know of which tasks are critical and which are not, you can use this to make other scheduling</a:t>
            </a:r>
            <a:r>
              <a:rPr lang="en-US" altLang="en-US" baseline="0" dirty="0">
                <a:latin typeface="Arial" panose="020B0604020202020204" pitchFamily="34" charset="0"/>
                <a:cs typeface="Arial" panose="020B0604020202020204" pitchFamily="34" charset="0"/>
              </a:rPr>
              <a:t> and resource allocation decisions.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1D05C9-B9F6-4F57-B63C-7D5C9D6EBAA3}" type="slidenum">
              <a:rPr lang="en-US" altLang="en-US">
                <a:latin typeface="Tahoma" panose="020B0604030504040204" pitchFamily="34" charset="0"/>
              </a:rPr>
              <a:pPr eaLnBrk="1" hangingPunct="1"/>
              <a:t>46</a:t>
            </a:fld>
            <a:endParaRPr lang="en-US" altLang="en-US">
              <a:latin typeface="Tahoma" panose="020B0604030504040204" pitchFamily="34" charset="0"/>
            </a:endParaRPr>
          </a:p>
        </p:txBody>
      </p:sp>
    </p:spTree>
    <p:extLst>
      <p:ext uri="{BB962C8B-B14F-4D97-AF65-F5344CB8AC3E}">
        <p14:creationId xmlns:p14="http://schemas.microsoft.com/office/powerpoint/2010/main" val="3219650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next couple slides show other Microsoft Project features for some common project management tasks.</a:t>
            </a: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C1DFB9-1CB8-4DE5-873D-5C8E333819B5}" type="slidenum">
              <a:rPr lang="en-US" altLang="en-US">
                <a:latin typeface="Tahoma" panose="020B0604030504040204" pitchFamily="34" charset="0"/>
              </a:rPr>
              <a:pPr eaLnBrk="1" hangingPunct="1"/>
              <a:t>47</a:t>
            </a:fld>
            <a:endParaRPr lang="en-US" altLang="en-US">
              <a:latin typeface="Tahoma" panose="020B0604030504040204" pitchFamily="34" charset="0"/>
            </a:endParaRPr>
          </a:p>
        </p:txBody>
      </p:sp>
    </p:spTree>
    <p:extLst>
      <p:ext uri="{BB962C8B-B14F-4D97-AF65-F5344CB8AC3E}">
        <p14:creationId xmlns:p14="http://schemas.microsoft.com/office/powerpoint/2010/main" val="29540099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MS project allows you to specify all the task dependencies and durations, and then to change the start date if you want, which will result in a different end date</a:t>
            </a:r>
            <a:r>
              <a:rPr lang="en-US" altLang="en-US" baseline="0" dirty="0">
                <a:latin typeface="Arial" panose="020B0604020202020204" pitchFamily="34" charset="0"/>
                <a:cs typeface="Arial" panose="020B0604020202020204" pitchFamily="34" charset="0"/>
              </a:rPr>
              <a:t> for the project (as well as different dates for each of its tasks)</a:t>
            </a:r>
            <a:r>
              <a:rPr lang="en-US" altLang="en-US" dirty="0">
                <a:latin typeface="Arial" panose="020B0604020202020204" pitchFamily="34" charset="0"/>
                <a:cs typeface="Arial" panose="020B0604020202020204" pitchFamily="34" charset="0"/>
              </a:rPr>
              <a:t>. You can also instead specify a hoped-for end date in</a:t>
            </a:r>
            <a:r>
              <a:rPr lang="en-US" altLang="en-US" baseline="0" dirty="0">
                <a:latin typeface="Arial" panose="020B0604020202020204" pitchFamily="34" charset="0"/>
                <a:cs typeface="Arial" panose="020B0604020202020204" pitchFamily="34" charset="0"/>
              </a:rPr>
              <a:t> order to determine the latest that a project can start,</a:t>
            </a:r>
            <a:endParaRPr lang="en-US" altLang="en-US" dirty="0">
              <a:latin typeface="Arial" panose="020B0604020202020204" pitchFamily="34" charset="0"/>
              <a:cs typeface="Arial" panose="020B0604020202020204" pitchFamily="34" charset="0"/>
            </a:endParaRP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6D863B-2B8E-4732-91C3-3BF83E5098B3}" type="slidenum">
              <a:rPr lang="en-US" altLang="en-US">
                <a:latin typeface="Tahoma" panose="020B0604030504040204" pitchFamily="34" charset="0"/>
              </a:rPr>
              <a:pPr eaLnBrk="1" hangingPunct="1"/>
              <a:t>48</a:t>
            </a:fld>
            <a:endParaRPr lang="en-US" altLang="en-US">
              <a:latin typeface="Tahoma" panose="020B0604030504040204" pitchFamily="34" charset="0"/>
            </a:endParaRPr>
          </a:p>
        </p:txBody>
      </p:sp>
    </p:spTree>
    <p:extLst>
      <p:ext uri="{BB962C8B-B14F-4D97-AF65-F5344CB8AC3E}">
        <p14:creationId xmlns:p14="http://schemas.microsoft.com/office/powerpoint/2010/main" val="31265050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In the work breakdown structure on the left, you can see many properties of each task in the project plan. Here, we see duration, start and</a:t>
            </a:r>
            <a:r>
              <a:rPr lang="en-US" altLang="en-US" baseline="0" dirty="0">
                <a:latin typeface="Arial" panose="020B0604020202020204" pitchFamily="34" charset="0"/>
                <a:cs typeface="Arial" panose="020B0604020202020204" pitchFamily="34" charset="0"/>
              </a:rPr>
              <a:t> finish dates, and predecessors. There are many other properties you could see if you wanted, and there are a variety of WBS “themes”.</a:t>
            </a:r>
            <a:endParaRPr lang="en-US" altLang="en-US" dirty="0">
              <a:latin typeface="Arial" panose="020B0604020202020204" pitchFamily="34" charset="0"/>
              <a:cs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29AEC4-2005-4446-954C-DA6BE264CFA7}" type="slidenum">
              <a:rPr lang="en-US" altLang="en-US">
                <a:latin typeface="Tahoma" panose="020B0604030504040204" pitchFamily="34" charset="0"/>
              </a:rPr>
              <a:pPr eaLnBrk="1" hangingPunct="1"/>
              <a:t>49</a:t>
            </a:fld>
            <a:endParaRPr lang="en-US" altLang="en-US">
              <a:latin typeface="Tahoma" panose="020B0604030504040204" pitchFamily="34" charset="0"/>
            </a:endParaRPr>
          </a:p>
        </p:txBody>
      </p:sp>
    </p:spTree>
    <p:extLst>
      <p:ext uri="{BB962C8B-B14F-4D97-AF65-F5344CB8AC3E}">
        <p14:creationId xmlns:p14="http://schemas.microsoft.com/office/powerpoint/2010/main" val="26795916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EB1315-8530-4200-AA12-9E660703F887}" type="slidenum">
              <a:rPr lang="en-US" altLang="en-US">
                <a:latin typeface="Tahoma" panose="020B0604030504040204" pitchFamily="34" charset="0"/>
              </a:rPr>
              <a:pPr eaLnBrk="1" hangingPunct="1"/>
              <a:t>50</a:t>
            </a:fld>
            <a:endParaRPr lang="en-US" altLang="en-US">
              <a:latin typeface="Tahoma" panose="020B0604030504040204" pitchFamily="34" charset="0"/>
            </a:endParaRPr>
          </a:p>
        </p:txBody>
      </p:sp>
    </p:spTree>
    <p:extLst>
      <p:ext uri="{BB962C8B-B14F-4D97-AF65-F5344CB8AC3E}">
        <p14:creationId xmlns:p14="http://schemas.microsoft.com/office/powerpoint/2010/main" val="397060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51829253"/>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002400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94019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778965"/>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2645159"/>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en-US" sz="2400">
                <a:latin typeface="Times New Roman" pitchFamily="18" charset="0"/>
                <a:cs typeface="Arial"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3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4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86737" name="Rectangle 17"/>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p>
            <a:pPr algn="ctr">
              <a:defRPr/>
            </a:pPr>
            <a:endParaRPr lang="en-US" sz="1400">
              <a:solidFill>
                <a:srgbClr val="000000"/>
              </a:solidFill>
              <a:effectLst>
                <a:outerShdw blurRad="38100" dist="38100" dir="2700000" algn="tl">
                  <a:srgbClr val="C0C0C0"/>
                </a:outerShdw>
              </a:effectLst>
              <a:latin typeface="Arial" charset="0"/>
              <a:cs typeface="Arial" charset="0"/>
            </a:endParaRPr>
          </a:p>
        </p:txBody>
      </p:sp>
      <p:sp>
        <p:nvSpPr>
          <p:cNvPr id="18" name="Text Box 7"/>
          <p:cNvSpPr txBox="1">
            <a:spLocks noChangeArrowheads="1"/>
          </p:cNvSpPr>
          <p:nvPr userDrawn="1"/>
        </p:nvSpPr>
        <p:spPr bwMode="auto">
          <a:xfrm>
            <a:off x="485907" y="6313488"/>
            <a:ext cx="1088760"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Chapter 3</a:t>
            </a:r>
          </a:p>
        </p:txBody>
      </p:sp>
      <p:sp>
        <p:nvSpPr>
          <p:cNvPr id="19" name="Rectangle 5"/>
          <p:cNvSpPr txBox="1">
            <a:spLocks noGrp="1" noChangeArrowheads="1"/>
          </p:cNvSpPr>
          <p:nvPr userDrawn="1"/>
        </p:nvSpPr>
        <p:spPr bwMode="auto">
          <a:xfrm>
            <a:off x="1328738" y="6242050"/>
            <a:ext cx="6386512" cy="476250"/>
          </a:xfrm>
          <a:prstGeom prst="rect">
            <a:avLst/>
          </a:prstGeom>
          <a:noFill/>
          <a:ln>
            <a:miter lim="800000"/>
            <a:headEnd/>
            <a:tailEnd/>
          </a:ln>
        </p:spPr>
        <p:txBody>
          <a:bodyPr anchor="b"/>
          <a:lstStyle/>
          <a:p>
            <a:pPr algn="ctr">
              <a:defRPr/>
            </a:pPr>
            <a:r>
              <a:rPr lang="en-US" sz="1600" dirty="0">
                <a:solidFill>
                  <a:srgbClr val="000000"/>
                </a:solidFill>
                <a:effectLst>
                  <a:outerShdw blurRad="38100" dist="38100" dir="2700000" algn="tl">
                    <a:srgbClr val="FFFFFF"/>
                  </a:outerShdw>
                </a:effectLst>
                <a:latin typeface="Times New Roman" pitchFamily="18" charset="0"/>
              </a:rPr>
              <a:t>Copyright © 2017 Pearson Education, Ltd. </a:t>
            </a:r>
          </a:p>
        </p:txBody>
      </p:sp>
      <p:sp>
        <p:nvSpPr>
          <p:cNvPr id="20" name="TextBox 19"/>
          <p:cNvSpPr txBox="1"/>
          <p:nvPr userDrawn="1"/>
        </p:nvSpPr>
        <p:spPr>
          <a:xfrm>
            <a:off x="7821038" y="6348968"/>
            <a:ext cx="972766"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3-</a:t>
            </a:r>
            <a:fld id="{6FB4FC82-C793-4410-817F-D8BC0BBDC2E9}" type="slidenum">
              <a:rPr lang="en-US" sz="1600" smtClean="0"/>
              <a:pPr lvl="0"/>
              <a:t>‹#›</a:t>
            </a:fld>
            <a:endParaRPr lang="en-US" sz="1600" dirty="0"/>
          </a:p>
        </p:txBody>
      </p:sp>
    </p:spTree>
  </p:cSld>
  <p:clrMap bg1="lt1" tx1="dk1" bg2="lt2" tx2="dk2" accent1="accent1" accent2="accent2" accent3="accent3" accent4="accent4" accent5="accent5" accent6="accent6" hlink="hlink" folHlink="folHlink"/>
  <p:sldLayoutIdLst>
    <p:sldLayoutId id="2147483779" r:id="rId1"/>
    <p:sldLayoutId id="2147483773" r:id="rId2"/>
    <p:sldLayoutId id="2147483774" r:id="rId3"/>
    <p:sldLayoutId id="2147483775" r:id="rId4"/>
    <p:sldLayoutId id="2147483780" r:id="rId5"/>
  </p:sldLayoutIdLst>
  <p:transition>
    <p:zoom/>
  </p:transition>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90600" y="4495800"/>
            <a:ext cx="7086600" cy="1752600"/>
          </a:xfrm>
        </p:spPr>
        <p:txBody>
          <a:bodyPr/>
          <a:lstStyle/>
          <a:p>
            <a:pPr>
              <a:lnSpc>
                <a:spcPct val="90000"/>
              </a:lnSpc>
            </a:pPr>
            <a:r>
              <a:rPr lang="en-US" altLang="en-US" sz="3600" b="1" dirty="0"/>
              <a:t>Managing the Information Systems Project</a:t>
            </a:r>
          </a:p>
        </p:txBody>
      </p:sp>
      <p:sp>
        <p:nvSpPr>
          <p:cNvPr id="3075" name="Rectangle 8"/>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75000"/>
              </a:lnSpc>
            </a:pPr>
            <a:endParaRPr lang="en-US" altLang="en-US" sz="4000" b="1" dirty="0">
              <a:solidFill>
                <a:schemeClr val="tx2"/>
              </a:solidFill>
            </a:endParaRPr>
          </a:p>
          <a:p>
            <a:pPr algn="ctr" eaLnBrk="1" hangingPunct="1">
              <a:lnSpc>
                <a:spcPct val="75000"/>
              </a:lnSpc>
            </a:pPr>
            <a:endParaRPr lang="en-US" altLang="en-US" sz="4000" b="1" dirty="0">
              <a:solidFill>
                <a:schemeClr val="tx2"/>
              </a:solidFill>
            </a:endParaRPr>
          </a:p>
          <a:p>
            <a:pPr algn="ctr" eaLnBrk="1" hangingPunct="1"/>
            <a:r>
              <a:rPr lang="en-US" altLang="en-US" sz="4000" b="1" dirty="0">
                <a:solidFill>
                  <a:schemeClr val="tx2"/>
                </a:solidFill>
              </a:rPr>
              <a:t>Modern Systems Analysis</a:t>
            </a:r>
            <a:br>
              <a:rPr lang="en-US" altLang="en-US" sz="4000" b="1" dirty="0">
                <a:solidFill>
                  <a:schemeClr val="tx2"/>
                </a:solidFill>
              </a:rPr>
            </a:br>
            <a:r>
              <a:rPr lang="en-US" altLang="en-US" sz="4000" b="1" dirty="0">
                <a:solidFill>
                  <a:schemeClr val="tx2"/>
                </a:solidFill>
              </a:rPr>
              <a:t>and Design</a:t>
            </a:r>
            <a:br>
              <a:rPr lang="en-US" altLang="en-US" sz="4000" b="1" dirty="0">
                <a:solidFill>
                  <a:schemeClr val="tx2"/>
                </a:solidFill>
              </a:rPr>
            </a:br>
            <a:r>
              <a:rPr lang="en-US" altLang="en-US" sz="2400" b="1" dirty="0">
                <a:solidFill>
                  <a:schemeClr val="tx2"/>
                </a:solidFill>
              </a:rPr>
              <a:t>Eighth Edition, Global Edition </a:t>
            </a:r>
            <a:br>
              <a:rPr lang="en-US" altLang="en-US" sz="4000" b="1" dirty="0">
                <a:solidFill>
                  <a:schemeClr val="tx2"/>
                </a:solidFill>
              </a:rPr>
            </a:br>
            <a:br>
              <a:rPr lang="en-US" altLang="en-US" sz="4000" b="1" dirty="0">
                <a:solidFill>
                  <a:schemeClr val="tx2"/>
                </a:solidFill>
              </a:rPr>
            </a:br>
            <a:r>
              <a:rPr lang="en-US" altLang="en-US" sz="2800" b="1" dirty="0">
                <a:solidFill>
                  <a:schemeClr val="tx2"/>
                </a:solidFill>
              </a:rPr>
              <a:t>Joseph S. Valacich</a:t>
            </a:r>
            <a:br>
              <a:rPr lang="en-US" altLang="en-US" sz="2800" b="1" dirty="0">
                <a:solidFill>
                  <a:schemeClr val="tx2"/>
                </a:solidFill>
              </a:rPr>
            </a:br>
            <a:r>
              <a:rPr lang="en-US" altLang="en-US" sz="2800" b="1" dirty="0">
                <a:solidFill>
                  <a:schemeClr val="tx2"/>
                </a:solidFill>
              </a:rPr>
              <a:t>Joey F. George</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en-US"/>
              <a:t>Learning Objectives</a:t>
            </a:r>
          </a:p>
        </p:txBody>
      </p:sp>
      <p:sp>
        <p:nvSpPr>
          <p:cNvPr id="3076" name="Rectangle 3" descr="Rectangle: Click to edit Master text styles&#10;Second level&#10;Third level&#10;Fourth level&#10;Fifth level"/>
          <p:cNvSpPr>
            <a:spLocks noGrp="1" noChangeArrowheads="1"/>
          </p:cNvSpPr>
          <p:nvPr>
            <p:ph type="body" idx="1"/>
          </p:nvPr>
        </p:nvSpPr>
        <p:spPr>
          <a:xfrm>
            <a:off x="457200" y="1752600"/>
            <a:ext cx="8229600" cy="3886200"/>
          </a:xfrm>
        </p:spPr>
        <p:txBody>
          <a:bodyPr/>
          <a:lstStyle/>
          <a:p>
            <a:pPr>
              <a:lnSpc>
                <a:spcPct val="90000"/>
              </a:lnSpc>
              <a:buClr>
                <a:srgbClr val="BA2212"/>
              </a:buClr>
              <a:buFont typeface="Wingdings" panose="05000000000000000000" pitchFamily="2" charset="2"/>
              <a:buChar char="ü"/>
            </a:pPr>
            <a:r>
              <a:rPr lang="en-US" altLang="en-US" sz="2400" dirty="0"/>
              <a:t>Explain the process of managing an information systems project, including project initiation, project planning, project execution, and project closedown,</a:t>
            </a:r>
          </a:p>
          <a:p>
            <a:pPr>
              <a:lnSpc>
                <a:spcPct val="90000"/>
              </a:lnSpc>
              <a:buClr>
                <a:srgbClr val="BA2212"/>
              </a:buClr>
              <a:buFont typeface="Wingdings" panose="05000000000000000000" pitchFamily="2" charset="2"/>
              <a:buChar char="ü"/>
            </a:pPr>
            <a:r>
              <a:rPr lang="en-US" sz="2400" dirty="0"/>
              <a:t>Describe how to represent and schedule project plans using Gantt charts and network diagrams, and</a:t>
            </a:r>
          </a:p>
          <a:p>
            <a:pPr>
              <a:lnSpc>
                <a:spcPct val="90000"/>
              </a:lnSpc>
              <a:buClr>
                <a:srgbClr val="BA2212"/>
              </a:buClr>
              <a:buFont typeface="Wingdings" panose="05000000000000000000" pitchFamily="2" charset="2"/>
              <a:buChar char="ü"/>
            </a:pPr>
            <a:r>
              <a:rPr lang="en-US" sz="2400" dirty="0"/>
              <a:t>Explain how commercial project management software packages can be used to assist in representing and managing project schedules</a:t>
            </a:r>
            <a:endParaRPr lang="en-US" altLang="en-US" sz="2400" dirty="0"/>
          </a:p>
        </p:txBody>
      </p:sp>
    </p:spTree>
    <p:extLst>
      <p:ext uri="{BB962C8B-B14F-4D97-AF65-F5344CB8AC3E}">
        <p14:creationId xmlns:p14="http://schemas.microsoft.com/office/powerpoint/2010/main" val="2665201626"/>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sz="4000"/>
              <a:t>Introduction</a:t>
            </a:r>
          </a:p>
        </p:txBody>
      </p:sp>
      <p:sp>
        <p:nvSpPr>
          <p:cNvPr id="4100" name="Rectangle 3" descr="Rectangle: Click to edit Master text styles&#10;Second level&#10;Third level&#10;Fourth level&#10;Fifth level"/>
          <p:cNvSpPr>
            <a:spLocks noGrp="1" noChangeArrowheads="1"/>
          </p:cNvSpPr>
          <p:nvPr>
            <p:ph type="body" idx="1"/>
          </p:nvPr>
        </p:nvSpPr>
        <p:spPr>
          <a:xfrm>
            <a:off x="457200" y="1524000"/>
            <a:ext cx="8229600" cy="4572000"/>
          </a:xfrm>
        </p:spPr>
        <p:txBody>
          <a:bodyPr>
            <a:normAutofit fontScale="77500" lnSpcReduction="20000"/>
          </a:bodyPr>
          <a:lstStyle/>
          <a:p>
            <a:pPr>
              <a:lnSpc>
                <a:spcPct val="120000"/>
              </a:lnSpc>
              <a:spcBef>
                <a:spcPts val="1200"/>
              </a:spcBef>
              <a:defRPr/>
            </a:pPr>
            <a:r>
              <a:rPr lang="en-US" dirty="0"/>
              <a:t>Project management (PM) may be the most important aspect of systems development.</a:t>
            </a:r>
          </a:p>
          <a:p>
            <a:pPr>
              <a:lnSpc>
                <a:spcPct val="120000"/>
              </a:lnSpc>
              <a:spcBef>
                <a:spcPts val="1200"/>
              </a:spcBef>
              <a:defRPr/>
            </a:pPr>
            <a:r>
              <a:rPr lang="en-US" dirty="0"/>
              <a:t>Effective PM helps to ensure</a:t>
            </a:r>
          </a:p>
          <a:p>
            <a:pPr lvl="1">
              <a:lnSpc>
                <a:spcPct val="120000"/>
              </a:lnSpc>
              <a:spcBef>
                <a:spcPts val="1200"/>
              </a:spcBef>
              <a:defRPr/>
            </a:pPr>
            <a:r>
              <a:rPr lang="en-US" dirty="0"/>
              <a:t>The meeting of customer expectations.</a:t>
            </a:r>
          </a:p>
          <a:p>
            <a:pPr lvl="1">
              <a:lnSpc>
                <a:spcPct val="120000"/>
              </a:lnSpc>
              <a:spcBef>
                <a:spcPts val="1200"/>
              </a:spcBef>
              <a:defRPr/>
            </a:pPr>
            <a:r>
              <a:rPr lang="en-US" dirty="0"/>
              <a:t>The satisfying of budget and time constraints.</a:t>
            </a:r>
          </a:p>
          <a:p>
            <a:pPr>
              <a:lnSpc>
                <a:spcPct val="120000"/>
              </a:lnSpc>
              <a:spcBef>
                <a:spcPts val="1200"/>
              </a:spcBef>
              <a:defRPr/>
            </a:pPr>
            <a:r>
              <a:rPr lang="en-US" dirty="0"/>
              <a:t>The nature of projects has changed from custom development to implementing packaged software such as ERP and data warehousing.</a:t>
            </a:r>
          </a:p>
          <a:p>
            <a:pPr>
              <a:lnSpc>
                <a:spcPct val="120000"/>
              </a:lnSpc>
              <a:spcBef>
                <a:spcPts val="1200"/>
              </a:spcBef>
              <a:defRPr/>
            </a:pPr>
            <a:r>
              <a:rPr lang="en-US" dirty="0"/>
              <a:t>PM needs to be able to work well with vendors and diverse user community.</a:t>
            </a:r>
          </a:p>
        </p:txBody>
      </p:sp>
    </p:spTree>
    <p:extLst>
      <p:ext uri="{BB962C8B-B14F-4D97-AF65-F5344CB8AC3E}">
        <p14:creationId xmlns:p14="http://schemas.microsoft.com/office/powerpoint/2010/main" val="3991470238"/>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altLang="en-US"/>
              <a:t>Pine Valley Application Project</a:t>
            </a:r>
          </a:p>
        </p:txBody>
      </p:sp>
      <p:pic>
        <p:nvPicPr>
          <p:cNvPr id="5126" name="Picture 6"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1600200"/>
            <a:ext cx="75438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7"/>
          <p:cNvSpPr>
            <a:spLocks noChangeArrowheads="1"/>
          </p:cNvSpPr>
          <p:nvPr/>
        </p:nvSpPr>
        <p:spPr bwMode="auto">
          <a:xfrm>
            <a:off x="381000" y="5334000"/>
            <a:ext cx="85344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a:t>
            </a:r>
          </a:p>
          <a:p>
            <a:pPr eaLnBrk="1" hangingPunct="1"/>
            <a:r>
              <a:rPr lang="en-US" altLang="en-US" sz="1600" dirty="0"/>
              <a:t>Three computer applications at Pine Valley Furniture: order filling, invoicing, and payroll</a:t>
            </a:r>
          </a:p>
          <a:p>
            <a:pPr eaLnBrk="1" hangingPunct="1"/>
            <a:r>
              <a:rPr lang="en-US" altLang="en-US" sz="1400" dirty="0"/>
              <a:t>(</a:t>
            </a:r>
            <a:r>
              <a:rPr lang="en-US" altLang="en-US" sz="1400" i="1" dirty="0"/>
              <a:t>Source: </a:t>
            </a:r>
            <a:r>
              <a:rPr lang="en-US" altLang="en-US" sz="1400" dirty="0"/>
              <a:t>Hoffer, Ramesh, and Topi, Modern Database Management 11</a:t>
            </a:r>
            <a:r>
              <a:rPr lang="en-US" altLang="en-US" sz="1400" baseline="30000" dirty="0"/>
              <a:t>th</a:t>
            </a:r>
            <a:r>
              <a:rPr lang="en-US" altLang="en-US" sz="1400" dirty="0"/>
              <a:t> ed. 2013)</a:t>
            </a:r>
          </a:p>
        </p:txBody>
      </p:sp>
    </p:spTree>
    <p:extLst>
      <p:ext uri="{BB962C8B-B14F-4D97-AF65-F5344CB8AC3E}">
        <p14:creationId xmlns:p14="http://schemas.microsoft.com/office/powerpoint/2010/main" val="3378479657"/>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sz="4000"/>
              <a:t>Managing the Information Systems Project</a:t>
            </a:r>
          </a:p>
        </p:txBody>
      </p:sp>
      <p:sp>
        <p:nvSpPr>
          <p:cNvPr id="6148" name="Rectangle 3" descr="Rectangle: Click to edit Master text styles&#10;Second level&#10;Third level&#10;Fourth level&#10;Fifth level"/>
          <p:cNvSpPr>
            <a:spLocks noGrp="1" noChangeArrowheads="1"/>
          </p:cNvSpPr>
          <p:nvPr>
            <p:ph type="body" idx="1"/>
          </p:nvPr>
        </p:nvSpPr>
        <p:spPr/>
        <p:txBody>
          <a:bodyPr/>
          <a:lstStyle/>
          <a:p>
            <a:r>
              <a:rPr lang="en-US" altLang="en-US"/>
              <a:t>Project</a:t>
            </a:r>
          </a:p>
          <a:p>
            <a:pPr lvl="1"/>
            <a:r>
              <a:rPr lang="en-US" altLang="en-US"/>
              <a:t>A planned undertaking of related activities to reach an objective that has a beginning and an end</a:t>
            </a:r>
          </a:p>
          <a:p>
            <a:r>
              <a:rPr lang="en-US" altLang="en-US"/>
              <a:t>Project management</a:t>
            </a:r>
          </a:p>
          <a:p>
            <a:pPr lvl="1"/>
            <a:r>
              <a:rPr lang="en-US" altLang="en-US"/>
              <a:t>A controlled process of initiating, planning, executing, and closing down a project</a:t>
            </a:r>
          </a:p>
          <a:p>
            <a:pPr>
              <a:buFont typeface="Wingdings" panose="05000000000000000000" pitchFamily="2" charset="2"/>
              <a:buNone/>
            </a:pPr>
            <a:endParaRPr lang="en-US" altLang="en-US"/>
          </a:p>
          <a:p>
            <a:endParaRPr lang="en-US" altLang="en-US"/>
          </a:p>
        </p:txBody>
      </p:sp>
    </p:spTree>
    <p:extLst>
      <p:ext uri="{BB962C8B-B14F-4D97-AF65-F5344CB8AC3E}">
        <p14:creationId xmlns:p14="http://schemas.microsoft.com/office/powerpoint/2010/main" val="2014519530"/>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sz="4000"/>
              <a:t>Managing the Information Systems Project (cont.)</a:t>
            </a:r>
          </a:p>
        </p:txBody>
      </p:sp>
      <p:sp>
        <p:nvSpPr>
          <p:cNvPr id="7172" name="Rectangle 3" descr="Rectangle: Click to edit Master text styles&#10;Second level&#10;Third level&#10;Fourth level&#10;Fifth level"/>
          <p:cNvSpPr>
            <a:spLocks noGrp="1" noChangeArrowheads="1"/>
          </p:cNvSpPr>
          <p:nvPr>
            <p:ph type="body" idx="1"/>
          </p:nvPr>
        </p:nvSpPr>
        <p:spPr>
          <a:xfrm>
            <a:off x="457200" y="1828800"/>
            <a:ext cx="8229600" cy="4419600"/>
          </a:xfrm>
        </p:spPr>
        <p:txBody>
          <a:bodyPr>
            <a:normAutofit fontScale="92500"/>
          </a:bodyPr>
          <a:lstStyle/>
          <a:p>
            <a:pPr>
              <a:lnSpc>
                <a:spcPct val="110000"/>
              </a:lnSpc>
              <a:spcBef>
                <a:spcPts val="1200"/>
              </a:spcBef>
              <a:defRPr/>
            </a:pPr>
            <a:r>
              <a:rPr lang="en-US" dirty="0"/>
              <a:t>Project manager</a:t>
            </a:r>
          </a:p>
          <a:p>
            <a:pPr lvl="1">
              <a:lnSpc>
                <a:spcPct val="110000"/>
              </a:lnSpc>
              <a:spcBef>
                <a:spcPts val="1200"/>
              </a:spcBef>
              <a:defRPr/>
            </a:pPr>
            <a:r>
              <a:rPr lang="en-US" dirty="0"/>
              <a:t>A systems analyst with a diverse set of skills—management, leadership, technical, conflict management, and customer relationship—who is responsible for initiating, planning, executing, and closing down a project</a:t>
            </a:r>
          </a:p>
          <a:p>
            <a:pPr>
              <a:lnSpc>
                <a:spcPct val="110000"/>
              </a:lnSpc>
              <a:spcBef>
                <a:spcPts val="1200"/>
              </a:spcBef>
              <a:defRPr/>
            </a:pPr>
            <a:r>
              <a:rPr lang="en-US" dirty="0"/>
              <a:t>Deliverable</a:t>
            </a:r>
          </a:p>
          <a:p>
            <a:pPr lvl="1">
              <a:lnSpc>
                <a:spcPct val="110000"/>
              </a:lnSpc>
              <a:spcBef>
                <a:spcPts val="1200"/>
              </a:spcBef>
              <a:defRPr/>
            </a:pPr>
            <a:r>
              <a:rPr lang="en-US" dirty="0"/>
              <a:t>The end product of an SDLC phase</a:t>
            </a:r>
          </a:p>
          <a:p>
            <a:pPr>
              <a:buFont typeface="Wingdings" panose="05000000000000000000" pitchFamily="2" charset="2"/>
              <a:buNone/>
              <a:defRPr/>
            </a:pPr>
            <a:endParaRPr lang="en-US" dirty="0"/>
          </a:p>
          <a:p>
            <a:pPr>
              <a:defRPr/>
            </a:pPr>
            <a:endParaRPr lang="en-US" dirty="0"/>
          </a:p>
        </p:txBody>
      </p:sp>
    </p:spTree>
    <p:extLst>
      <p:ext uri="{BB962C8B-B14F-4D97-AF65-F5344CB8AC3E}">
        <p14:creationId xmlns:p14="http://schemas.microsoft.com/office/powerpoint/2010/main" val="3518988086"/>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sz="4000"/>
              <a:t>Deciding on Systems Projects</a:t>
            </a:r>
          </a:p>
        </p:txBody>
      </p:sp>
      <p:sp>
        <p:nvSpPr>
          <p:cNvPr id="8196" name="Rectangle 3" descr="Rectangle: Click to edit Master text styles&#10;Second level&#10;Third level&#10;Fourth level&#10;Fifth level"/>
          <p:cNvSpPr>
            <a:spLocks noGrp="1" noChangeArrowheads="1"/>
          </p:cNvSpPr>
          <p:nvPr>
            <p:ph type="body" idx="1"/>
          </p:nvPr>
        </p:nvSpPr>
        <p:spPr>
          <a:xfrm>
            <a:off x="457200" y="1828800"/>
            <a:ext cx="8229600" cy="3886200"/>
          </a:xfrm>
        </p:spPr>
        <p:txBody>
          <a:bodyPr/>
          <a:lstStyle/>
          <a:p>
            <a:r>
              <a:rPr lang="en-US" altLang="en-US"/>
              <a:t>System Service Request (SSR)</a:t>
            </a:r>
          </a:p>
          <a:p>
            <a:pPr lvl="1"/>
            <a:r>
              <a:rPr lang="en-US" altLang="en-US"/>
              <a:t>A standard form for requesting or proposing systems development work within an organization</a:t>
            </a:r>
          </a:p>
          <a:p>
            <a:r>
              <a:rPr lang="en-US" altLang="en-US"/>
              <a:t>Feasibility study</a:t>
            </a:r>
          </a:p>
          <a:p>
            <a:pPr lvl="1"/>
            <a:r>
              <a:rPr lang="en-US" altLang="en-US"/>
              <a:t>A study that determines whether a requested system makes economic and operational sense for an organization</a:t>
            </a:r>
          </a:p>
          <a:p>
            <a:pPr>
              <a:buFont typeface="Wingdings" panose="05000000000000000000" pitchFamily="2" charset="2"/>
              <a:buNone/>
            </a:pPr>
            <a:endParaRPr lang="en-US" altLang="en-US"/>
          </a:p>
          <a:p>
            <a:endParaRPr lang="en-US" altLang="en-US"/>
          </a:p>
        </p:txBody>
      </p:sp>
    </p:spTree>
    <p:extLst>
      <p:ext uri="{BB962C8B-B14F-4D97-AF65-F5344CB8AC3E}">
        <p14:creationId xmlns:p14="http://schemas.microsoft.com/office/powerpoint/2010/main" val="93159177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7"/>
          <p:cNvSpPr>
            <a:spLocks noChangeArrowheads="1"/>
          </p:cNvSpPr>
          <p:nvPr/>
        </p:nvSpPr>
        <p:spPr bwMode="auto">
          <a:xfrm>
            <a:off x="5638800" y="2743200"/>
            <a:ext cx="33528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3-2</a:t>
            </a:r>
          </a:p>
          <a:p>
            <a:pPr eaLnBrk="1" hangingPunct="1"/>
            <a:r>
              <a:rPr lang="en-US" altLang="en-US" sz="1600"/>
              <a:t>System Service Request for Purchasing Fulfillment System with name and contact information of the person requesting the system, a statement of the problem, and the name and contact information of the liaison and sponsor</a:t>
            </a:r>
          </a:p>
        </p:txBody>
      </p:sp>
      <p:pic>
        <p:nvPicPr>
          <p:cNvPr id="3" name="Picture 2"/>
          <p:cNvPicPr>
            <a:picLocks noChangeAspect="1"/>
          </p:cNvPicPr>
          <p:nvPr/>
        </p:nvPicPr>
        <p:blipFill>
          <a:blip r:embed="rId3" cstate="print"/>
          <a:stretch>
            <a:fillRect/>
          </a:stretch>
        </p:blipFill>
        <p:spPr>
          <a:xfrm>
            <a:off x="152400" y="609601"/>
            <a:ext cx="5511127" cy="5715000"/>
          </a:xfrm>
          <a:prstGeom prst="rect">
            <a:avLst/>
          </a:prstGeom>
        </p:spPr>
      </p:pic>
    </p:spTree>
    <p:extLst>
      <p:ext uri="{BB962C8B-B14F-4D97-AF65-F5344CB8AC3E}">
        <p14:creationId xmlns:p14="http://schemas.microsoft.com/office/powerpoint/2010/main" val="399470056"/>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09600" y="457200"/>
            <a:ext cx="7772400" cy="762000"/>
          </a:xfrm>
        </p:spPr>
        <p:txBody>
          <a:bodyPr/>
          <a:lstStyle/>
          <a:p>
            <a:r>
              <a:rPr lang="en-US" altLang="en-US"/>
              <a:t>Project Management Activities</a:t>
            </a:r>
          </a:p>
        </p:txBody>
      </p:sp>
      <p:sp>
        <p:nvSpPr>
          <p:cNvPr id="10247" name="Rectangle 7"/>
          <p:cNvSpPr>
            <a:spLocks noChangeArrowheads="1"/>
          </p:cNvSpPr>
          <p:nvPr/>
        </p:nvSpPr>
        <p:spPr bwMode="auto">
          <a:xfrm>
            <a:off x="6248400" y="4343400"/>
            <a:ext cx="2133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3-4</a:t>
            </a:r>
          </a:p>
          <a:p>
            <a:pPr eaLnBrk="1" hangingPunct="1"/>
            <a:r>
              <a:rPr lang="en-US" altLang="en-US" dirty="0"/>
              <a:t>A project manager juggles numerous</a:t>
            </a:r>
          </a:p>
          <a:p>
            <a:pPr eaLnBrk="1" hangingPunct="1"/>
            <a:r>
              <a:rPr lang="en-US" altLang="en-US" dirty="0"/>
              <a:t>activities</a:t>
            </a:r>
          </a:p>
        </p:txBody>
      </p:sp>
      <p:pic>
        <p:nvPicPr>
          <p:cNvPr id="2" name="Picture 1"/>
          <p:cNvPicPr>
            <a:picLocks noChangeAspect="1"/>
          </p:cNvPicPr>
          <p:nvPr/>
        </p:nvPicPr>
        <p:blipFill>
          <a:blip r:embed="rId3" cstate="print"/>
          <a:stretch>
            <a:fillRect/>
          </a:stretch>
        </p:blipFill>
        <p:spPr>
          <a:xfrm>
            <a:off x="1066799" y="1219200"/>
            <a:ext cx="4251237" cy="5181600"/>
          </a:xfrm>
          <a:prstGeom prst="rect">
            <a:avLst/>
          </a:prstGeom>
        </p:spPr>
      </p:pic>
    </p:spTree>
    <p:extLst>
      <p:ext uri="{BB962C8B-B14F-4D97-AF65-F5344CB8AC3E}">
        <p14:creationId xmlns:p14="http://schemas.microsoft.com/office/powerpoint/2010/main" val="2295806043"/>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en-US" altLang="en-US" sz="4000"/>
              <a:t>Phases of Project Management Process</a:t>
            </a:r>
          </a:p>
        </p:txBody>
      </p:sp>
      <p:sp>
        <p:nvSpPr>
          <p:cNvPr id="11268" name="Rectangle 3" descr="Rectangle: Click to edit Master text styles&#10;Second level&#10;Third level&#10;Fourth level&#10;Fifth level"/>
          <p:cNvSpPr>
            <a:spLocks noGrp="1" noChangeArrowheads="1"/>
          </p:cNvSpPr>
          <p:nvPr>
            <p:ph type="body" idx="1"/>
          </p:nvPr>
        </p:nvSpPr>
        <p:spPr/>
        <p:txBody>
          <a:bodyPr/>
          <a:lstStyle/>
          <a:p>
            <a:r>
              <a:rPr lang="en-US" altLang="en-US" sz="4000"/>
              <a:t>Phase 1: Initiation</a:t>
            </a:r>
          </a:p>
          <a:p>
            <a:r>
              <a:rPr lang="en-US" altLang="en-US" sz="4000"/>
              <a:t>Phase 2: Planning</a:t>
            </a:r>
          </a:p>
          <a:p>
            <a:r>
              <a:rPr lang="en-US" altLang="en-US" sz="4000"/>
              <a:t>Phase 3: Execution</a:t>
            </a:r>
          </a:p>
          <a:p>
            <a:r>
              <a:rPr lang="en-US" altLang="en-US" sz="4000"/>
              <a:t>Phase 4: Closedown</a:t>
            </a:r>
          </a:p>
        </p:txBody>
      </p:sp>
    </p:spTree>
    <p:extLst>
      <p:ext uri="{BB962C8B-B14F-4D97-AF65-F5344CB8AC3E}">
        <p14:creationId xmlns:p14="http://schemas.microsoft.com/office/powerpoint/2010/main" val="2703257525"/>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a:t>PM Phase 1: Project Initiation</a:t>
            </a:r>
          </a:p>
        </p:txBody>
      </p:sp>
      <p:sp>
        <p:nvSpPr>
          <p:cNvPr id="12292" name="Rectangle 3" descr="Rectangle: Click to edit Master text styles&#10;Second level&#10;Third level&#10;Fourth level&#10;Fifth level"/>
          <p:cNvSpPr>
            <a:spLocks noGrp="1" noChangeArrowheads="1"/>
          </p:cNvSpPr>
          <p:nvPr>
            <p:ph type="body" idx="1"/>
          </p:nvPr>
        </p:nvSpPr>
        <p:spPr>
          <a:xfrm>
            <a:off x="457200" y="1828800"/>
            <a:ext cx="8229600" cy="3886200"/>
          </a:xfrm>
        </p:spPr>
        <p:txBody>
          <a:bodyPr/>
          <a:lstStyle/>
          <a:p>
            <a:r>
              <a:rPr lang="en-US" altLang="en-US" sz="2800"/>
              <a:t>Assess size, scope and complexity, and establish procedures.</a:t>
            </a:r>
          </a:p>
          <a:p>
            <a:r>
              <a:rPr lang="en-US" altLang="en-US" sz="2800"/>
              <a:t>Establish:</a:t>
            </a:r>
          </a:p>
          <a:p>
            <a:pPr lvl="1"/>
            <a:r>
              <a:rPr lang="en-US" altLang="en-US" sz="2400"/>
              <a:t>Initiation team</a:t>
            </a:r>
          </a:p>
          <a:p>
            <a:pPr lvl="1"/>
            <a:r>
              <a:rPr lang="en-US" altLang="en-US" sz="2400"/>
              <a:t>Relationship with customer</a:t>
            </a:r>
          </a:p>
          <a:p>
            <a:pPr lvl="1"/>
            <a:r>
              <a:rPr lang="en-US" altLang="en-US" sz="2400"/>
              <a:t>Project initiation plan</a:t>
            </a:r>
          </a:p>
          <a:p>
            <a:pPr lvl="1"/>
            <a:r>
              <a:rPr lang="en-US" altLang="en-US" sz="2400"/>
              <a:t>Management procedures</a:t>
            </a:r>
          </a:p>
          <a:p>
            <a:pPr lvl="1"/>
            <a:r>
              <a:rPr lang="en-US" altLang="en-US" sz="2400"/>
              <a:t>Project management environment and workbook</a:t>
            </a:r>
          </a:p>
          <a:p>
            <a:pPr lvl="1"/>
            <a:r>
              <a:rPr lang="en-US" altLang="en-US" sz="2400"/>
              <a:t>Project charter</a:t>
            </a:r>
          </a:p>
        </p:txBody>
      </p:sp>
    </p:spTree>
    <p:extLst>
      <p:ext uri="{BB962C8B-B14F-4D97-AF65-F5344CB8AC3E}">
        <p14:creationId xmlns:p14="http://schemas.microsoft.com/office/powerpoint/2010/main" val="410517310"/>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6"/>
          <p:cNvSpPr>
            <a:spLocks noChangeArrowheads="1"/>
          </p:cNvSpPr>
          <p:nvPr/>
        </p:nvSpPr>
        <p:spPr bwMode="auto">
          <a:xfrm>
            <a:off x="6248400" y="1143000"/>
            <a:ext cx="24384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3-6</a:t>
            </a:r>
          </a:p>
          <a:p>
            <a:pPr eaLnBrk="1" hangingPunct="1"/>
            <a:r>
              <a:rPr lang="en-US" altLang="en-US" sz="1600" dirty="0"/>
              <a:t>The project workbook for the Purchasing Fulfillment System project contains nine key elements</a:t>
            </a:r>
          </a:p>
        </p:txBody>
      </p:sp>
      <p:pic>
        <p:nvPicPr>
          <p:cNvPr id="3" name="Picture 2"/>
          <p:cNvPicPr>
            <a:picLocks noChangeAspect="1"/>
          </p:cNvPicPr>
          <p:nvPr/>
        </p:nvPicPr>
        <p:blipFill>
          <a:blip r:embed="rId3" cstate="print"/>
          <a:stretch>
            <a:fillRect/>
          </a:stretch>
        </p:blipFill>
        <p:spPr>
          <a:xfrm>
            <a:off x="381000" y="762000"/>
            <a:ext cx="5620842" cy="4984075"/>
          </a:xfrm>
          <a:prstGeom prst="rect">
            <a:avLst/>
          </a:prstGeom>
        </p:spPr>
      </p:pic>
      <p:sp>
        <p:nvSpPr>
          <p:cNvPr id="4" name="Rectangle 3"/>
          <p:cNvSpPr/>
          <p:nvPr/>
        </p:nvSpPr>
        <p:spPr>
          <a:xfrm>
            <a:off x="5181600" y="3406973"/>
            <a:ext cx="3817172" cy="2339102"/>
          </a:xfrm>
          <a:prstGeom prst="rect">
            <a:avLst/>
          </a:prstGeom>
          <a:solidFill>
            <a:schemeClr val="bg1">
              <a:alpha val="43000"/>
            </a:schemeClr>
          </a:solidFill>
        </p:spPr>
        <p:txBody>
          <a:bodyPr wrap="square">
            <a:spAutoFit/>
          </a:bodyPr>
          <a:lstStyle/>
          <a:p>
            <a:r>
              <a:rPr lang="en-US" b="1" dirty="0">
                <a:solidFill>
                  <a:srgbClr val="F30D40"/>
                </a:solidFill>
                <a:latin typeface="FuturaLTPro-Bold"/>
              </a:rPr>
              <a:t>Project workbook</a:t>
            </a:r>
          </a:p>
          <a:p>
            <a:r>
              <a:rPr lang="en-US" sz="1600" dirty="0">
                <a:solidFill>
                  <a:srgbClr val="000000"/>
                </a:solidFill>
                <a:latin typeface="FuturaLTPro-Light"/>
              </a:rPr>
              <a:t>An online or hard-copy repository for all project correspondence, inputs, outputs, deliverables, procedures, and standards. Used for performing project audits, orienting new team  members, communicating with management and customers, identifying future projects, and performing post-project reviews.</a:t>
            </a:r>
            <a:endParaRPr lang="en-US" sz="1600" dirty="0"/>
          </a:p>
        </p:txBody>
      </p:sp>
    </p:spTree>
    <p:extLst>
      <p:ext uri="{BB962C8B-B14F-4D97-AF65-F5344CB8AC3E}">
        <p14:creationId xmlns:p14="http://schemas.microsoft.com/office/powerpoint/2010/main" val="4078946175"/>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14338" y="228600"/>
            <a:ext cx="8229600" cy="1371600"/>
          </a:xfrm>
        </p:spPr>
        <p:txBody>
          <a:bodyPr/>
          <a:lstStyle/>
          <a:p>
            <a:r>
              <a:rPr lang="en-US" altLang="en-US"/>
              <a:t>Project Charter</a:t>
            </a:r>
          </a:p>
        </p:txBody>
      </p:sp>
      <p:sp>
        <p:nvSpPr>
          <p:cNvPr id="14339" name="Content Placeholder 2"/>
          <p:cNvSpPr>
            <a:spLocks noGrp="1"/>
          </p:cNvSpPr>
          <p:nvPr>
            <p:ph idx="1"/>
          </p:nvPr>
        </p:nvSpPr>
        <p:spPr>
          <a:xfrm>
            <a:off x="304800" y="1295400"/>
            <a:ext cx="8229600" cy="3886200"/>
          </a:xfrm>
        </p:spPr>
        <p:txBody>
          <a:bodyPr/>
          <a:lstStyle/>
          <a:p>
            <a:r>
              <a:rPr lang="en-US" altLang="en-US" sz="2800"/>
              <a:t>A short document prepared for the customer describing project deliverables and outlining the work required to complete the project</a:t>
            </a:r>
          </a:p>
          <a:p>
            <a:r>
              <a:rPr lang="en-US" altLang="en-US" sz="2800"/>
              <a:t>Elements:</a:t>
            </a:r>
          </a:p>
          <a:p>
            <a:pPr lvl="1"/>
            <a:r>
              <a:rPr lang="en-US" altLang="en-US" sz="2200"/>
              <a:t>Title and authorization date</a:t>
            </a:r>
          </a:p>
          <a:p>
            <a:pPr lvl="1"/>
            <a:r>
              <a:rPr lang="en-US" altLang="en-US" sz="2200"/>
              <a:t>Project manager name and contact information</a:t>
            </a:r>
          </a:p>
          <a:p>
            <a:pPr lvl="1"/>
            <a:r>
              <a:rPr lang="en-US" altLang="en-US" sz="2200"/>
              <a:t>Customer name and contact information</a:t>
            </a:r>
          </a:p>
          <a:p>
            <a:pPr lvl="1"/>
            <a:r>
              <a:rPr lang="en-US" altLang="en-US" sz="2200"/>
              <a:t>Project start and completion dates</a:t>
            </a:r>
          </a:p>
          <a:p>
            <a:pPr lvl="1"/>
            <a:r>
              <a:rPr lang="en-US" altLang="en-US" sz="2200"/>
              <a:t>Key stakeholders, roles, responsibilities</a:t>
            </a:r>
          </a:p>
          <a:p>
            <a:pPr lvl="1"/>
            <a:r>
              <a:rPr lang="en-US" altLang="en-US" sz="2200"/>
              <a:t>Project objectives and description</a:t>
            </a:r>
          </a:p>
          <a:p>
            <a:pPr lvl="1"/>
            <a:r>
              <a:rPr lang="en-US" altLang="en-US" sz="2200"/>
              <a:t>Key assumptions</a:t>
            </a:r>
          </a:p>
          <a:p>
            <a:pPr lvl="1"/>
            <a:r>
              <a:rPr lang="en-US" altLang="en-US" sz="2200"/>
              <a:t>Signatures of stakeholders</a:t>
            </a:r>
          </a:p>
          <a:p>
            <a:pPr lvl="1"/>
            <a:endParaRPr lang="en-US" altLang="en-US" sz="2400"/>
          </a:p>
        </p:txBody>
      </p:sp>
    </p:spTree>
    <p:extLst>
      <p:ext uri="{BB962C8B-B14F-4D97-AF65-F5344CB8AC3E}">
        <p14:creationId xmlns:p14="http://schemas.microsoft.com/office/powerpoint/2010/main" val="2783142242"/>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304800"/>
            <a:ext cx="8229600" cy="1371600"/>
          </a:xfrm>
        </p:spPr>
        <p:txBody>
          <a:bodyPr/>
          <a:lstStyle/>
          <a:p>
            <a:r>
              <a:rPr lang="en-US" altLang="en-US"/>
              <a:t>PM Phase 2: Project Planning</a:t>
            </a:r>
          </a:p>
        </p:txBody>
      </p:sp>
      <p:sp>
        <p:nvSpPr>
          <p:cNvPr id="15363" name="Content Placeholder 6"/>
          <p:cNvSpPr>
            <a:spLocks noGrp="1"/>
          </p:cNvSpPr>
          <p:nvPr>
            <p:ph sz="half" idx="1"/>
          </p:nvPr>
        </p:nvSpPr>
        <p:spPr>
          <a:xfrm>
            <a:off x="304800" y="2362200"/>
            <a:ext cx="4267200" cy="3886200"/>
          </a:xfrm>
        </p:spPr>
        <p:txBody>
          <a:bodyPr/>
          <a:lstStyle/>
          <a:p>
            <a:pPr marL="457200" indent="-457200">
              <a:buFont typeface="Arial" panose="020B0604020202020204" pitchFamily="34" charset="0"/>
              <a:buAutoNum type="arabicPeriod"/>
            </a:pPr>
            <a:r>
              <a:rPr lang="en-US" altLang="en-US" sz="2200"/>
              <a:t>Describing Project Scope, Alternatives, and Feasibility</a:t>
            </a:r>
          </a:p>
          <a:p>
            <a:pPr marL="457200" indent="-457200">
              <a:buFont typeface="Arial" panose="020B0604020202020204" pitchFamily="34" charset="0"/>
              <a:buAutoNum type="arabicPeriod"/>
            </a:pPr>
            <a:r>
              <a:rPr lang="en-US" altLang="en-US" sz="2200"/>
              <a:t>Dividing the Project into Manageable Tasks</a:t>
            </a:r>
          </a:p>
          <a:p>
            <a:pPr marL="457200" indent="-457200">
              <a:buFont typeface="Arial" panose="020B0604020202020204" pitchFamily="34" charset="0"/>
              <a:buAutoNum type="arabicPeriod"/>
            </a:pPr>
            <a:r>
              <a:rPr lang="en-US" altLang="en-US" sz="2200"/>
              <a:t>Estimating Resources and Creating a Resource Plan</a:t>
            </a:r>
          </a:p>
          <a:p>
            <a:pPr marL="457200" indent="-457200">
              <a:buFont typeface="Arial" panose="020B0604020202020204" pitchFamily="34" charset="0"/>
              <a:buAutoNum type="arabicPeriod"/>
            </a:pPr>
            <a:r>
              <a:rPr lang="en-US" altLang="en-US" sz="2200"/>
              <a:t>Developing a Preliminary Schedule</a:t>
            </a:r>
          </a:p>
          <a:p>
            <a:pPr marL="457200" indent="-457200">
              <a:buFont typeface="Arial" panose="020B0604020202020204" pitchFamily="34" charset="0"/>
              <a:buAutoNum type="arabicPeriod"/>
            </a:pPr>
            <a:r>
              <a:rPr lang="en-US" altLang="en-US" sz="2200"/>
              <a:t>Developing a Communication Plan</a:t>
            </a:r>
          </a:p>
        </p:txBody>
      </p:sp>
      <p:sp>
        <p:nvSpPr>
          <p:cNvPr id="15364" name="Content Placeholder 7"/>
          <p:cNvSpPr>
            <a:spLocks noGrp="1"/>
          </p:cNvSpPr>
          <p:nvPr>
            <p:ph sz="half" idx="2"/>
          </p:nvPr>
        </p:nvSpPr>
        <p:spPr>
          <a:xfrm>
            <a:off x="4648200" y="2362200"/>
            <a:ext cx="4038600" cy="3886200"/>
          </a:xfrm>
        </p:spPr>
        <p:txBody>
          <a:bodyPr/>
          <a:lstStyle/>
          <a:p>
            <a:pPr marL="457200" indent="-457200">
              <a:buFont typeface="Arial" panose="020B0604020202020204" pitchFamily="34" charset="0"/>
              <a:buAutoNum type="arabicPeriod" startAt="6"/>
            </a:pPr>
            <a:r>
              <a:rPr lang="en-US" altLang="en-US" sz="2200"/>
              <a:t>Determining Project Standards and Procedures</a:t>
            </a:r>
          </a:p>
          <a:p>
            <a:pPr marL="457200" indent="-457200">
              <a:buFont typeface="Arial" panose="020B0604020202020204" pitchFamily="34" charset="0"/>
              <a:buAutoNum type="arabicPeriod" startAt="6"/>
            </a:pPr>
            <a:r>
              <a:rPr lang="en-US" altLang="en-US" sz="2200"/>
              <a:t>Identifying and Assessing Risk</a:t>
            </a:r>
          </a:p>
          <a:p>
            <a:pPr marL="457200" indent="-457200">
              <a:buFont typeface="Arial" panose="020B0604020202020204" pitchFamily="34" charset="0"/>
              <a:buAutoNum type="arabicPeriod" startAt="6"/>
            </a:pPr>
            <a:r>
              <a:rPr lang="en-US" altLang="en-US" sz="2200"/>
              <a:t>Creating a Preliminary Budget</a:t>
            </a:r>
          </a:p>
          <a:p>
            <a:pPr marL="457200" indent="-457200">
              <a:buFont typeface="Arial" panose="020B0604020202020204" pitchFamily="34" charset="0"/>
              <a:buAutoNum type="arabicPeriod" startAt="6"/>
            </a:pPr>
            <a:r>
              <a:rPr lang="en-US" altLang="en-US" sz="2200"/>
              <a:t>Developing a Project Scope Statement</a:t>
            </a:r>
          </a:p>
          <a:p>
            <a:pPr marL="457200" indent="-457200">
              <a:buFont typeface="Arial" panose="020B0604020202020204" pitchFamily="34" charset="0"/>
              <a:buAutoNum type="arabicPeriod" startAt="6"/>
            </a:pPr>
            <a:r>
              <a:rPr lang="en-US" altLang="en-US" sz="2200"/>
              <a:t>Setting a Baseline Project Plan</a:t>
            </a:r>
          </a:p>
        </p:txBody>
      </p:sp>
      <p:sp>
        <p:nvSpPr>
          <p:cNvPr id="15368" name="Rectangle 3" descr="Rectangle: Click to edit Master text styles&#10;Second level&#10;Third level&#10;Fourth level&#10;Fifth level"/>
          <p:cNvSpPr txBox="1">
            <a:spLocks noChangeArrowheads="1"/>
          </p:cNvSpPr>
          <p:nvPr/>
        </p:nvSpPr>
        <p:spPr bwMode="auto">
          <a:xfrm>
            <a:off x="609600" y="14478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0000"/>
              </a:lnSpc>
              <a:spcBef>
                <a:spcPct val="20000"/>
              </a:spcBef>
              <a:buClr>
                <a:schemeClr val="bg2"/>
              </a:buClr>
              <a:buSzPct val="75000"/>
              <a:buFont typeface="Wingdings" panose="05000000000000000000" pitchFamily="2" charset="2"/>
              <a:buNone/>
            </a:pPr>
            <a:r>
              <a:rPr lang="en-US" altLang="en-US" sz="2800"/>
              <a:t>Define clear, discrete activities and the work needed to complete each activity. Tasks include:</a:t>
            </a:r>
          </a:p>
        </p:txBody>
      </p:sp>
    </p:spTree>
    <p:extLst>
      <p:ext uri="{BB962C8B-B14F-4D97-AF65-F5344CB8AC3E}">
        <p14:creationId xmlns:p14="http://schemas.microsoft.com/office/powerpoint/2010/main" val="23589966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6"/>
          <p:cNvSpPr>
            <a:spLocks noGrp="1" noChangeArrowheads="1"/>
          </p:cNvSpPr>
          <p:nvPr>
            <p:ph type="title"/>
          </p:nvPr>
        </p:nvSpPr>
        <p:spPr/>
        <p:txBody>
          <a:bodyPr/>
          <a:lstStyle/>
          <a:p>
            <a:r>
              <a:rPr lang="en-US" altLang="en-US"/>
              <a:t>Planning Detail</a:t>
            </a:r>
          </a:p>
        </p:txBody>
      </p:sp>
      <p:pic>
        <p:nvPicPr>
          <p:cNvPr id="16390" name="Picture 6"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1905000"/>
            <a:ext cx="5918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Rectangle 7"/>
          <p:cNvSpPr>
            <a:spLocks noChangeArrowheads="1"/>
          </p:cNvSpPr>
          <p:nvPr/>
        </p:nvSpPr>
        <p:spPr bwMode="auto">
          <a:xfrm>
            <a:off x="6400800" y="2743200"/>
            <a:ext cx="24384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3-8</a:t>
            </a:r>
          </a:p>
          <a:p>
            <a:pPr eaLnBrk="1" hangingPunct="1"/>
            <a:r>
              <a:rPr lang="en-US" altLang="en-US" dirty="0"/>
              <a:t>Level of project planning detail should be high in the short term, with less detail as time goes on</a:t>
            </a:r>
          </a:p>
        </p:txBody>
      </p:sp>
    </p:spTree>
    <p:extLst>
      <p:ext uri="{BB962C8B-B14F-4D97-AF65-F5344CB8AC3E}">
        <p14:creationId xmlns:p14="http://schemas.microsoft.com/office/powerpoint/2010/main" val="4184292495"/>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en-US" sz="4000"/>
              <a:t>Project Scope, Alternatives, and Feasibility</a:t>
            </a:r>
          </a:p>
        </p:txBody>
      </p:sp>
      <p:sp>
        <p:nvSpPr>
          <p:cNvPr id="17412" name="Rectangle 3" descr="Rectangle: Click to edit Master text styles&#10;Second level&#10;Third level&#10;Fourth level&#10;Fifth level"/>
          <p:cNvSpPr>
            <a:spLocks noGrp="1" noChangeArrowheads="1"/>
          </p:cNvSpPr>
          <p:nvPr>
            <p:ph type="body" idx="1"/>
          </p:nvPr>
        </p:nvSpPr>
        <p:spPr/>
        <p:txBody>
          <a:bodyPr/>
          <a:lstStyle/>
          <a:p>
            <a:r>
              <a:rPr lang="en-US" altLang="en-US"/>
              <a:t>What problem or opportunity does the project address?</a:t>
            </a:r>
          </a:p>
          <a:p>
            <a:r>
              <a:rPr lang="en-US" altLang="en-US"/>
              <a:t>What are the quantifiable results to be achieved?</a:t>
            </a:r>
          </a:p>
          <a:p>
            <a:r>
              <a:rPr lang="en-US" altLang="en-US"/>
              <a:t>What needs to be done?</a:t>
            </a:r>
          </a:p>
          <a:p>
            <a:r>
              <a:rPr lang="en-US" altLang="en-US"/>
              <a:t>How will success be measured?</a:t>
            </a:r>
          </a:p>
          <a:p>
            <a:r>
              <a:rPr lang="en-US" altLang="en-US"/>
              <a:t>How will we know when we are finished?</a:t>
            </a:r>
          </a:p>
        </p:txBody>
      </p:sp>
    </p:spTree>
    <p:extLst>
      <p:ext uri="{BB962C8B-B14F-4D97-AF65-F5344CB8AC3E}">
        <p14:creationId xmlns:p14="http://schemas.microsoft.com/office/powerpoint/2010/main" val="1689810291"/>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a:t>Dividing Project into Manageable Tasks</a:t>
            </a:r>
          </a:p>
        </p:txBody>
      </p:sp>
      <p:sp>
        <p:nvSpPr>
          <p:cNvPr id="18435" name="Content Placeholder 2"/>
          <p:cNvSpPr>
            <a:spLocks noGrp="1"/>
          </p:cNvSpPr>
          <p:nvPr>
            <p:ph idx="1"/>
          </p:nvPr>
        </p:nvSpPr>
        <p:spPr/>
        <p:txBody>
          <a:bodyPr/>
          <a:lstStyle/>
          <a:p>
            <a:r>
              <a:rPr lang="en-US" altLang="en-US"/>
              <a:t>Work Breakdown Structure (WBS)</a:t>
            </a:r>
          </a:p>
          <a:p>
            <a:pPr lvl="1"/>
            <a:r>
              <a:rPr lang="en-US" altLang="en-US"/>
              <a:t>Division of project into manageable and logically ordered tasks and subtasks</a:t>
            </a:r>
          </a:p>
          <a:p>
            <a:r>
              <a:rPr lang="en-US" altLang="en-US"/>
              <a:t>Scheduling Diagrams</a:t>
            </a:r>
          </a:p>
          <a:p>
            <a:pPr lvl="1"/>
            <a:r>
              <a:rPr lang="en-US" altLang="en-US"/>
              <a:t>Gantt chart: horizontal bars represent task durations</a:t>
            </a:r>
          </a:p>
          <a:p>
            <a:pPr lvl="1"/>
            <a:r>
              <a:rPr lang="en-US" altLang="en-US"/>
              <a:t>Network diagram: boxes and links represent task dependencies</a:t>
            </a:r>
          </a:p>
          <a:p>
            <a:endParaRPr lang="en-US" altLang="en-US"/>
          </a:p>
        </p:txBody>
      </p:sp>
    </p:spTree>
    <p:extLst>
      <p:ext uri="{BB962C8B-B14F-4D97-AF65-F5344CB8AC3E}">
        <p14:creationId xmlns:p14="http://schemas.microsoft.com/office/powerpoint/2010/main" val="323129927"/>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487244" y="1447800"/>
            <a:ext cx="7970956" cy="4065588"/>
          </a:xfrm>
          <a:prstGeom prst="rect">
            <a:avLst/>
          </a:prstGeom>
        </p:spPr>
      </p:pic>
      <p:sp>
        <p:nvSpPr>
          <p:cNvPr id="19459" name="Rectangle 4"/>
          <p:cNvSpPr>
            <a:spLocks noGrp="1" noChangeArrowheads="1"/>
          </p:cNvSpPr>
          <p:nvPr>
            <p:ph type="title"/>
          </p:nvPr>
        </p:nvSpPr>
        <p:spPr>
          <a:xfrm>
            <a:off x="457200" y="457200"/>
            <a:ext cx="8229600" cy="838200"/>
          </a:xfrm>
        </p:spPr>
        <p:txBody>
          <a:bodyPr/>
          <a:lstStyle/>
          <a:p>
            <a:r>
              <a:rPr lang="en-US" altLang="en-US" sz="4000"/>
              <a:t>Developing a Preliminary Schedule</a:t>
            </a:r>
          </a:p>
        </p:txBody>
      </p:sp>
      <p:sp>
        <p:nvSpPr>
          <p:cNvPr id="19462" name="Rectangle 8"/>
          <p:cNvSpPr>
            <a:spLocks noChangeArrowheads="1"/>
          </p:cNvSpPr>
          <p:nvPr/>
        </p:nvSpPr>
        <p:spPr bwMode="auto">
          <a:xfrm>
            <a:off x="304800" y="5561013"/>
            <a:ext cx="8763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3-10</a:t>
            </a:r>
          </a:p>
          <a:p>
            <a:pPr eaLnBrk="1" hangingPunct="1"/>
            <a:r>
              <a:rPr lang="en-US" altLang="en-US" dirty="0"/>
              <a:t>Gantt chart showing project tasks, duration times for those tasks, and predecessors</a:t>
            </a:r>
          </a:p>
          <a:p>
            <a:pPr eaLnBrk="1" hangingPunct="1"/>
            <a:r>
              <a:rPr lang="en-US" sz="1600" dirty="0"/>
              <a:t>(</a:t>
            </a:r>
            <a:r>
              <a:rPr lang="en-US" sz="1600" i="1" dirty="0"/>
              <a:t>Source:</a:t>
            </a:r>
            <a:r>
              <a:rPr lang="en-US" sz="1600" dirty="0"/>
              <a:t> Microsoft Corporation.)</a:t>
            </a:r>
            <a:endParaRPr lang="en-US" altLang="en-US" sz="1600" dirty="0"/>
          </a:p>
        </p:txBody>
      </p:sp>
      <p:sp>
        <p:nvSpPr>
          <p:cNvPr id="19464" name="TextBox 1"/>
          <p:cNvSpPr txBox="1">
            <a:spLocks noChangeArrowheads="1"/>
          </p:cNvSpPr>
          <p:nvPr/>
        </p:nvSpPr>
        <p:spPr bwMode="auto">
          <a:xfrm>
            <a:off x="968375" y="4424363"/>
            <a:ext cx="1120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solidFill>
                  <a:srgbClr val="FF0000"/>
                </a:solidFill>
              </a:rPr>
              <a:t>WBS</a:t>
            </a:r>
          </a:p>
        </p:txBody>
      </p:sp>
      <p:sp>
        <p:nvSpPr>
          <p:cNvPr id="19465" name="TextBox 10"/>
          <p:cNvSpPr txBox="1">
            <a:spLocks noChangeArrowheads="1"/>
          </p:cNvSpPr>
          <p:nvPr/>
        </p:nvSpPr>
        <p:spPr bwMode="auto">
          <a:xfrm>
            <a:off x="5181600" y="4424363"/>
            <a:ext cx="230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solidFill>
                  <a:srgbClr val="FF0000"/>
                </a:solidFill>
              </a:rPr>
              <a:t>Gantt Chart</a:t>
            </a:r>
          </a:p>
        </p:txBody>
      </p:sp>
    </p:spTree>
    <p:extLst>
      <p:ext uri="{BB962C8B-B14F-4D97-AF65-F5344CB8AC3E}">
        <p14:creationId xmlns:p14="http://schemas.microsoft.com/office/powerpoint/2010/main" val="3520184609"/>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0" y="76200"/>
            <a:ext cx="9144000" cy="1371600"/>
          </a:xfrm>
        </p:spPr>
        <p:txBody>
          <a:bodyPr/>
          <a:lstStyle/>
          <a:p>
            <a:r>
              <a:rPr lang="en-US" altLang="en-US" sz="4000"/>
              <a:t>Scheduling Diagrams Network Diagram</a:t>
            </a:r>
          </a:p>
        </p:txBody>
      </p:sp>
      <p:sp>
        <p:nvSpPr>
          <p:cNvPr id="20487" name="Rectangle 8"/>
          <p:cNvSpPr>
            <a:spLocks noChangeArrowheads="1"/>
          </p:cNvSpPr>
          <p:nvPr/>
        </p:nvSpPr>
        <p:spPr bwMode="auto">
          <a:xfrm>
            <a:off x="533400" y="1143000"/>
            <a:ext cx="79248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3-12</a:t>
            </a:r>
          </a:p>
          <a:p>
            <a:pPr eaLnBrk="1" hangingPunct="1"/>
            <a:r>
              <a:rPr lang="en-US" altLang="en-US" dirty="0"/>
              <a:t>A network diagram illustrating tasks with rectangles (or ovals) and the relationships and sequences of those activities with arrows </a:t>
            </a:r>
          </a:p>
          <a:p>
            <a:pPr eaLnBrk="1" hangingPunct="1"/>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795337" y="2343150"/>
            <a:ext cx="7553325" cy="3841902"/>
          </a:xfrm>
          <a:prstGeom prst="rect">
            <a:avLst/>
          </a:prstGeom>
        </p:spPr>
      </p:pic>
    </p:spTree>
    <p:extLst>
      <p:ext uri="{BB962C8B-B14F-4D97-AF65-F5344CB8AC3E}">
        <p14:creationId xmlns:p14="http://schemas.microsoft.com/office/powerpoint/2010/main" val="2483125575"/>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Resources, Creating a Resource Plan</a:t>
            </a:r>
          </a:p>
        </p:txBody>
      </p:sp>
      <p:sp>
        <p:nvSpPr>
          <p:cNvPr id="3" name="Content Placeholder 2"/>
          <p:cNvSpPr>
            <a:spLocks noGrp="1"/>
          </p:cNvSpPr>
          <p:nvPr>
            <p:ph idx="1"/>
          </p:nvPr>
        </p:nvSpPr>
        <p:spPr>
          <a:xfrm>
            <a:off x="457200" y="1828800"/>
            <a:ext cx="8229600" cy="3886200"/>
          </a:xfrm>
        </p:spPr>
        <p:txBody>
          <a:bodyPr/>
          <a:lstStyle/>
          <a:p>
            <a:r>
              <a:rPr lang="en-US" b="1" dirty="0"/>
              <a:t>Constructive Cost Model (COCOMO)</a:t>
            </a:r>
            <a:r>
              <a:rPr lang="en-US" dirty="0"/>
              <a:t> – an automated software estimation model that uses historical project data and current/future project characteristics to estimate project costs</a:t>
            </a:r>
          </a:p>
          <a:p>
            <a:r>
              <a:rPr lang="en-US" dirty="0"/>
              <a:t>People are the most important and expensive resource </a:t>
            </a:r>
          </a:p>
          <a:p>
            <a:pPr lvl="1"/>
            <a:r>
              <a:rPr lang="en-US" dirty="0"/>
              <a:t>Important to have a good balance between specialization and task variety</a:t>
            </a:r>
          </a:p>
        </p:txBody>
      </p:sp>
    </p:spTree>
    <p:extLst>
      <p:ext uri="{BB962C8B-B14F-4D97-AF65-F5344CB8AC3E}">
        <p14:creationId xmlns:p14="http://schemas.microsoft.com/office/powerpoint/2010/main" val="2739231579"/>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04800" y="152400"/>
            <a:ext cx="8763000" cy="1371600"/>
          </a:xfrm>
        </p:spPr>
        <p:txBody>
          <a:bodyPr/>
          <a:lstStyle/>
          <a:p>
            <a:r>
              <a:rPr lang="en-US" altLang="en-US"/>
              <a:t>Developing a Communication Plan</a:t>
            </a:r>
          </a:p>
        </p:txBody>
      </p:sp>
      <p:sp>
        <p:nvSpPr>
          <p:cNvPr id="22531" name="Content Placeholder 5"/>
          <p:cNvSpPr>
            <a:spLocks noGrp="1"/>
          </p:cNvSpPr>
          <p:nvPr>
            <p:ph idx="1"/>
          </p:nvPr>
        </p:nvSpPr>
        <p:spPr>
          <a:xfrm>
            <a:off x="533400" y="1219200"/>
            <a:ext cx="8229600" cy="5029200"/>
          </a:xfrm>
        </p:spPr>
        <p:txBody>
          <a:bodyPr>
            <a:normAutofit fontScale="92500"/>
          </a:bodyPr>
          <a:lstStyle/>
          <a:p>
            <a:pPr>
              <a:spcBef>
                <a:spcPts val="1200"/>
              </a:spcBef>
              <a:defRPr/>
            </a:pPr>
            <a:r>
              <a:rPr lang="en-US" sz="2900" dirty="0"/>
              <a:t>Who are stakeholders?</a:t>
            </a:r>
          </a:p>
          <a:p>
            <a:pPr>
              <a:spcBef>
                <a:spcPts val="1200"/>
              </a:spcBef>
              <a:defRPr/>
            </a:pPr>
            <a:r>
              <a:rPr lang="en-US" sz="2900" dirty="0"/>
              <a:t>What information does each stakeholder need?</a:t>
            </a:r>
          </a:p>
          <a:p>
            <a:pPr>
              <a:spcBef>
                <a:spcPts val="1200"/>
              </a:spcBef>
              <a:defRPr/>
            </a:pPr>
            <a:r>
              <a:rPr lang="en-US" sz="2900" dirty="0"/>
              <a:t>When should information be produced?</a:t>
            </a:r>
          </a:p>
          <a:p>
            <a:pPr>
              <a:spcBef>
                <a:spcPts val="1200"/>
              </a:spcBef>
              <a:defRPr/>
            </a:pPr>
            <a:r>
              <a:rPr lang="en-US" sz="2900" dirty="0"/>
              <a:t>What are sources of information?</a:t>
            </a:r>
          </a:p>
          <a:p>
            <a:pPr>
              <a:spcBef>
                <a:spcPts val="1200"/>
              </a:spcBef>
              <a:defRPr/>
            </a:pPr>
            <a:r>
              <a:rPr lang="en-US" sz="2900" dirty="0"/>
              <a:t>Who will collect, store and validate info?</a:t>
            </a:r>
          </a:p>
          <a:p>
            <a:pPr>
              <a:spcBef>
                <a:spcPts val="1200"/>
              </a:spcBef>
              <a:defRPr/>
            </a:pPr>
            <a:r>
              <a:rPr lang="en-US" sz="2900" dirty="0"/>
              <a:t>Who will organize and document info?</a:t>
            </a:r>
          </a:p>
          <a:p>
            <a:pPr>
              <a:spcBef>
                <a:spcPts val="1200"/>
              </a:spcBef>
              <a:defRPr/>
            </a:pPr>
            <a:r>
              <a:rPr lang="en-US" sz="2900" dirty="0"/>
              <a:t>Who is the contact person for each stakeholder?</a:t>
            </a:r>
          </a:p>
          <a:p>
            <a:pPr>
              <a:spcBef>
                <a:spcPts val="1200"/>
              </a:spcBef>
              <a:defRPr/>
            </a:pPr>
            <a:r>
              <a:rPr lang="en-US" sz="2900" dirty="0"/>
              <a:t>What is the appropriate/best format for info?</a:t>
            </a:r>
          </a:p>
          <a:p>
            <a:pPr>
              <a:spcBef>
                <a:spcPts val="1200"/>
              </a:spcBef>
              <a:defRPr/>
            </a:pPr>
            <a:r>
              <a:rPr lang="en-US" sz="2900" dirty="0"/>
              <a:t>What communication medium should be used?</a:t>
            </a:r>
          </a:p>
          <a:p>
            <a:pPr>
              <a:defRPr/>
            </a:pPr>
            <a:endParaRPr lang="en-US" sz="2900" dirty="0"/>
          </a:p>
          <a:p>
            <a:pPr>
              <a:defRPr/>
            </a:pPr>
            <a:endParaRPr lang="en-US" sz="2900" dirty="0"/>
          </a:p>
          <a:p>
            <a:pPr>
              <a:defRPr/>
            </a:pPr>
            <a:endParaRPr lang="en-US" sz="2900" dirty="0"/>
          </a:p>
        </p:txBody>
      </p:sp>
    </p:spTree>
    <p:extLst>
      <p:ext uri="{BB962C8B-B14F-4D97-AF65-F5344CB8AC3E}">
        <p14:creationId xmlns:p14="http://schemas.microsoft.com/office/powerpoint/2010/main" val="198884265"/>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Plan</a:t>
            </a:r>
          </a:p>
        </p:txBody>
      </p:sp>
      <p:pic>
        <p:nvPicPr>
          <p:cNvPr id="4" name="Picture 3"/>
          <p:cNvPicPr>
            <a:picLocks noChangeAspect="1"/>
          </p:cNvPicPr>
          <p:nvPr/>
        </p:nvPicPr>
        <p:blipFill>
          <a:blip r:embed="rId3" cstate="print"/>
          <a:stretch>
            <a:fillRect/>
          </a:stretch>
        </p:blipFill>
        <p:spPr>
          <a:xfrm>
            <a:off x="304800" y="1815353"/>
            <a:ext cx="8133647" cy="3352801"/>
          </a:xfrm>
          <a:prstGeom prst="rect">
            <a:avLst/>
          </a:prstGeom>
        </p:spPr>
      </p:pic>
      <p:sp>
        <p:nvSpPr>
          <p:cNvPr id="6" name="Rectangle 5"/>
          <p:cNvSpPr/>
          <p:nvPr/>
        </p:nvSpPr>
        <p:spPr>
          <a:xfrm>
            <a:off x="3733800" y="5190566"/>
            <a:ext cx="4572000" cy="1200329"/>
          </a:xfrm>
          <a:prstGeom prst="rect">
            <a:avLst/>
          </a:prstGeom>
        </p:spPr>
        <p:txBody>
          <a:bodyPr>
            <a:spAutoFit/>
          </a:bodyPr>
          <a:lstStyle/>
          <a:p>
            <a:r>
              <a:rPr lang="en-US" b="1" dirty="0"/>
              <a:t>FIGURE 3-13</a:t>
            </a:r>
          </a:p>
          <a:p>
            <a:r>
              <a:rPr lang="en-US" dirty="0"/>
              <a:t>The project communication matrix</a:t>
            </a:r>
          </a:p>
          <a:p>
            <a:r>
              <a:rPr lang="en-US" dirty="0"/>
              <a:t>provides a high-level summary of the</a:t>
            </a:r>
          </a:p>
          <a:p>
            <a:r>
              <a:rPr lang="en-US" dirty="0"/>
              <a:t>communication plan</a:t>
            </a:r>
          </a:p>
        </p:txBody>
      </p:sp>
      <p:sp>
        <p:nvSpPr>
          <p:cNvPr id="3" name="Left Brace 2">
            <a:extLst>
              <a:ext uri="{FF2B5EF4-FFF2-40B4-BE49-F238E27FC236}">
                <a16:creationId xmlns:a16="http://schemas.microsoft.com/office/drawing/2014/main" id="{620864C4-5775-4E18-86C0-7970A723018B}"/>
              </a:ext>
            </a:extLst>
          </p:cNvPr>
          <p:cNvSpPr/>
          <p:nvPr/>
        </p:nvSpPr>
        <p:spPr bwMode="auto">
          <a:xfrm>
            <a:off x="-1981200" y="2011681"/>
            <a:ext cx="45719" cy="45719"/>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115097638"/>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Project Standards and Procedures</a:t>
            </a:r>
          </a:p>
        </p:txBody>
      </p:sp>
      <p:sp>
        <p:nvSpPr>
          <p:cNvPr id="3" name="Content Placeholder 2"/>
          <p:cNvSpPr>
            <a:spLocks noGrp="1"/>
          </p:cNvSpPr>
          <p:nvPr>
            <p:ph idx="1"/>
          </p:nvPr>
        </p:nvSpPr>
        <p:spPr/>
        <p:txBody>
          <a:bodyPr/>
          <a:lstStyle/>
          <a:p>
            <a:r>
              <a:rPr lang="en-US" dirty="0"/>
              <a:t>Type of SDLC methodology</a:t>
            </a:r>
          </a:p>
          <a:p>
            <a:r>
              <a:rPr lang="en-US" dirty="0"/>
              <a:t>Documentation styles</a:t>
            </a:r>
          </a:p>
          <a:p>
            <a:r>
              <a:rPr lang="en-US" dirty="0"/>
              <a:t>Status updates</a:t>
            </a:r>
          </a:p>
          <a:p>
            <a:r>
              <a:rPr lang="en-US" dirty="0"/>
              <a:t>Terminology</a:t>
            </a:r>
          </a:p>
        </p:txBody>
      </p:sp>
    </p:spTree>
    <p:extLst>
      <p:ext uri="{BB962C8B-B14F-4D97-AF65-F5344CB8AC3E}">
        <p14:creationId xmlns:p14="http://schemas.microsoft.com/office/powerpoint/2010/main" val="1067531771"/>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and Assessing Risk</a:t>
            </a:r>
          </a:p>
        </p:txBody>
      </p:sp>
      <p:sp>
        <p:nvSpPr>
          <p:cNvPr id="3" name="Content Placeholder 2"/>
          <p:cNvSpPr>
            <a:spLocks noGrp="1"/>
          </p:cNvSpPr>
          <p:nvPr>
            <p:ph idx="1"/>
          </p:nvPr>
        </p:nvSpPr>
        <p:spPr/>
        <p:txBody>
          <a:bodyPr/>
          <a:lstStyle/>
          <a:p>
            <a:r>
              <a:rPr lang="en-US" dirty="0"/>
              <a:t>Sources of risk</a:t>
            </a:r>
          </a:p>
          <a:p>
            <a:r>
              <a:rPr lang="en-US" dirty="0"/>
              <a:t>Consequences of risk</a:t>
            </a:r>
          </a:p>
          <a:p>
            <a:r>
              <a:rPr lang="en-US" dirty="0"/>
              <a:t>Possible sources: new technology, user resistance, critical resource availability, competitive reactions, regulatory changes, team member experience</a:t>
            </a:r>
          </a:p>
        </p:txBody>
      </p:sp>
    </p:spTree>
    <p:extLst>
      <p:ext uri="{BB962C8B-B14F-4D97-AF65-F5344CB8AC3E}">
        <p14:creationId xmlns:p14="http://schemas.microsoft.com/office/powerpoint/2010/main" val="1043569883"/>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type="title"/>
          </p:nvPr>
        </p:nvSpPr>
        <p:spPr>
          <a:xfrm>
            <a:off x="457200" y="381000"/>
            <a:ext cx="8382000" cy="838200"/>
          </a:xfrm>
        </p:spPr>
        <p:txBody>
          <a:bodyPr/>
          <a:lstStyle/>
          <a:p>
            <a:r>
              <a:rPr lang="en-US" altLang="en-US"/>
              <a:t>Developing a Preliminary Budget</a:t>
            </a:r>
          </a:p>
        </p:txBody>
      </p:sp>
      <p:sp>
        <p:nvSpPr>
          <p:cNvPr id="21508" name="Text Box 7"/>
          <p:cNvSpPr txBox="1">
            <a:spLocks noChangeArrowheads="1"/>
          </p:cNvSpPr>
          <p:nvPr/>
        </p:nvSpPr>
        <p:spPr bwMode="auto">
          <a:xfrm>
            <a:off x="6918325" y="2601913"/>
            <a:ext cx="169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US" altLang="en-US" sz="2000"/>
          </a:p>
        </p:txBody>
      </p:sp>
      <p:sp>
        <p:nvSpPr>
          <p:cNvPr id="21509" name="Text Box 8"/>
          <p:cNvSpPr txBox="1">
            <a:spLocks noChangeArrowheads="1"/>
          </p:cNvSpPr>
          <p:nvPr/>
        </p:nvSpPr>
        <p:spPr bwMode="auto">
          <a:xfrm>
            <a:off x="6553200" y="4572000"/>
            <a:ext cx="2362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en-US" altLang="en-US" sz="2400"/>
              <a:t>Spreadsheet software is good for this.</a:t>
            </a:r>
          </a:p>
        </p:txBody>
      </p:sp>
      <p:sp>
        <p:nvSpPr>
          <p:cNvPr id="21512" name="Rectangle 9"/>
          <p:cNvSpPr>
            <a:spLocks noChangeArrowheads="1"/>
          </p:cNvSpPr>
          <p:nvPr/>
        </p:nvSpPr>
        <p:spPr bwMode="auto">
          <a:xfrm>
            <a:off x="6534150" y="1333500"/>
            <a:ext cx="2590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3-14</a:t>
            </a:r>
          </a:p>
          <a:p>
            <a:pPr eaLnBrk="1" hangingPunct="1"/>
            <a:r>
              <a:rPr lang="en-US" altLang="en-US" dirty="0"/>
              <a:t>A financial cost and benefit analysis for a systems development project </a:t>
            </a:r>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556274" y="1333500"/>
            <a:ext cx="5855893" cy="4762500"/>
          </a:xfrm>
          <a:prstGeom prst="rect">
            <a:avLst/>
          </a:prstGeom>
        </p:spPr>
      </p:pic>
    </p:spTree>
    <p:extLst>
      <p:ext uri="{BB962C8B-B14F-4D97-AF65-F5344CB8AC3E}">
        <p14:creationId xmlns:p14="http://schemas.microsoft.com/office/powerpoint/2010/main" val="96896716"/>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Setting a Baseline Project Plan</a:t>
            </a:r>
          </a:p>
        </p:txBody>
      </p:sp>
      <p:sp>
        <p:nvSpPr>
          <p:cNvPr id="23555" name="Content Placeholder 5"/>
          <p:cNvSpPr>
            <a:spLocks noGrp="1"/>
          </p:cNvSpPr>
          <p:nvPr>
            <p:ph idx="1"/>
          </p:nvPr>
        </p:nvSpPr>
        <p:spPr/>
        <p:txBody>
          <a:bodyPr/>
          <a:lstStyle/>
          <a:p>
            <a:r>
              <a:rPr lang="en-US" altLang="en-US"/>
              <a:t>A </a:t>
            </a:r>
            <a:r>
              <a:rPr lang="en-US" altLang="en-US" b="1"/>
              <a:t>Baseline Project Plan</a:t>
            </a:r>
            <a:r>
              <a:rPr lang="en-US" altLang="en-US"/>
              <a:t> provides an estimate of the project’s tasks and resource requirements and is used to guide the next project phase—execution. As new information is acquired during project execution, the baseline plan will continue to be updated.</a:t>
            </a:r>
          </a:p>
        </p:txBody>
      </p:sp>
    </p:spTree>
    <p:extLst>
      <p:ext uri="{BB962C8B-B14F-4D97-AF65-F5344CB8AC3E}">
        <p14:creationId xmlns:p14="http://schemas.microsoft.com/office/powerpoint/2010/main" val="3969951156"/>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en-US" altLang="en-US" sz="4000"/>
              <a:t>PM Phase 3: Project Execution</a:t>
            </a:r>
          </a:p>
        </p:txBody>
      </p:sp>
      <p:sp>
        <p:nvSpPr>
          <p:cNvPr id="24580" name="Rectangle 3" descr="Rectangle: Click to edit Master text styles&#10;Second level&#10;Third level&#10;Fourth level&#10;Fifth level"/>
          <p:cNvSpPr>
            <a:spLocks noGrp="1" noChangeArrowheads="1"/>
          </p:cNvSpPr>
          <p:nvPr>
            <p:ph type="body" idx="1"/>
          </p:nvPr>
        </p:nvSpPr>
        <p:spPr/>
        <p:txBody>
          <a:bodyPr/>
          <a:lstStyle/>
          <a:p>
            <a:pPr>
              <a:lnSpc>
                <a:spcPct val="90000"/>
              </a:lnSpc>
            </a:pPr>
            <a:r>
              <a:rPr lang="en-US" altLang="en-US"/>
              <a:t>Plans created in prior phases are put into action.</a:t>
            </a:r>
          </a:p>
          <a:p>
            <a:pPr>
              <a:lnSpc>
                <a:spcPct val="90000"/>
              </a:lnSpc>
            </a:pPr>
            <a:r>
              <a:rPr lang="en-US" altLang="en-US"/>
              <a:t>Actions</a:t>
            </a:r>
          </a:p>
          <a:p>
            <a:pPr lvl="1">
              <a:lnSpc>
                <a:spcPct val="90000"/>
              </a:lnSpc>
            </a:pPr>
            <a:r>
              <a:rPr lang="en-US" altLang="en-US"/>
              <a:t>Execute baseline project plan.</a:t>
            </a:r>
          </a:p>
          <a:p>
            <a:pPr lvl="1">
              <a:lnSpc>
                <a:spcPct val="90000"/>
              </a:lnSpc>
            </a:pPr>
            <a:r>
              <a:rPr lang="en-US" altLang="en-US"/>
              <a:t>Monitor progress against baseline plan.</a:t>
            </a:r>
          </a:p>
          <a:p>
            <a:pPr lvl="1">
              <a:lnSpc>
                <a:spcPct val="90000"/>
              </a:lnSpc>
            </a:pPr>
            <a:r>
              <a:rPr lang="en-US" altLang="en-US"/>
              <a:t>Manage changes in baseline plan.</a:t>
            </a:r>
          </a:p>
          <a:p>
            <a:pPr lvl="1">
              <a:lnSpc>
                <a:spcPct val="90000"/>
              </a:lnSpc>
            </a:pPr>
            <a:r>
              <a:rPr lang="en-US" altLang="en-US"/>
              <a:t>Maintain project workbook.</a:t>
            </a:r>
          </a:p>
          <a:p>
            <a:pPr lvl="1">
              <a:lnSpc>
                <a:spcPct val="90000"/>
              </a:lnSpc>
            </a:pPr>
            <a:r>
              <a:rPr lang="en-US" altLang="en-US"/>
              <a:t>Communicate project status.</a:t>
            </a:r>
          </a:p>
        </p:txBody>
      </p:sp>
    </p:spTree>
    <p:extLst>
      <p:ext uri="{BB962C8B-B14F-4D97-AF65-F5344CB8AC3E}">
        <p14:creationId xmlns:p14="http://schemas.microsoft.com/office/powerpoint/2010/main" val="3549951519"/>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609600" y="2209800"/>
            <a:ext cx="8002006" cy="4038600"/>
          </a:xfrm>
          <a:prstGeom prst="rect">
            <a:avLst/>
          </a:prstGeom>
        </p:spPr>
      </p:pic>
      <p:sp>
        <p:nvSpPr>
          <p:cNvPr id="25604" name="Rectangle 2"/>
          <p:cNvSpPr>
            <a:spLocks noGrp="1" noChangeArrowheads="1"/>
          </p:cNvSpPr>
          <p:nvPr>
            <p:ph type="title"/>
          </p:nvPr>
        </p:nvSpPr>
        <p:spPr>
          <a:xfrm>
            <a:off x="76200" y="457200"/>
            <a:ext cx="8991600" cy="838200"/>
          </a:xfrm>
        </p:spPr>
        <p:txBody>
          <a:bodyPr/>
          <a:lstStyle/>
          <a:p>
            <a:r>
              <a:rPr lang="en-US" altLang="en-US" sz="4000"/>
              <a:t>Monitoring Progress with a Gantt Chart</a:t>
            </a:r>
          </a:p>
        </p:txBody>
      </p:sp>
      <p:sp>
        <p:nvSpPr>
          <p:cNvPr id="25605" name="Text Box 7"/>
          <p:cNvSpPr txBox="1">
            <a:spLocks noChangeArrowheads="1"/>
          </p:cNvSpPr>
          <p:nvPr/>
        </p:nvSpPr>
        <p:spPr bwMode="auto">
          <a:xfrm>
            <a:off x="1219200" y="5038725"/>
            <a:ext cx="6705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en-US" altLang="en-US" sz="2000"/>
              <a:t>Red bars indicate critical path; lines through bars indicate percent complete.</a:t>
            </a:r>
          </a:p>
        </p:txBody>
      </p:sp>
      <p:sp>
        <p:nvSpPr>
          <p:cNvPr id="25608" name="Rectangle 8"/>
          <p:cNvSpPr>
            <a:spLocks noChangeArrowheads="1"/>
          </p:cNvSpPr>
          <p:nvPr/>
        </p:nvSpPr>
        <p:spPr bwMode="auto">
          <a:xfrm>
            <a:off x="523875" y="1209675"/>
            <a:ext cx="7924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3-16</a:t>
            </a:r>
          </a:p>
          <a:p>
            <a:pPr eaLnBrk="1" hangingPunct="1"/>
            <a:r>
              <a:rPr lang="en-US" altLang="en-US" dirty="0"/>
              <a:t>Gantt chart with tasks 3 and 7 completed and task 8 partially completed </a:t>
            </a:r>
            <a:r>
              <a:rPr lang="en-US" altLang="en-US" sz="1600" dirty="0"/>
              <a:t>(</a:t>
            </a:r>
            <a:r>
              <a:rPr lang="en-US" altLang="en-US" sz="1600" i="1" dirty="0"/>
              <a:t>Source: </a:t>
            </a:r>
            <a:r>
              <a:rPr lang="en-US" altLang="en-US" sz="1600" dirty="0"/>
              <a:t>Microsoft Corporation.)</a:t>
            </a:r>
          </a:p>
        </p:txBody>
      </p:sp>
    </p:spTree>
    <p:extLst>
      <p:ext uri="{BB962C8B-B14F-4D97-AF65-F5344CB8AC3E}">
        <p14:creationId xmlns:p14="http://schemas.microsoft.com/office/powerpoint/2010/main" val="1154730991"/>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altLang="en-US" dirty="0"/>
              <a:t>Communication Methods</a:t>
            </a:r>
          </a:p>
        </p:txBody>
      </p:sp>
      <p:pic>
        <p:nvPicPr>
          <p:cNvPr id="2" name="Picture 1"/>
          <p:cNvPicPr>
            <a:picLocks noChangeAspect="1"/>
          </p:cNvPicPr>
          <p:nvPr/>
        </p:nvPicPr>
        <p:blipFill>
          <a:blip r:embed="rId3" cstate="print"/>
          <a:stretch>
            <a:fillRect/>
          </a:stretch>
        </p:blipFill>
        <p:spPr>
          <a:xfrm>
            <a:off x="457200" y="1524000"/>
            <a:ext cx="8234409" cy="4871715"/>
          </a:xfrm>
          <a:prstGeom prst="rect">
            <a:avLst/>
          </a:prstGeom>
        </p:spPr>
      </p:pic>
    </p:spTree>
    <p:extLst>
      <p:ext uri="{BB962C8B-B14F-4D97-AF65-F5344CB8AC3E}">
        <p14:creationId xmlns:p14="http://schemas.microsoft.com/office/powerpoint/2010/main" val="1867198355"/>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n-US" altLang="en-US" sz="4000"/>
              <a:t>PM Phase 4: Project Closedown</a:t>
            </a:r>
          </a:p>
        </p:txBody>
      </p:sp>
      <p:sp>
        <p:nvSpPr>
          <p:cNvPr id="27652" name="Rectangle 3" descr="Rectangle: Click to edit Master text styles&#10;Second level&#10;Third level&#10;Fourth level&#10;Fifth level"/>
          <p:cNvSpPr>
            <a:spLocks noGrp="1" noChangeArrowheads="1"/>
          </p:cNvSpPr>
          <p:nvPr>
            <p:ph type="body" idx="1"/>
          </p:nvPr>
        </p:nvSpPr>
        <p:spPr/>
        <p:txBody>
          <a:bodyPr/>
          <a:lstStyle/>
          <a:p>
            <a:r>
              <a:rPr lang="en-US" altLang="en-US" dirty="0"/>
              <a:t>Bring the project to an end.</a:t>
            </a:r>
          </a:p>
          <a:p>
            <a:pPr lvl="1"/>
            <a:r>
              <a:rPr lang="en-US" altLang="en-US" sz="2600" dirty="0"/>
              <a:t>Natural Termination – Completed Successfully </a:t>
            </a:r>
          </a:p>
          <a:p>
            <a:pPr lvl="1"/>
            <a:r>
              <a:rPr lang="en-US" altLang="en-US" sz="2600" dirty="0"/>
              <a:t>Unnatural Termination – Due to time and money</a:t>
            </a:r>
          </a:p>
          <a:p>
            <a:r>
              <a:rPr lang="en-US" altLang="en-US" dirty="0"/>
              <a:t>Actions</a:t>
            </a:r>
          </a:p>
          <a:p>
            <a:pPr lvl="1"/>
            <a:r>
              <a:rPr lang="en-US" altLang="en-US" dirty="0"/>
              <a:t>Close down the project.</a:t>
            </a:r>
          </a:p>
          <a:p>
            <a:pPr lvl="1"/>
            <a:r>
              <a:rPr lang="en-US" altLang="en-US" dirty="0"/>
              <a:t>Conduct post-project reviews.</a:t>
            </a:r>
          </a:p>
          <a:p>
            <a:pPr lvl="1"/>
            <a:r>
              <a:rPr lang="en-US" altLang="en-US" dirty="0"/>
              <a:t>Close the customer contract.</a:t>
            </a:r>
          </a:p>
        </p:txBody>
      </p:sp>
    </p:spTree>
    <p:extLst>
      <p:ext uri="{BB962C8B-B14F-4D97-AF65-F5344CB8AC3E}">
        <p14:creationId xmlns:p14="http://schemas.microsoft.com/office/powerpoint/2010/main" val="1070504879"/>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altLang="en-US" sz="4000"/>
              <a:t>Representing and Scheduling Project Plans</a:t>
            </a:r>
          </a:p>
        </p:txBody>
      </p:sp>
      <p:sp>
        <p:nvSpPr>
          <p:cNvPr id="28676" name="Rectangle 3" descr="Rectangle: Click to edit Master text styles&#10;Second level&#10;Third level&#10;Fourth level&#10;Fifth level"/>
          <p:cNvSpPr>
            <a:spLocks noGrp="1" noChangeArrowheads="1"/>
          </p:cNvSpPr>
          <p:nvPr>
            <p:ph type="body" idx="1"/>
          </p:nvPr>
        </p:nvSpPr>
        <p:spPr/>
        <p:txBody>
          <a:bodyPr/>
          <a:lstStyle/>
          <a:p>
            <a:r>
              <a:rPr lang="en-US" altLang="en-US" sz="3600"/>
              <a:t>Gantt Charts</a:t>
            </a:r>
          </a:p>
          <a:p>
            <a:r>
              <a:rPr lang="en-US" altLang="en-US" sz="3600"/>
              <a:t>Network Diagrams</a:t>
            </a:r>
          </a:p>
          <a:p>
            <a:r>
              <a:rPr lang="en-US" altLang="en-US" sz="3600"/>
              <a:t>PERT Calculations</a:t>
            </a:r>
          </a:p>
          <a:p>
            <a:r>
              <a:rPr lang="en-US" altLang="en-US" sz="3600"/>
              <a:t>Critical Path Scheduling</a:t>
            </a:r>
          </a:p>
          <a:p>
            <a:r>
              <a:rPr lang="en-US" altLang="en-US" sz="3600"/>
              <a:t>Project Management Software</a:t>
            </a:r>
          </a:p>
        </p:txBody>
      </p:sp>
    </p:spTree>
    <p:extLst>
      <p:ext uri="{BB962C8B-B14F-4D97-AF65-F5344CB8AC3E}">
        <p14:creationId xmlns:p14="http://schemas.microsoft.com/office/powerpoint/2010/main" val="860557991"/>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US" altLang="en-US" sz="4000"/>
              <a:t>Gantt Charts vs. Network Diagrams</a:t>
            </a:r>
          </a:p>
        </p:txBody>
      </p:sp>
      <p:sp>
        <p:nvSpPr>
          <p:cNvPr id="29700" name="Rectangle 3" descr="Rectangle: Click to edit Master text styles&#10;Second level&#10;Third level&#10;Fourth level&#10;Fifth level"/>
          <p:cNvSpPr>
            <a:spLocks noGrp="1" noChangeArrowheads="1"/>
          </p:cNvSpPr>
          <p:nvPr>
            <p:ph type="body" idx="1"/>
          </p:nvPr>
        </p:nvSpPr>
        <p:spPr/>
        <p:txBody>
          <a:bodyPr/>
          <a:lstStyle/>
          <a:p>
            <a:r>
              <a:rPr lang="en-US" altLang="en-US" sz="2800" dirty="0"/>
              <a:t>Gantt charts</a:t>
            </a:r>
          </a:p>
          <a:p>
            <a:pPr lvl="1"/>
            <a:r>
              <a:rPr lang="en-US" altLang="en-US" sz="2400" dirty="0"/>
              <a:t>Show task durations.</a:t>
            </a:r>
          </a:p>
          <a:p>
            <a:pPr lvl="1"/>
            <a:r>
              <a:rPr lang="en-US" altLang="en-US" sz="2400" dirty="0"/>
              <a:t>Show time overlap.</a:t>
            </a:r>
          </a:p>
          <a:p>
            <a:pPr lvl="1"/>
            <a:r>
              <a:rPr lang="en-US" altLang="en-US" sz="2400" dirty="0"/>
              <a:t>Show slack time in duration.</a:t>
            </a:r>
          </a:p>
          <a:p>
            <a:r>
              <a:rPr lang="en-US" altLang="en-US" sz="2800" dirty="0"/>
              <a:t>Network diagrams</a:t>
            </a:r>
          </a:p>
          <a:p>
            <a:pPr lvl="1"/>
            <a:r>
              <a:rPr lang="en-US" altLang="en-US" sz="2400" dirty="0"/>
              <a:t>Show task dependencies.</a:t>
            </a:r>
          </a:p>
          <a:p>
            <a:pPr lvl="1"/>
            <a:r>
              <a:rPr lang="en-US" altLang="en-US" sz="2400" dirty="0"/>
              <a:t>Do not show time overlap, but show parallelism.</a:t>
            </a:r>
          </a:p>
          <a:p>
            <a:pPr lvl="1"/>
            <a:r>
              <a:rPr lang="en-US" altLang="en-US" sz="2400" dirty="0"/>
              <a:t>Show slack time in boxes.</a:t>
            </a:r>
          </a:p>
        </p:txBody>
      </p:sp>
    </p:spTree>
    <p:extLst>
      <p:ext uri="{BB962C8B-B14F-4D97-AF65-F5344CB8AC3E}">
        <p14:creationId xmlns:p14="http://schemas.microsoft.com/office/powerpoint/2010/main" val="4048948396"/>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z="4000"/>
              <a:t>Gantt Charts vs. Network Diagrams (Cont.)</a:t>
            </a:r>
          </a:p>
        </p:txBody>
      </p:sp>
      <p:sp>
        <p:nvSpPr>
          <p:cNvPr id="30728" name="Rectangle 2"/>
          <p:cNvSpPr>
            <a:spLocks noChangeArrowheads="1"/>
          </p:cNvSpPr>
          <p:nvPr/>
        </p:nvSpPr>
        <p:spPr bwMode="auto">
          <a:xfrm>
            <a:off x="429921" y="2170906"/>
            <a:ext cx="3380079"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3-18</a:t>
            </a:r>
          </a:p>
          <a:p>
            <a:pPr eaLnBrk="1" hangingPunct="1"/>
            <a:r>
              <a:rPr lang="en-US" altLang="en-US" dirty="0"/>
              <a:t>Graphical diagrams that depict project plans</a:t>
            </a:r>
          </a:p>
          <a:p>
            <a:pPr eaLnBrk="1" hangingPunct="1"/>
            <a:r>
              <a:rPr lang="en-US" altLang="en-US" dirty="0"/>
              <a:t>(a) A Gantt chart</a:t>
            </a:r>
          </a:p>
          <a:p>
            <a:pPr eaLnBrk="1" hangingPunct="1"/>
            <a:r>
              <a:rPr lang="en-US" altLang="en-US" dirty="0"/>
              <a:t>(b) A network diagram</a:t>
            </a:r>
          </a:p>
          <a:p>
            <a:pPr eaLnBrk="1" hangingPunct="1"/>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4114800" y="1371599"/>
            <a:ext cx="4267200" cy="2616059"/>
          </a:xfrm>
          <a:prstGeom prst="rect">
            <a:avLst/>
          </a:prstGeom>
        </p:spPr>
      </p:pic>
      <p:pic>
        <p:nvPicPr>
          <p:cNvPr id="3" name="Picture 2"/>
          <p:cNvPicPr>
            <a:picLocks noChangeAspect="1"/>
          </p:cNvPicPr>
          <p:nvPr/>
        </p:nvPicPr>
        <p:blipFill>
          <a:blip r:embed="rId4" cstate="print"/>
          <a:stretch>
            <a:fillRect/>
          </a:stretch>
        </p:blipFill>
        <p:spPr>
          <a:xfrm>
            <a:off x="4114800" y="3581400"/>
            <a:ext cx="4108408" cy="2514600"/>
          </a:xfrm>
          <a:prstGeom prst="rect">
            <a:avLst/>
          </a:prstGeom>
        </p:spPr>
      </p:pic>
    </p:spTree>
    <p:extLst>
      <p:ext uri="{BB962C8B-B14F-4D97-AF65-F5344CB8AC3E}">
        <p14:creationId xmlns:p14="http://schemas.microsoft.com/office/powerpoint/2010/main" val="64438545"/>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z="4000"/>
              <a:t>Gantt Charts vs. Network Diagrams (Cont.)</a:t>
            </a:r>
          </a:p>
        </p:txBody>
      </p:sp>
      <p:pic>
        <p:nvPicPr>
          <p:cNvPr id="317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2362200"/>
            <a:ext cx="57912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Rectangle 1"/>
          <p:cNvSpPr>
            <a:spLocks noChangeArrowheads="1"/>
          </p:cNvSpPr>
          <p:nvPr/>
        </p:nvSpPr>
        <p:spPr bwMode="auto">
          <a:xfrm>
            <a:off x="4572000" y="1628775"/>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3-20</a:t>
            </a:r>
          </a:p>
          <a:p>
            <a:pPr eaLnBrk="1" hangingPunct="1"/>
            <a:r>
              <a:rPr lang="en-US" altLang="en-US" dirty="0"/>
              <a:t>A network diagram showing activities</a:t>
            </a:r>
          </a:p>
          <a:p>
            <a:pPr eaLnBrk="1" hangingPunct="1"/>
            <a:r>
              <a:rPr lang="en-US" altLang="en-US" dirty="0"/>
              <a:t>(represented by circles) and sequence of</a:t>
            </a:r>
          </a:p>
          <a:p>
            <a:pPr eaLnBrk="1" hangingPunct="1"/>
            <a:r>
              <a:rPr lang="en-US" altLang="en-US" dirty="0"/>
              <a:t>those activities (represented by arrows)</a:t>
            </a:r>
          </a:p>
        </p:txBody>
      </p:sp>
    </p:spTree>
    <p:extLst>
      <p:ext uri="{BB962C8B-B14F-4D97-AF65-F5344CB8AC3E}">
        <p14:creationId xmlns:p14="http://schemas.microsoft.com/office/powerpoint/2010/main" val="1745296488"/>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altLang="en-US"/>
              <a:t>Estimating Task Duration</a:t>
            </a:r>
          </a:p>
        </p:txBody>
      </p:sp>
      <p:sp>
        <p:nvSpPr>
          <p:cNvPr id="32772" name="Rectangle 3" descr="Rectangle: Click to edit Master text styles&#10;Second level&#10;Third level&#10;Fourth level&#10;Fifth level"/>
          <p:cNvSpPr>
            <a:spLocks noGrp="1" noChangeArrowheads="1"/>
          </p:cNvSpPr>
          <p:nvPr>
            <p:ph type="body" idx="1"/>
          </p:nvPr>
        </p:nvSpPr>
        <p:spPr/>
        <p:txBody>
          <a:bodyPr/>
          <a:lstStyle/>
          <a:p>
            <a:pPr>
              <a:lnSpc>
                <a:spcPct val="90000"/>
              </a:lnSpc>
            </a:pPr>
            <a:r>
              <a:rPr lang="en-US" altLang="en-US"/>
              <a:t>PERT: Program Evaluation Review Technique</a:t>
            </a:r>
          </a:p>
          <a:p>
            <a:pPr>
              <a:lnSpc>
                <a:spcPct val="90000"/>
              </a:lnSpc>
            </a:pPr>
            <a:r>
              <a:rPr lang="en-US" altLang="en-US"/>
              <a:t>Technique that uses optimistic (</a:t>
            </a:r>
            <a:r>
              <a:rPr lang="en-US" altLang="en-US" i="1"/>
              <a:t>o</a:t>
            </a:r>
            <a:r>
              <a:rPr lang="en-US" altLang="en-US"/>
              <a:t>), pessimistic (</a:t>
            </a:r>
            <a:r>
              <a:rPr lang="en-US" altLang="en-US" i="1"/>
              <a:t>p</a:t>
            </a:r>
            <a:r>
              <a:rPr lang="en-US" altLang="en-US"/>
              <a:t>), and realistic (</a:t>
            </a:r>
            <a:r>
              <a:rPr lang="en-US" altLang="en-US" i="1"/>
              <a:t>r</a:t>
            </a:r>
            <a:r>
              <a:rPr lang="en-US" altLang="en-US"/>
              <a:t>) time estimates to determine expected task duration</a:t>
            </a:r>
          </a:p>
          <a:p>
            <a:pPr>
              <a:lnSpc>
                <a:spcPct val="90000"/>
              </a:lnSpc>
            </a:pPr>
            <a:r>
              <a:rPr lang="en-US" altLang="en-US"/>
              <a:t>Formula for Estimated Time:</a:t>
            </a:r>
          </a:p>
          <a:p>
            <a:pPr lvl="1">
              <a:lnSpc>
                <a:spcPct val="90000"/>
              </a:lnSpc>
            </a:pPr>
            <a:r>
              <a:rPr lang="en-US" altLang="en-US"/>
              <a:t>ET = (</a:t>
            </a:r>
            <a:r>
              <a:rPr lang="en-US" altLang="en-US" i="1"/>
              <a:t>o</a:t>
            </a:r>
            <a:r>
              <a:rPr lang="en-US" altLang="en-US"/>
              <a:t> + 4</a:t>
            </a:r>
            <a:r>
              <a:rPr lang="en-US" altLang="en-US" i="1"/>
              <a:t>r</a:t>
            </a:r>
            <a:r>
              <a:rPr lang="en-US" altLang="en-US"/>
              <a:t> + </a:t>
            </a:r>
            <a:r>
              <a:rPr lang="en-US" altLang="en-US" i="1"/>
              <a:t>p</a:t>
            </a:r>
            <a:r>
              <a:rPr lang="en-US" altLang="en-US"/>
              <a:t>)/6</a:t>
            </a:r>
          </a:p>
          <a:p>
            <a:pPr>
              <a:lnSpc>
                <a:spcPct val="90000"/>
              </a:lnSpc>
            </a:pPr>
            <a:endParaRPr lang="en-US" altLang="en-US"/>
          </a:p>
        </p:txBody>
      </p:sp>
    </p:spTree>
    <p:extLst>
      <p:ext uri="{BB962C8B-B14F-4D97-AF65-F5344CB8AC3E}">
        <p14:creationId xmlns:p14="http://schemas.microsoft.com/office/powerpoint/2010/main" val="2375034747"/>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en-US"/>
              <a:t>Example PERT Analysis</a:t>
            </a:r>
          </a:p>
        </p:txBody>
      </p:sp>
      <p:sp>
        <p:nvSpPr>
          <p:cNvPr id="33796" name="Rectangle 4"/>
          <p:cNvSpPr>
            <a:spLocks noChangeArrowheads="1"/>
          </p:cNvSpPr>
          <p:nvPr/>
        </p:nvSpPr>
        <p:spPr bwMode="auto">
          <a:xfrm>
            <a:off x="1447800" y="5678488"/>
            <a:ext cx="6248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3-21</a:t>
            </a:r>
          </a:p>
          <a:p>
            <a:pPr eaLnBrk="1" hangingPunct="1"/>
            <a:r>
              <a:rPr lang="en-US" altLang="en-US" dirty="0"/>
              <a:t>Estimated time calculations for the SPTS project</a:t>
            </a:r>
          </a:p>
        </p:txBody>
      </p:sp>
      <p:pic>
        <p:nvPicPr>
          <p:cNvPr id="2" name="Picture 1"/>
          <p:cNvPicPr>
            <a:picLocks noChangeAspect="1"/>
          </p:cNvPicPr>
          <p:nvPr/>
        </p:nvPicPr>
        <p:blipFill>
          <a:blip r:embed="rId3" cstate="print"/>
          <a:stretch>
            <a:fillRect/>
          </a:stretch>
        </p:blipFill>
        <p:spPr>
          <a:xfrm>
            <a:off x="180975" y="1600200"/>
            <a:ext cx="8753567" cy="4038600"/>
          </a:xfrm>
          <a:prstGeom prst="rect">
            <a:avLst/>
          </a:prstGeom>
        </p:spPr>
      </p:pic>
    </p:spTree>
    <p:extLst>
      <p:ext uri="{BB962C8B-B14F-4D97-AF65-F5344CB8AC3E}">
        <p14:creationId xmlns:p14="http://schemas.microsoft.com/office/powerpoint/2010/main" val="1699297213"/>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n-US" altLang="en-US"/>
              <a:t>Critical Path Scheduling</a:t>
            </a:r>
          </a:p>
        </p:txBody>
      </p:sp>
      <p:sp>
        <p:nvSpPr>
          <p:cNvPr id="34820" name="Rectangle 3" descr="Rectangle: Click to edit Master text styles&#10;Second level&#10;Third level&#10;Fourth level&#10;Fifth level"/>
          <p:cNvSpPr>
            <a:spLocks noGrp="1" noChangeArrowheads="1"/>
          </p:cNvSpPr>
          <p:nvPr>
            <p:ph type="body" idx="1"/>
          </p:nvPr>
        </p:nvSpPr>
        <p:spPr/>
        <p:txBody>
          <a:bodyPr/>
          <a:lstStyle/>
          <a:p>
            <a:r>
              <a:rPr lang="en-US" altLang="en-US" sz="2800"/>
              <a:t>A scheduling technique whose order and duration of a sequence of task activities directly affect the completion</a:t>
            </a:r>
          </a:p>
          <a:p>
            <a:r>
              <a:rPr lang="en-US" altLang="en-US" sz="2800" i="1"/>
              <a:t>Critical path:</a:t>
            </a:r>
            <a:r>
              <a:rPr lang="en-US" altLang="en-US" sz="2800"/>
              <a:t> the shortest time in which a project can be completed</a:t>
            </a:r>
          </a:p>
          <a:p>
            <a:r>
              <a:rPr lang="en-US" altLang="en-US" sz="2800" i="1"/>
              <a:t>Slack time:</a:t>
            </a:r>
            <a:r>
              <a:rPr lang="en-US" altLang="en-US" sz="2800"/>
              <a:t> the time an activity can be delayed without delaying the project</a:t>
            </a:r>
          </a:p>
        </p:txBody>
      </p:sp>
    </p:spTree>
    <p:extLst>
      <p:ext uri="{BB962C8B-B14F-4D97-AF65-F5344CB8AC3E}">
        <p14:creationId xmlns:p14="http://schemas.microsoft.com/office/powerpoint/2010/main" val="1152338883"/>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altLang="en-US" sz="4000"/>
              <a:t>Critical Path Example</a:t>
            </a:r>
            <a:br>
              <a:rPr lang="en-US" altLang="en-US" sz="4000"/>
            </a:br>
            <a:r>
              <a:rPr lang="en-US" altLang="en-US" sz="4000"/>
              <a:t>(dependencies between tasks)</a:t>
            </a:r>
          </a:p>
        </p:txBody>
      </p:sp>
      <p:sp>
        <p:nvSpPr>
          <p:cNvPr id="35844" name="Text Box 4"/>
          <p:cNvSpPr txBox="1">
            <a:spLocks noChangeArrowheads="1"/>
          </p:cNvSpPr>
          <p:nvPr/>
        </p:nvSpPr>
        <p:spPr bwMode="auto">
          <a:xfrm>
            <a:off x="5638800" y="2362200"/>
            <a:ext cx="315753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en-US" altLang="en-US" sz="2000" dirty="0"/>
              <a:t>PRECEDING ACTIVITIES indicate the activities that must be completed before the specified activity can begin.</a:t>
            </a:r>
          </a:p>
        </p:txBody>
      </p:sp>
      <p:sp>
        <p:nvSpPr>
          <p:cNvPr id="35846" name="Rectangle 5"/>
          <p:cNvSpPr>
            <a:spLocks noChangeArrowheads="1"/>
          </p:cNvSpPr>
          <p:nvPr/>
        </p:nvSpPr>
        <p:spPr bwMode="auto">
          <a:xfrm>
            <a:off x="762000" y="5486400"/>
            <a:ext cx="6705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3-22 </a:t>
            </a:r>
            <a:r>
              <a:rPr lang="en-US" altLang="en-US" dirty="0"/>
              <a:t>Sequence of Activities within the SPTS project</a:t>
            </a:r>
          </a:p>
        </p:txBody>
      </p:sp>
      <p:pic>
        <p:nvPicPr>
          <p:cNvPr id="2" name="Picture 1"/>
          <p:cNvPicPr>
            <a:picLocks noChangeAspect="1"/>
          </p:cNvPicPr>
          <p:nvPr/>
        </p:nvPicPr>
        <p:blipFill>
          <a:blip r:embed="rId3" cstate="print"/>
          <a:stretch>
            <a:fillRect/>
          </a:stretch>
        </p:blipFill>
        <p:spPr>
          <a:xfrm>
            <a:off x="304800" y="1905000"/>
            <a:ext cx="5334000" cy="3429000"/>
          </a:xfrm>
          <a:prstGeom prst="rect">
            <a:avLst/>
          </a:prstGeom>
        </p:spPr>
      </p:pic>
    </p:spTree>
    <p:extLst>
      <p:ext uri="{BB962C8B-B14F-4D97-AF65-F5344CB8AC3E}">
        <p14:creationId xmlns:p14="http://schemas.microsoft.com/office/powerpoint/2010/main" val="3313557567"/>
      </p:ext>
    </p:ext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8"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676400"/>
            <a:ext cx="59626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 Box 2"/>
          <p:cNvSpPr txBox="1">
            <a:spLocks noChangeArrowheads="1"/>
          </p:cNvSpPr>
          <p:nvPr/>
        </p:nvSpPr>
        <p:spPr bwMode="auto">
          <a:xfrm>
            <a:off x="533400" y="5105400"/>
            <a:ext cx="77724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t>FIGURE 3-24</a:t>
            </a:r>
          </a:p>
          <a:p>
            <a:pPr eaLnBrk="1" hangingPunct="1"/>
            <a:r>
              <a:rPr lang="en-US" altLang="en-US" sz="2000" dirty="0"/>
              <a:t>A network diagram that illustrates the activities (circles) and the sequence (arrows) of those activities</a:t>
            </a:r>
          </a:p>
        </p:txBody>
      </p:sp>
      <p:sp>
        <p:nvSpPr>
          <p:cNvPr id="37893" name="Rectangle 4"/>
          <p:cNvSpPr>
            <a:spLocks noGrp="1" noChangeArrowheads="1"/>
          </p:cNvSpPr>
          <p:nvPr>
            <p:ph type="title"/>
          </p:nvPr>
        </p:nvSpPr>
        <p:spPr/>
        <p:txBody>
          <a:bodyPr/>
          <a:lstStyle/>
          <a:p>
            <a:r>
              <a:rPr lang="en-US" altLang="en-US"/>
              <a:t>Critical Path Example (Cont.)</a:t>
            </a:r>
          </a:p>
        </p:txBody>
      </p:sp>
      <p:sp>
        <p:nvSpPr>
          <p:cNvPr id="37894" name="Text Box 5"/>
          <p:cNvSpPr txBox="1">
            <a:spLocks noChangeArrowheads="1"/>
          </p:cNvSpPr>
          <p:nvPr/>
        </p:nvSpPr>
        <p:spPr bwMode="auto">
          <a:xfrm>
            <a:off x="5851525" y="2667000"/>
            <a:ext cx="32924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latin typeface="Times New Roman" panose="02020603050405020304" pitchFamily="18" charset="0"/>
              </a:rPr>
              <a:t>Network diagram shows dependencies</a:t>
            </a:r>
          </a:p>
        </p:txBody>
      </p:sp>
    </p:spTree>
    <p:extLst>
      <p:ext uri="{BB962C8B-B14F-4D97-AF65-F5344CB8AC3E}">
        <p14:creationId xmlns:p14="http://schemas.microsoft.com/office/powerpoint/2010/main" val="3990272590"/>
      </p:ext>
    </p:extLst>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685800" y="228600"/>
            <a:ext cx="7772400" cy="1143000"/>
          </a:xfrm>
        </p:spPr>
        <p:txBody>
          <a:bodyPr/>
          <a:lstStyle/>
          <a:p>
            <a:r>
              <a:rPr lang="en-US" altLang="en-US"/>
              <a:t>Determining the Critical Path</a:t>
            </a:r>
          </a:p>
        </p:txBody>
      </p:sp>
      <p:sp>
        <p:nvSpPr>
          <p:cNvPr id="38916" name="Rectangle 3" descr="Rectangle: Click to edit Master text styles&#10;Second level&#10;Third level&#10;Fourth level&#10;Fifth level"/>
          <p:cNvSpPr>
            <a:spLocks noGrp="1" noChangeArrowheads="1"/>
          </p:cNvSpPr>
          <p:nvPr>
            <p:ph type="body" idx="1"/>
          </p:nvPr>
        </p:nvSpPr>
        <p:spPr>
          <a:xfrm>
            <a:off x="533400" y="1600200"/>
            <a:ext cx="8001000" cy="4572000"/>
          </a:xfrm>
        </p:spPr>
        <p:txBody>
          <a:bodyPr>
            <a:normAutofit fontScale="92500"/>
          </a:bodyPr>
          <a:lstStyle/>
          <a:p>
            <a:pPr>
              <a:spcBef>
                <a:spcPts val="1200"/>
              </a:spcBef>
              <a:defRPr/>
            </a:pPr>
            <a:r>
              <a:rPr lang="en-US" sz="2800" dirty="0"/>
              <a:t>Calculate the earliest possible completion time for each activity by summing the activity times in the longest path to the activity. This gives total expected project time.</a:t>
            </a:r>
          </a:p>
          <a:p>
            <a:pPr>
              <a:spcBef>
                <a:spcPts val="1200"/>
              </a:spcBef>
              <a:defRPr/>
            </a:pPr>
            <a:r>
              <a:rPr lang="en-US" sz="2800" dirty="0"/>
              <a:t>Calculate the latest possible completion time for each activity by subtracting the activity times in the path following the activity from the total expected time. This gives slack time for activities.</a:t>
            </a:r>
          </a:p>
          <a:p>
            <a:pPr>
              <a:spcBef>
                <a:spcPts val="1200"/>
              </a:spcBef>
              <a:defRPr/>
            </a:pPr>
            <a:r>
              <a:rPr lang="en-US" sz="2800" dirty="0"/>
              <a:t>Critical path contains no activities with slack time.</a:t>
            </a:r>
          </a:p>
          <a:p>
            <a:pPr>
              <a:lnSpc>
                <a:spcPct val="90000"/>
              </a:lnSpc>
              <a:buFont typeface="Wingdings" panose="05000000000000000000" pitchFamily="2" charset="2"/>
              <a:buNone/>
              <a:defRPr/>
            </a:pPr>
            <a:endParaRPr lang="en-US" sz="2400" dirty="0"/>
          </a:p>
        </p:txBody>
      </p:sp>
    </p:spTree>
    <p:extLst>
      <p:ext uri="{BB962C8B-B14F-4D97-AF65-F5344CB8AC3E}">
        <p14:creationId xmlns:p14="http://schemas.microsoft.com/office/powerpoint/2010/main" val="3245595140"/>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10"/>
          <p:cNvSpPr>
            <a:spLocks noGrp="1" noChangeArrowheads="1"/>
          </p:cNvSpPr>
          <p:nvPr>
            <p:ph type="title"/>
          </p:nvPr>
        </p:nvSpPr>
        <p:spPr>
          <a:xfrm>
            <a:off x="457200" y="457200"/>
            <a:ext cx="8229600" cy="1066800"/>
          </a:xfrm>
        </p:spPr>
        <p:txBody>
          <a:bodyPr/>
          <a:lstStyle/>
          <a:p>
            <a:r>
              <a:rPr lang="en-US" altLang="en-US"/>
              <a:t>Critical Path Calculation</a:t>
            </a:r>
          </a:p>
        </p:txBody>
      </p:sp>
      <p:sp>
        <p:nvSpPr>
          <p:cNvPr id="39940" name="Text Box 11"/>
          <p:cNvSpPr txBox="1">
            <a:spLocks noChangeArrowheads="1"/>
          </p:cNvSpPr>
          <p:nvPr/>
        </p:nvSpPr>
        <p:spPr bwMode="auto">
          <a:xfrm>
            <a:off x="914400" y="521335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Early and late time calculations are determined and critical path established. (Note: Activity #5 can begin late without affecting project completion time.) </a:t>
            </a:r>
          </a:p>
        </p:txBody>
      </p:sp>
      <p:pic>
        <p:nvPicPr>
          <p:cNvPr id="39943" name="Picture 7"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038" y="2209800"/>
            <a:ext cx="701992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Rectangle 8"/>
          <p:cNvSpPr>
            <a:spLocks noChangeArrowheads="1"/>
          </p:cNvSpPr>
          <p:nvPr/>
        </p:nvSpPr>
        <p:spPr bwMode="auto">
          <a:xfrm>
            <a:off x="685800" y="1371600"/>
            <a:ext cx="7924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3-25</a:t>
            </a:r>
          </a:p>
          <a:p>
            <a:pPr eaLnBrk="1" hangingPunct="1"/>
            <a:r>
              <a:rPr lang="en-US" altLang="en-US" dirty="0"/>
              <a:t>A network diagram for the SPTS project showing estimated times for each activity and the earliest and latest expected completion time for each activity</a:t>
            </a:r>
          </a:p>
        </p:txBody>
      </p:sp>
    </p:spTree>
    <p:extLst>
      <p:ext uri="{BB962C8B-B14F-4D97-AF65-F5344CB8AC3E}">
        <p14:creationId xmlns:p14="http://schemas.microsoft.com/office/powerpoint/2010/main" val="2491877733"/>
      </p:ext>
    </p:ext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title"/>
          </p:nvPr>
        </p:nvSpPr>
        <p:spPr>
          <a:xfrm>
            <a:off x="609600" y="304800"/>
            <a:ext cx="8077200" cy="1143000"/>
          </a:xfrm>
        </p:spPr>
        <p:txBody>
          <a:bodyPr/>
          <a:lstStyle/>
          <a:p>
            <a:r>
              <a:rPr lang="en-US" altLang="en-US"/>
              <a:t>Critical Path Calculation (cont.)</a:t>
            </a:r>
          </a:p>
        </p:txBody>
      </p:sp>
      <p:sp>
        <p:nvSpPr>
          <p:cNvPr id="40964" name="Text Box 6"/>
          <p:cNvSpPr txBox="1">
            <a:spLocks noChangeArrowheads="1"/>
          </p:cNvSpPr>
          <p:nvPr/>
        </p:nvSpPr>
        <p:spPr bwMode="auto">
          <a:xfrm>
            <a:off x="2286000" y="55626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Note the slack time in Activity #5.</a:t>
            </a:r>
          </a:p>
        </p:txBody>
      </p:sp>
      <p:sp>
        <p:nvSpPr>
          <p:cNvPr id="40968" name="Rectangle 8"/>
          <p:cNvSpPr>
            <a:spLocks noChangeArrowheads="1"/>
          </p:cNvSpPr>
          <p:nvPr/>
        </p:nvSpPr>
        <p:spPr bwMode="auto">
          <a:xfrm>
            <a:off x="609600" y="1524000"/>
            <a:ext cx="800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3-26</a:t>
            </a:r>
          </a:p>
          <a:p>
            <a:pPr eaLnBrk="1" hangingPunct="1"/>
            <a:r>
              <a:rPr lang="en-US" altLang="en-US" dirty="0"/>
              <a:t>Activity slack time calculations for the SPTS project; all activities except number 5 are on the critical path</a:t>
            </a:r>
          </a:p>
        </p:txBody>
      </p:sp>
      <p:pic>
        <p:nvPicPr>
          <p:cNvPr id="2" name="Picture 1"/>
          <p:cNvPicPr>
            <a:picLocks noChangeAspect="1"/>
          </p:cNvPicPr>
          <p:nvPr/>
        </p:nvPicPr>
        <p:blipFill>
          <a:blip r:embed="rId3" cstate="print"/>
          <a:stretch>
            <a:fillRect/>
          </a:stretch>
        </p:blipFill>
        <p:spPr>
          <a:xfrm>
            <a:off x="457200" y="2489354"/>
            <a:ext cx="8542480" cy="3031817"/>
          </a:xfrm>
          <a:prstGeom prst="rect">
            <a:avLst/>
          </a:prstGeom>
        </p:spPr>
      </p:pic>
    </p:spTree>
    <p:extLst>
      <p:ext uri="{BB962C8B-B14F-4D97-AF65-F5344CB8AC3E}">
        <p14:creationId xmlns:p14="http://schemas.microsoft.com/office/powerpoint/2010/main" val="667717656"/>
      </p:ext>
    </p:extLst>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title"/>
          </p:nvPr>
        </p:nvSpPr>
        <p:spPr>
          <a:xfrm>
            <a:off x="609600" y="304800"/>
            <a:ext cx="8077200" cy="1143000"/>
          </a:xfrm>
        </p:spPr>
        <p:txBody>
          <a:bodyPr/>
          <a:lstStyle/>
          <a:p>
            <a:r>
              <a:rPr lang="en-US" altLang="en-US"/>
              <a:t>Critical Path Calculation (cont.)</a:t>
            </a:r>
          </a:p>
        </p:txBody>
      </p:sp>
      <p:sp>
        <p:nvSpPr>
          <p:cNvPr id="8" name="Rectangle 7">
            <a:extLst>
              <a:ext uri="{FF2B5EF4-FFF2-40B4-BE49-F238E27FC236}">
                <a16:creationId xmlns:a16="http://schemas.microsoft.com/office/drawing/2014/main" id="{E8C161D7-E099-4577-9D9D-87573814DD07}"/>
              </a:ext>
            </a:extLst>
          </p:cNvPr>
          <p:cNvSpPr/>
          <p:nvPr/>
        </p:nvSpPr>
        <p:spPr>
          <a:xfrm>
            <a:off x="1905452" y="26670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D</a:t>
            </a:r>
          </a:p>
        </p:txBody>
      </p:sp>
      <p:sp>
        <p:nvSpPr>
          <p:cNvPr id="9" name="Rectangle 8">
            <a:extLst>
              <a:ext uri="{FF2B5EF4-FFF2-40B4-BE49-F238E27FC236}">
                <a16:creationId xmlns:a16="http://schemas.microsoft.com/office/drawing/2014/main" id="{FD363358-3093-4088-84C5-0B1754F160C9}"/>
              </a:ext>
            </a:extLst>
          </p:cNvPr>
          <p:cNvSpPr/>
          <p:nvPr/>
        </p:nvSpPr>
        <p:spPr>
          <a:xfrm>
            <a:off x="1905452" y="43434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A</a:t>
            </a:r>
          </a:p>
        </p:txBody>
      </p:sp>
      <p:sp>
        <p:nvSpPr>
          <p:cNvPr id="10" name="Rectangle 9">
            <a:extLst>
              <a:ext uri="{FF2B5EF4-FFF2-40B4-BE49-F238E27FC236}">
                <a16:creationId xmlns:a16="http://schemas.microsoft.com/office/drawing/2014/main" id="{A9CB5ACB-54F0-4638-8294-9F592C7EB454}"/>
              </a:ext>
            </a:extLst>
          </p:cNvPr>
          <p:cNvSpPr/>
          <p:nvPr/>
        </p:nvSpPr>
        <p:spPr>
          <a:xfrm>
            <a:off x="3429452" y="23622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E</a:t>
            </a:r>
          </a:p>
        </p:txBody>
      </p:sp>
      <p:sp>
        <p:nvSpPr>
          <p:cNvPr id="11" name="Rectangle 10">
            <a:extLst>
              <a:ext uri="{FF2B5EF4-FFF2-40B4-BE49-F238E27FC236}">
                <a16:creationId xmlns:a16="http://schemas.microsoft.com/office/drawing/2014/main" id="{C5AB9499-D651-4421-ADC7-C06F751D06CF}"/>
              </a:ext>
            </a:extLst>
          </p:cNvPr>
          <p:cNvSpPr/>
          <p:nvPr/>
        </p:nvSpPr>
        <p:spPr>
          <a:xfrm>
            <a:off x="3429452" y="40386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F</a:t>
            </a:r>
          </a:p>
        </p:txBody>
      </p:sp>
      <p:sp>
        <p:nvSpPr>
          <p:cNvPr id="12" name="Rectangle 11">
            <a:extLst>
              <a:ext uri="{FF2B5EF4-FFF2-40B4-BE49-F238E27FC236}">
                <a16:creationId xmlns:a16="http://schemas.microsoft.com/office/drawing/2014/main" id="{24B9DC16-DBC2-4F06-BD96-174D224480B2}"/>
              </a:ext>
            </a:extLst>
          </p:cNvPr>
          <p:cNvSpPr/>
          <p:nvPr/>
        </p:nvSpPr>
        <p:spPr>
          <a:xfrm>
            <a:off x="7315652" y="23622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C</a:t>
            </a:r>
          </a:p>
        </p:txBody>
      </p:sp>
      <p:sp>
        <p:nvSpPr>
          <p:cNvPr id="13" name="Rectangle 12">
            <a:extLst>
              <a:ext uri="{FF2B5EF4-FFF2-40B4-BE49-F238E27FC236}">
                <a16:creationId xmlns:a16="http://schemas.microsoft.com/office/drawing/2014/main" id="{18409881-17FD-420C-BC9D-E4063888DE89}"/>
              </a:ext>
            </a:extLst>
          </p:cNvPr>
          <p:cNvSpPr/>
          <p:nvPr/>
        </p:nvSpPr>
        <p:spPr>
          <a:xfrm>
            <a:off x="6020252" y="23622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H</a:t>
            </a:r>
          </a:p>
        </p:txBody>
      </p:sp>
      <p:sp>
        <p:nvSpPr>
          <p:cNvPr id="14" name="Rectangle 13">
            <a:extLst>
              <a:ext uri="{FF2B5EF4-FFF2-40B4-BE49-F238E27FC236}">
                <a16:creationId xmlns:a16="http://schemas.microsoft.com/office/drawing/2014/main" id="{A2EAC78B-B7CC-48D7-9341-3F4C0FF02F2E}"/>
              </a:ext>
            </a:extLst>
          </p:cNvPr>
          <p:cNvSpPr/>
          <p:nvPr/>
        </p:nvSpPr>
        <p:spPr>
          <a:xfrm>
            <a:off x="4724852" y="23622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G</a:t>
            </a:r>
          </a:p>
        </p:txBody>
      </p:sp>
      <p:sp>
        <p:nvSpPr>
          <p:cNvPr id="15" name="Rectangle 14">
            <a:extLst>
              <a:ext uri="{FF2B5EF4-FFF2-40B4-BE49-F238E27FC236}">
                <a16:creationId xmlns:a16="http://schemas.microsoft.com/office/drawing/2014/main" id="{176EB98D-3168-4FDA-86DD-B06E4AC9698C}"/>
              </a:ext>
            </a:extLst>
          </p:cNvPr>
          <p:cNvSpPr/>
          <p:nvPr/>
        </p:nvSpPr>
        <p:spPr>
          <a:xfrm>
            <a:off x="4801052" y="40386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B</a:t>
            </a:r>
          </a:p>
        </p:txBody>
      </p:sp>
      <p:sp>
        <p:nvSpPr>
          <p:cNvPr id="16" name="Rectangle 42">
            <a:extLst>
              <a:ext uri="{FF2B5EF4-FFF2-40B4-BE49-F238E27FC236}">
                <a16:creationId xmlns:a16="http://schemas.microsoft.com/office/drawing/2014/main" id="{43E82FF1-0E9B-4615-B2D1-B5C7814D3AC5}"/>
              </a:ext>
            </a:extLst>
          </p:cNvPr>
          <p:cNvSpPr>
            <a:spLocks noChangeArrowheads="1"/>
          </p:cNvSpPr>
          <p:nvPr/>
        </p:nvSpPr>
        <p:spPr bwMode="auto">
          <a:xfrm>
            <a:off x="2105353" y="3897313"/>
            <a:ext cx="431600" cy="338554"/>
          </a:xfrm>
          <a:prstGeom prst="rect">
            <a:avLst/>
          </a:prstGeom>
          <a:noFill/>
          <a:ln w="9525">
            <a:noFill/>
            <a:miter lim="800000"/>
            <a:headEnd/>
            <a:tailEnd/>
          </a:ln>
        </p:spPr>
        <p:txBody>
          <a:bodyPr wrap="square">
            <a:spAutoFit/>
          </a:bodyPr>
          <a:lstStyle/>
          <a:p>
            <a:r>
              <a:rPr lang="en-US" sz="1600" b="1" dirty="0">
                <a:latin typeface="Calibri" pitchFamily="34" charset="0"/>
              </a:rPr>
              <a:t>3</a:t>
            </a:r>
          </a:p>
        </p:txBody>
      </p:sp>
      <p:sp>
        <p:nvSpPr>
          <p:cNvPr id="17" name="Rectangle 43">
            <a:extLst>
              <a:ext uri="{FF2B5EF4-FFF2-40B4-BE49-F238E27FC236}">
                <a16:creationId xmlns:a16="http://schemas.microsoft.com/office/drawing/2014/main" id="{D6400120-3FE5-498C-9CF8-C1B80C9EFAA6}"/>
              </a:ext>
            </a:extLst>
          </p:cNvPr>
          <p:cNvSpPr>
            <a:spLocks noChangeArrowheads="1"/>
          </p:cNvSpPr>
          <p:nvPr/>
        </p:nvSpPr>
        <p:spPr bwMode="auto">
          <a:xfrm>
            <a:off x="5077152" y="3581400"/>
            <a:ext cx="312934" cy="338554"/>
          </a:xfrm>
          <a:prstGeom prst="rect">
            <a:avLst/>
          </a:prstGeom>
          <a:noFill/>
          <a:ln w="9525">
            <a:noFill/>
            <a:miter lim="800000"/>
            <a:headEnd/>
            <a:tailEnd/>
          </a:ln>
        </p:spPr>
        <p:txBody>
          <a:bodyPr wrap="square">
            <a:spAutoFit/>
          </a:bodyPr>
          <a:lstStyle/>
          <a:p>
            <a:r>
              <a:rPr lang="en-US" sz="1600" b="1">
                <a:latin typeface="Calibri" pitchFamily="34" charset="0"/>
              </a:rPr>
              <a:t>4</a:t>
            </a:r>
          </a:p>
        </p:txBody>
      </p:sp>
      <p:sp>
        <p:nvSpPr>
          <p:cNvPr id="18" name="Rectangle 44">
            <a:extLst>
              <a:ext uri="{FF2B5EF4-FFF2-40B4-BE49-F238E27FC236}">
                <a16:creationId xmlns:a16="http://schemas.microsoft.com/office/drawing/2014/main" id="{1509D308-DC5B-4A02-B530-34091AAC85DB}"/>
              </a:ext>
            </a:extLst>
          </p:cNvPr>
          <p:cNvSpPr>
            <a:spLocks noChangeArrowheads="1"/>
          </p:cNvSpPr>
          <p:nvPr/>
        </p:nvSpPr>
        <p:spPr bwMode="auto">
          <a:xfrm>
            <a:off x="3781752" y="3657600"/>
            <a:ext cx="312934" cy="338554"/>
          </a:xfrm>
          <a:prstGeom prst="rect">
            <a:avLst/>
          </a:prstGeom>
          <a:noFill/>
          <a:ln w="9525">
            <a:noFill/>
            <a:miter lim="800000"/>
            <a:headEnd/>
            <a:tailEnd/>
          </a:ln>
        </p:spPr>
        <p:txBody>
          <a:bodyPr wrap="square">
            <a:spAutoFit/>
          </a:bodyPr>
          <a:lstStyle/>
          <a:p>
            <a:r>
              <a:rPr lang="en-US" sz="1600" b="1">
                <a:latin typeface="Calibri" pitchFamily="34" charset="0"/>
              </a:rPr>
              <a:t>8</a:t>
            </a:r>
          </a:p>
        </p:txBody>
      </p:sp>
      <p:sp>
        <p:nvSpPr>
          <p:cNvPr id="19" name="Rectangle 45">
            <a:extLst>
              <a:ext uri="{FF2B5EF4-FFF2-40B4-BE49-F238E27FC236}">
                <a16:creationId xmlns:a16="http://schemas.microsoft.com/office/drawing/2014/main" id="{8285C583-497A-4131-AD85-3F6BA3D1466C}"/>
              </a:ext>
            </a:extLst>
          </p:cNvPr>
          <p:cNvSpPr>
            <a:spLocks noChangeArrowheads="1"/>
          </p:cNvSpPr>
          <p:nvPr/>
        </p:nvSpPr>
        <p:spPr bwMode="auto">
          <a:xfrm>
            <a:off x="3705552" y="1905000"/>
            <a:ext cx="312934" cy="338554"/>
          </a:xfrm>
          <a:prstGeom prst="rect">
            <a:avLst/>
          </a:prstGeom>
          <a:noFill/>
          <a:ln w="9525">
            <a:noFill/>
            <a:miter lim="800000"/>
            <a:headEnd/>
            <a:tailEnd/>
          </a:ln>
        </p:spPr>
        <p:txBody>
          <a:bodyPr wrap="square">
            <a:spAutoFit/>
          </a:bodyPr>
          <a:lstStyle/>
          <a:p>
            <a:r>
              <a:rPr lang="en-US" sz="1600" b="1" dirty="0">
                <a:latin typeface="Calibri" pitchFamily="34" charset="0"/>
              </a:rPr>
              <a:t>9</a:t>
            </a:r>
          </a:p>
        </p:txBody>
      </p:sp>
      <p:sp>
        <p:nvSpPr>
          <p:cNvPr id="20" name="Rectangle 46">
            <a:extLst>
              <a:ext uri="{FF2B5EF4-FFF2-40B4-BE49-F238E27FC236}">
                <a16:creationId xmlns:a16="http://schemas.microsoft.com/office/drawing/2014/main" id="{E2E04B52-3171-47F9-8DFF-732279E75106}"/>
              </a:ext>
            </a:extLst>
          </p:cNvPr>
          <p:cNvSpPr>
            <a:spLocks noChangeArrowheads="1"/>
          </p:cNvSpPr>
          <p:nvPr/>
        </p:nvSpPr>
        <p:spPr bwMode="auto">
          <a:xfrm>
            <a:off x="5077152" y="1905000"/>
            <a:ext cx="312934" cy="338554"/>
          </a:xfrm>
          <a:prstGeom prst="rect">
            <a:avLst/>
          </a:prstGeom>
          <a:noFill/>
          <a:ln w="9525">
            <a:noFill/>
            <a:miter lim="800000"/>
            <a:headEnd/>
            <a:tailEnd/>
          </a:ln>
        </p:spPr>
        <p:txBody>
          <a:bodyPr wrap="square">
            <a:spAutoFit/>
          </a:bodyPr>
          <a:lstStyle/>
          <a:p>
            <a:r>
              <a:rPr lang="en-US" sz="1600" b="1">
                <a:latin typeface="Calibri" pitchFamily="34" charset="0"/>
              </a:rPr>
              <a:t>4</a:t>
            </a:r>
          </a:p>
        </p:txBody>
      </p:sp>
      <p:sp>
        <p:nvSpPr>
          <p:cNvPr id="21" name="Rectangle 47">
            <a:extLst>
              <a:ext uri="{FF2B5EF4-FFF2-40B4-BE49-F238E27FC236}">
                <a16:creationId xmlns:a16="http://schemas.microsoft.com/office/drawing/2014/main" id="{86651C58-5594-4461-AF14-15D056BD9587}"/>
              </a:ext>
            </a:extLst>
          </p:cNvPr>
          <p:cNvSpPr>
            <a:spLocks noChangeArrowheads="1"/>
          </p:cNvSpPr>
          <p:nvPr/>
        </p:nvSpPr>
        <p:spPr bwMode="auto">
          <a:xfrm>
            <a:off x="6372552" y="1905000"/>
            <a:ext cx="312934" cy="338554"/>
          </a:xfrm>
          <a:prstGeom prst="rect">
            <a:avLst/>
          </a:prstGeom>
          <a:noFill/>
          <a:ln w="9525">
            <a:noFill/>
            <a:miter lim="800000"/>
            <a:headEnd/>
            <a:tailEnd/>
          </a:ln>
        </p:spPr>
        <p:txBody>
          <a:bodyPr wrap="square">
            <a:spAutoFit/>
          </a:bodyPr>
          <a:lstStyle/>
          <a:p>
            <a:r>
              <a:rPr lang="en-US" sz="1600" b="1">
                <a:latin typeface="Calibri" pitchFamily="34" charset="0"/>
              </a:rPr>
              <a:t>2</a:t>
            </a:r>
          </a:p>
        </p:txBody>
      </p:sp>
      <p:sp>
        <p:nvSpPr>
          <p:cNvPr id="22" name="Rectangle 48">
            <a:extLst>
              <a:ext uri="{FF2B5EF4-FFF2-40B4-BE49-F238E27FC236}">
                <a16:creationId xmlns:a16="http://schemas.microsoft.com/office/drawing/2014/main" id="{D443649F-5599-426A-8F25-D10555DF146C}"/>
              </a:ext>
            </a:extLst>
          </p:cNvPr>
          <p:cNvSpPr>
            <a:spLocks noChangeArrowheads="1"/>
          </p:cNvSpPr>
          <p:nvPr/>
        </p:nvSpPr>
        <p:spPr bwMode="auto">
          <a:xfrm>
            <a:off x="7667952" y="1905000"/>
            <a:ext cx="312934" cy="338554"/>
          </a:xfrm>
          <a:prstGeom prst="rect">
            <a:avLst/>
          </a:prstGeom>
          <a:noFill/>
          <a:ln w="9525">
            <a:noFill/>
            <a:miter lim="800000"/>
            <a:headEnd/>
            <a:tailEnd/>
          </a:ln>
        </p:spPr>
        <p:txBody>
          <a:bodyPr wrap="square">
            <a:spAutoFit/>
          </a:bodyPr>
          <a:lstStyle/>
          <a:p>
            <a:r>
              <a:rPr lang="en-US" sz="1600" b="1">
                <a:latin typeface="Calibri" pitchFamily="34" charset="0"/>
              </a:rPr>
              <a:t>7</a:t>
            </a:r>
          </a:p>
        </p:txBody>
      </p:sp>
      <p:sp>
        <p:nvSpPr>
          <p:cNvPr id="23" name="TextBox 101">
            <a:extLst>
              <a:ext uri="{FF2B5EF4-FFF2-40B4-BE49-F238E27FC236}">
                <a16:creationId xmlns:a16="http://schemas.microsoft.com/office/drawing/2014/main" id="{B8F0AEE8-E37A-4D98-B654-F9FAC5F57113}"/>
              </a:ext>
            </a:extLst>
          </p:cNvPr>
          <p:cNvSpPr txBox="1">
            <a:spLocks noChangeArrowheads="1"/>
          </p:cNvSpPr>
          <p:nvPr/>
        </p:nvSpPr>
        <p:spPr bwMode="auto">
          <a:xfrm>
            <a:off x="2214891" y="2192923"/>
            <a:ext cx="312934" cy="338554"/>
          </a:xfrm>
          <a:prstGeom prst="rect">
            <a:avLst/>
          </a:prstGeom>
          <a:noFill/>
          <a:ln w="9525">
            <a:noFill/>
            <a:miter lim="800000"/>
            <a:headEnd/>
            <a:tailEnd/>
          </a:ln>
        </p:spPr>
        <p:txBody>
          <a:bodyPr wrap="square">
            <a:spAutoFit/>
          </a:bodyPr>
          <a:lstStyle/>
          <a:p>
            <a:r>
              <a:rPr lang="en-US" sz="1600" b="1" dirty="0">
                <a:latin typeface="Calibri" pitchFamily="34" charset="0"/>
              </a:rPr>
              <a:t>4</a:t>
            </a:r>
          </a:p>
        </p:txBody>
      </p:sp>
      <p:sp>
        <p:nvSpPr>
          <p:cNvPr id="24" name="Rectangle 23">
            <a:extLst>
              <a:ext uri="{FF2B5EF4-FFF2-40B4-BE49-F238E27FC236}">
                <a16:creationId xmlns:a16="http://schemas.microsoft.com/office/drawing/2014/main" id="{D95E6C19-4A89-4A43-BC37-1B8821C50112}"/>
              </a:ext>
            </a:extLst>
          </p:cNvPr>
          <p:cNvSpPr/>
          <p:nvPr/>
        </p:nvSpPr>
        <p:spPr>
          <a:xfrm>
            <a:off x="8001452" y="3843873"/>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End</a:t>
            </a:r>
          </a:p>
        </p:txBody>
      </p:sp>
      <p:sp>
        <p:nvSpPr>
          <p:cNvPr id="25" name="Rectangle 24">
            <a:extLst>
              <a:ext uri="{FF2B5EF4-FFF2-40B4-BE49-F238E27FC236}">
                <a16:creationId xmlns:a16="http://schemas.microsoft.com/office/drawing/2014/main" id="{207A85DC-61DB-4E56-8A4E-DB25C5D16F85}"/>
              </a:ext>
            </a:extLst>
          </p:cNvPr>
          <p:cNvSpPr/>
          <p:nvPr/>
        </p:nvSpPr>
        <p:spPr>
          <a:xfrm>
            <a:off x="76200" y="3440113"/>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Start</a:t>
            </a:r>
          </a:p>
        </p:txBody>
      </p:sp>
      <p:cxnSp>
        <p:nvCxnSpPr>
          <p:cNvPr id="26" name="Straight Arrow Connector 25">
            <a:extLst>
              <a:ext uri="{FF2B5EF4-FFF2-40B4-BE49-F238E27FC236}">
                <a16:creationId xmlns:a16="http://schemas.microsoft.com/office/drawing/2014/main" id="{2D3B8D52-7530-49E3-B709-9F28DF6566CE}"/>
              </a:ext>
            </a:extLst>
          </p:cNvPr>
          <p:cNvCxnSpPr>
            <a:cxnSpLocks/>
          </p:cNvCxnSpPr>
          <p:nvPr/>
        </p:nvCxnSpPr>
        <p:spPr>
          <a:xfrm flipV="1">
            <a:off x="990600" y="3081649"/>
            <a:ext cx="914852" cy="4997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9D47D44-79FA-435A-9553-A10E61893E0E}"/>
              </a:ext>
            </a:extLst>
          </p:cNvPr>
          <p:cNvCxnSpPr>
            <a:stCxn id="8" idx="3"/>
            <a:endCxn id="10" idx="1"/>
          </p:cNvCxnSpPr>
          <p:nvPr/>
        </p:nvCxnSpPr>
        <p:spPr>
          <a:xfrm flipV="1">
            <a:off x="2896052" y="2819400"/>
            <a:ext cx="5334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9C9344C-4041-4F02-A4DD-174FE3CD176A}"/>
              </a:ext>
            </a:extLst>
          </p:cNvPr>
          <p:cNvCxnSpPr>
            <a:stCxn id="10" idx="3"/>
            <a:endCxn id="14" idx="1"/>
          </p:cNvCxnSpPr>
          <p:nvPr/>
        </p:nvCxnSpPr>
        <p:spPr>
          <a:xfrm>
            <a:off x="4420052" y="2819400"/>
            <a:ext cx="304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792A600-2B9C-45A6-B10F-45181C406FD7}"/>
              </a:ext>
            </a:extLst>
          </p:cNvPr>
          <p:cNvCxnSpPr>
            <a:stCxn id="14" idx="3"/>
            <a:endCxn id="13" idx="1"/>
          </p:cNvCxnSpPr>
          <p:nvPr/>
        </p:nvCxnSpPr>
        <p:spPr>
          <a:xfrm>
            <a:off x="5715452" y="2819400"/>
            <a:ext cx="304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ADCC811-D97C-476F-B9A1-3E5AA000FD96}"/>
              </a:ext>
            </a:extLst>
          </p:cNvPr>
          <p:cNvCxnSpPr>
            <a:stCxn id="13" idx="3"/>
            <a:endCxn id="12" idx="1"/>
          </p:cNvCxnSpPr>
          <p:nvPr/>
        </p:nvCxnSpPr>
        <p:spPr>
          <a:xfrm>
            <a:off x="7010852" y="2819400"/>
            <a:ext cx="304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F27C09B-8139-40FE-85E3-15BCEF217A74}"/>
              </a:ext>
            </a:extLst>
          </p:cNvPr>
          <p:cNvCxnSpPr>
            <a:endCxn id="9" idx="1"/>
          </p:cNvCxnSpPr>
          <p:nvPr/>
        </p:nvCxnSpPr>
        <p:spPr>
          <a:xfrm>
            <a:off x="990600" y="4038600"/>
            <a:ext cx="914852"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5CF66959-8CF4-40FE-AE72-B90E24848FB6}"/>
              </a:ext>
            </a:extLst>
          </p:cNvPr>
          <p:cNvCxnSpPr>
            <a:cxnSpLocks/>
          </p:cNvCxnSpPr>
          <p:nvPr/>
        </p:nvCxnSpPr>
        <p:spPr>
          <a:xfrm>
            <a:off x="2819852" y="3440114"/>
            <a:ext cx="609600" cy="8270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B092DEF-FA2A-4935-9A12-6E5DD92386B5}"/>
              </a:ext>
            </a:extLst>
          </p:cNvPr>
          <p:cNvCxnSpPr>
            <a:stCxn id="9" idx="3"/>
            <a:endCxn id="11" idx="1"/>
          </p:cNvCxnSpPr>
          <p:nvPr/>
        </p:nvCxnSpPr>
        <p:spPr>
          <a:xfrm flipV="1">
            <a:off x="2896052" y="4495800"/>
            <a:ext cx="5334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A7E201EB-8964-4B47-82B8-822E336C633F}"/>
              </a:ext>
            </a:extLst>
          </p:cNvPr>
          <p:cNvCxnSpPr>
            <a:cxnSpLocks/>
          </p:cNvCxnSpPr>
          <p:nvPr/>
        </p:nvCxnSpPr>
        <p:spPr>
          <a:xfrm flipV="1">
            <a:off x="4343852" y="3276600"/>
            <a:ext cx="381000"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14952BE-582E-41EE-9B7C-DF434D5CA6A4}"/>
              </a:ext>
            </a:extLst>
          </p:cNvPr>
          <p:cNvCxnSpPr>
            <a:stCxn id="11" idx="3"/>
            <a:endCxn id="15" idx="1"/>
          </p:cNvCxnSpPr>
          <p:nvPr/>
        </p:nvCxnSpPr>
        <p:spPr>
          <a:xfrm>
            <a:off x="4420052" y="4495800"/>
            <a:ext cx="381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04245CC5-FC53-4DB4-AFE8-0CD6736A8BB9}"/>
              </a:ext>
            </a:extLst>
          </p:cNvPr>
          <p:cNvCxnSpPr>
            <a:stCxn id="15" idx="3"/>
          </p:cNvCxnSpPr>
          <p:nvPr/>
        </p:nvCxnSpPr>
        <p:spPr>
          <a:xfrm>
            <a:off x="5791652" y="4495800"/>
            <a:ext cx="22098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3F6141D-A418-4F5E-9413-C1A0A26B98D8}"/>
              </a:ext>
            </a:extLst>
          </p:cNvPr>
          <p:cNvCxnSpPr>
            <a:endCxn id="24" idx="0"/>
          </p:cNvCxnSpPr>
          <p:nvPr/>
        </p:nvCxnSpPr>
        <p:spPr>
          <a:xfrm>
            <a:off x="8001452" y="3276601"/>
            <a:ext cx="495300" cy="5672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AA6574D8-EB86-420D-B045-5D16F029BFAF}"/>
              </a:ext>
            </a:extLst>
          </p:cNvPr>
          <p:cNvSpPr/>
          <p:nvPr/>
        </p:nvSpPr>
        <p:spPr>
          <a:xfrm>
            <a:off x="152852" y="5658593"/>
            <a:ext cx="4540250" cy="646331"/>
          </a:xfrm>
          <a:prstGeom prst="rect">
            <a:avLst/>
          </a:prstGeom>
        </p:spPr>
        <p:txBody>
          <a:bodyPr wrap="square">
            <a:spAutoFit/>
          </a:bodyPr>
          <a:lstStyle/>
          <a:p>
            <a:r>
              <a:rPr lang="en-US" b="1" dirty="0">
                <a:latin typeface="Calibri" pitchFamily="34" charset="0"/>
              </a:rPr>
              <a:t>EF = ES + duration – 1 </a:t>
            </a:r>
            <a:r>
              <a:rPr lang="en-US" dirty="0">
                <a:latin typeface="Calibri" pitchFamily="34" charset="0"/>
              </a:rPr>
              <a:t>(For forward pass)</a:t>
            </a:r>
            <a:endParaRPr lang="en-US" b="1" dirty="0">
              <a:latin typeface="Calibri" pitchFamily="34" charset="0"/>
            </a:endParaRPr>
          </a:p>
          <a:p>
            <a:r>
              <a:rPr lang="en-US" b="1" dirty="0">
                <a:latin typeface="Calibri" pitchFamily="34" charset="0"/>
              </a:rPr>
              <a:t>LS = LF – duration + 1 </a:t>
            </a:r>
            <a:r>
              <a:rPr lang="en-US" dirty="0">
                <a:latin typeface="Calibri" pitchFamily="34" charset="0"/>
              </a:rPr>
              <a:t>(For backward pass)</a:t>
            </a:r>
            <a:endParaRPr lang="en-US" b="1" dirty="0">
              <a:latin typeface="Calibri" pitchFamily="34" charset="0"/>
            </a:endParaRPr>
          </a:p>
        </p:txBody>
      </p:sp>
      <p:sp>
        <p:nvSpPr>
          <p:cNvPr id="42" name="Rectangle 41">
            <a:extLst>
              <a:ext uri="{FF2B5EF4-FFF2-40B4-BE49-F238E27FC236}">
                <a16:creationId xmlns:a16="http://schemas.microsoft.com/office/drawing/2014/main" id="{D37F4451-F29E-44E7-9BDC-514B8E8F3F23}"/>
              </a:ext>
            </a:extLst>
          </p:cNvPr>
          <p:cNvSpPr/>
          <p:nvPr/>
        </p:nvSpPr>
        <p:spPr>
          <a:xfrm>
            <a:off x="228600" y="1295400"/>
            <a:ext cx="8610600" cy="707886"/>
          </a:xfrm>
          <a:prstGeom prst="rect">
            <a:avLst/>
          </a:prstGeom>
        </p:spPr>
        <p:txBody>
          <a:bodyPr wrap="square">
            <a:spAutoFit/>
          </a:bodyPr>
          <a:lstStyle/>
          <a:p>
            <a:r>
              <a:rPr lang="en-US" sz="2000" dirty="0">
                <a:latin typeface="Calibri" pitchFamily="34" charset="0"/>
              </a:rPr>
              <a:t>Determining Critical Path and Calculating Float (Slack) by using </a:t>
            </a:r>
            <a:r>
              <a:rPr lang="en-US" sz="2000" b="1" dirty="0">
                <a:solidFill>
                  <a:srgbClr val="FF0000"/>
                </a:solidFill>
                <a:latin typeface="Calibri" pitchFamily="34" charset="0"/>
              </a:rPr>
              <a:t>forward and backward pass method</a:t>
            </a:r>
          </a:p>
        </p:txBody>
      </p:sp>
    </p:spTree>
    <p:extLst>
      <p:ext uri="{BB962C8B-B14F-4D97-AF65-F5344CB8AC3E}">
        <p14:creationId xmlns:p14="http://schemas.microsoft.com/office/powerpoint/2010/main" val="2429492361"/>
      </p:ext>
    </p:ext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title"/>
          </p:nvPr>
        </p:nvSpPr>
        <p:spPr>
          <a:xfrm>
            <a:off x="609600" y="304800"/>
            <a:ext cx="8077200" cy="1143000"/>
          </a:xfrm>
        </p:spPr>
        <p:txBody>
          <a:bodyPr/>
          <a:lstStyle/>
          <a:p>
            <a:r>
              <a:rPr lang="en-US" altLang="en-US"/>
              <a:t>Critical Path Calculation (cont.)</a:t>
            </a:r>
          </a:p>
        </p:txBody>
      </p:sp>
      <p:sp>
        <p:nvSpPr>
          <p:cNvPr id="39" name="Rectangle 38">
            <a:extLst>
              <a:ext uri="{FF2B5EF4-FFF2-40B4-BE49-F238E27FC236}">
                <a16:creationId xmlns:a16="http://schemas.microsoft.com/office/drawing/2014/main" id="{8E7E0030-8D3D-4519-BE98-856DEB929DD3}"/>
              </a:ext>
            </a:extLst>
          </p:cNvPr>
          <p:cNvSpPr/>
          <p:nvPr/>
        </p:nvSpPr>
        <p:spPr>
          <a:xfrm>
            <a:off x="1981652" y="22859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D</a:t>
            </a:r>
          </a:p>
        </p:txBody>
      </p:sp>
      <p:sp>
        <p:nvSpPr>
          <p:cNvPr id="40" name="Rectangle 39">
            <a:extLst>
              <a:ext uri="{FF2B5EF4-FFF2-40B4-BE49-F238E27FC236}">
                <a16:creationId xmlns:a16="http://schemas.microsoft.com/office/drawing/2014/main" id="{0EC32709-5BB4-40F6-A113-A2C40F5ECC14}"/>
              </a:ext>
            </a:extLst>
          </p:cNvPr>
          <p:cNvSpPr/>
          <p:nvPr/>
        </p:nvSpPr>
        <p:spPr>
          <a:xfrm>
            <a:off x="1981652" y="39623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A</a:t>
            </a:r>
          </a:p>
        </p:txBody>
      </p:sp>
      <p:sp>
        <p:nvSpPr>
          <p:cNvPr id="41" name="Rectangle 40">
            <a:extLst>
              <a:ext uri="{FF2B5EF4-FFF2-40B4-BE49-F238E27FC236}">
                <a16:creationId xmlns:a16="http://schemas.microsoft.com/office/drawing/2014/main" id="{EE73F604-8150-4472-97E9-FCE57A05AB88}"/>
              </a:ext>
            </a:extLst>
          </p:cNvPr>
          <p:cNvSpPr/>
          <p:nvPr/>
        </p:nvSpPr>
        <p:spPr>
          <a:xfrm>
            <a:off x="3505652" y="19811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E</a:t>
            </a:r>
          </a:p>
        </p:txBody>
      </p:sp>
      <p:sp>
        <p:nvSpPr>
          <p:cNvPr id="43" name="Rectangle 42">
            <a:extLst>
              <a:ext uri="{FF2B5EF4-FFF2-40B4-BE49-F238E27FC236}">
                <a16:creationId xmlns:a16="http://schemas.microsoft.com/office/drawing/2014/main" id="{87DDC2D0-996F-4CDE-A444-1A517DB50FCF}"/>
              </a:ext>
            </a:extLst>
          </p:cNvPr>
          <p:cNvSpPr/>
          <p:nvPr/>
        </p:nvSpPr>
        <p:spPr>
          <a:xfrm>
            <a:off x="3505652" y="36575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F</a:t>
            </a:r>
          </a:p>
        </p:txBody>
      </p:sp>
      <p:sp>
        <p:nvSpPr>
          <p:cNvPr id="44" name="Rectangle 43">
            <a:extLst>
              <a:ext uri="{FF2B5EF4-FFF2-40B4-BE49-F238E27FC236}">
                <a16:creationId xmlns:a16="http://schemas.microsoft.com/office/drawing/2014/main" id="{446CF098-43DD-49B5-AC99-5088C75E2D7E}"/>
              </a:ext>
            </a:extLst>
          </p:cNvPr>
          <p:cNvSpPr/>
          <p:nvPr/>
        </p:nvSpPr>
        <p:spPr>
          <a:xfrm>
            <a:off x="7391852" y="19811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C</a:t>
            </a:r>
          </a:p>
        </p:txBody>
      </p:sp>
      <p:sp>
        <p:nvSpPr>
          <p:cNvPr id="45" name="Rectangle 44">
            <a:extLst>
              <a:ext uri="{FF2B5EF4-FFF2-40B4-BE49-F238E27FC236}">
                <a16:creationId xmlns:a16="http://schemas.microsoft.com/office/drawing/2014/main" id="{BBE0B729-17D6-4071-A214-6063CBD3F108}"/>
              </a:ext>
            </a:extLst>
          </p:cNvPr>
          <p:cNvSpPr/>
          <p:nvPr/>
        </p:nvSpPr>
        <p:spPr>
          <a:xfrm>
            <a:off x="6096452" y="19811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H</a:t>
            </a:r>
          </a:p>
        </p:txBody>
      </p:sp>
      <p:sp>
        <p:nvSpPr>
          <p:cNvPr id="46" name="Rectangle 45">
            <a:extLst>
              <a:ext uri="{FF2B5EF4-FFF2-40B4-BE49-F238E27FC236}">
                <a16:creationId xmlns:a16="http://schemas.microsoft.com/office/drawing/2014/main" id="{98FB330D-0F23-42E8-A43F-945375E97415}"/>
              </a:ext>
            </a:extLst>
          </p:cNvPr>
          <p:cNvSpPr/>
          <p:nvPr/>
        </p:nvSpPr>
        <p:spPr>
          <a:xfrm>
            <a:off x="4801052" y="19811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G</a:t>
            </a:r>
          </a:p>
        </p:txBody>
      </p:sp>
      <p:sp>
        <p:nvSpPr>
          <p:cNvPr id="47" name="Rectangle 46">
            <a:extLst>
              <a:ext uri="{FF2B5EF4-FFF2-40B4-BE49-F238E27FC236}">
                <a16:creationId xmlns:a16="http://schemas.microsoft.com/office/drawing/2014/main" id="{AD7A9DB8-054F-4384-9D88-86C7A9ED68BA}"/>
              </a:ext>
            </a:extLst>
          </p:cNvPr>
          <p:cNvSpPr/>
          <p:nvPr/>
        </p:nvSpPr>
        <p:spPr>
          <a:xfrm>
            <a:off x="4877252" y="3657599"/>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B</a:t>
            </a:r>
          </a:p>
        </p:txBody>
      </p:sp>
      <p:sp>
        <p:nvSpPr>
          <p:cNvPr id="48" name="Rectangle 42">
            <a:extLst>
              <a:ext uri="{FF2B5EF4-FFF2-40B4-BE49-F238E27FC236}">
                <a16:creationId xmlns:a16="http://schemas.microsoft.com/office/drawing/2014/main" id="{D9959B25-E61F-497E-9070-D45FE0E0BF5E}"/>
              </a:ext>
            </a:extLst>
          </p:cNvPr>
          <p:cNvSpPr>
            <a:spLocks noChangeArrowheads="1"/>
          </p:cNvSpPr>
          <p:nvPr/>
        </p:nvSpPr>
        <p:spPr bwMode="auto">
          <a:xfrm>
            <a:off x="2515052" y="3962400"/>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3</a:t>
            </a:r>
          </a:p>
        </p:txBody>
      </p:sp>
      <p:sp>
        <p:nvSpPr>
          <p:cNvPr id="49" name="Rectangle 43">
            <a:extLst>
              <a:ext uri="{FF2B5EF4-FFF2-40B4-BE49-F238E27FC236}">
                <a16:creationId xmlns:a16="http://schemas.microsoft.com/office/drawing/2014/main" id="{E02D24D6-43D1-4414-B768-78F9750173B1}"/>
              </a:ext>
            </a:extLst>
          </p:cNvPr>
          <p:cNvSpPr>
            <a:spLocks noChangeArrowheads="1"/>
          </p:cNvSpPr>
          <p:nvPr/>
        </p:nvSpPr>
        <p:spPr bwMode="auto">
          <a:xfrm>
            <a:off x="5431927" y="3657600"/>
            <a:ext cx="367408"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16</a:t>
            </a:r>
          </a:p>
        </p:txBody>
      </p:sp>
      <p:sp>
        <p:nvSpPr>
          <p:cNvPr id="50" name="Rectangle 44">
            <a:extLst>
              <a:ext uri="{FF2B5EF4-FFF2-40B4-BE49-F238E27FC236}">
                <a16:creationId xmlns:a16="http://schemas.microsoft.com/office/drawing/2014/main" id="{065690B0-4E7E-4586-815D-84A5EF2A0CD2}"/>
              </a:ext>
            </a:extLst>
          </p:cNvPr>
          <p:cNvSpPr>
            <a:spLocks noChangeArrowheads="1"/>
          </p:cNvSpPr>
          <p:nvPr/>
        </p:nvSpPr>
        <p:spPr bwMode="auto">
          <a:xfrm>
            <a:off x="3505652" y="3657600"/>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5</a:t>
            </a:r>
          </a:p>
        </p:txBody>
      </p:sp>
      <p:sp>
        <p:nvSpPr>
          <p:cNvPr id="51" name="Rectangle 50">
            <a:extLst>
              <a:ext uri="{FF2B5EF4-FFF2-40B4-BE49-F238E27FC236}">
                <a16:creationId xmlns:a16="http://schemas.microsoft.com/office/drawing/2014/main" id="{37A47CCB-E0E3-44C0-9B0F-7974917F2090}"/>
              </a:ext>
            </a:extLst>
          </p:cNvPr>
          <p:cNvSpPr/>
          <p:nvPr/>
        </p:nvSpPr>
        <p:spPr>
          <a:xfrm>
            <a:off x="2515052" y="22859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4</a:t>
            </a:r>
          </a:p>
        </p:txBody>
      </p:sp>
      <p:sp>
        <p:nvSpPr>
          <p:cNvPr id="52" name="Rectangle 51">
            <a:extLst>
              <a:ext uri="{FF2B5EF4-FFF2-40B4-BE49-F238E27FC236}">
                <a16:creationId xmlns:a16="http://schemas.microsoft.com/office/drawing/2014/main" id="{829F12A7-1EED-4207-BB60-78E6D937C80F}"/>
              </a:ext>
            </a:extLst>
          </p:cNvPr>
          <p:cNvSpPr/>
          <p:nvPr/>
        </p:nvSpPr>
        <p:spPr>
          <a:xfrm>
            <a:off x="1981652" y="28193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53" name="Rectangle 52">
            <a:extLst>
              <a:ext uri="{FF2B5EF4-FFF2-40B4-BE49-F238E27FC236}">
                <a16:creationId xmlns:a16="http://schemas.microsoft.com/office/drawing/2014/main" id="{C2FFF44E-27F6-491E-86E8-0C660A6FE362}"/>
              </a:ext>
            </a:extLst>
          </p:cNvPr>
          <p:cNvSpPr/>
          <p:nvPr/>
        </p:nvSpPr>
        <p:spPr>
          <a:xfrm>
            <a:off x="2515052" y="28193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54" name="Rectangle 53">
            <a:extLst>
              <a:ext uri="{FF2B5EF4-FFF2-40B4-BE49-F238E27FC236}">
                <a16:creationId xmlns:a16="http://schemas.microsoft.com/office/drawing/2014/main" id="{567D118D-494F-4036-8BC5-94E443EA409A}"/>
              </a:ext>
            </a:extLst>
          </p:cNvPr>
          <p:cNvSpPr/>
          <p:nvPr/>
        </p:nvSpPr>
        <p:spPr>
          <a:xfrm>
            <a:off x="1981652" y="22859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a:t>
            </a:r>
          </a:p>
        </p:txBody>
      </p:sp>
      <p:sp>
        <p:nvSpPr>
          <p:cNvPr id="55" name="Rectangle 54">
            <a:extLst>
              <a:ext uri="{FF2B5EF4-FFF2-40B4-BE49-F238E27FC236}">
                <a16:creationId xmlns:a16="http://schemas.microsoft.com/office/drawing/2014/main" id="{4D9F4ED8-9C44-45C7-B0A8-023F0B4814DD}"/>
              </a:ext>
            </a:extLst>
          </p:cNvPr>
          <p:cNvSpPr/>
          <p:nvPr/>
        </p:nvSpPr>
        <p:spPr>
          <a:xfrm>
            <a:off x="3505652" y="19811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5</a:t>
            </a:r>
          </a:p>
        </p:txBody>
      </p:sp>
      <p:sp>
        <p:nvSpPr>
          <p:cNvPr id="56" name="Rectangle 55">
            <a:extLst>
              <a:ext uri="{FF2B5EF4-FFF2-40B4-BE49-F238E27FC236}">
                <a16:creationId xmlns:a16="http://schemas.microsoft.com/office/drawing/2014/main" id="{8457BF92-D711-4ED4-8A8A-4BBF62D0D34C}"/>
              </a:ext>
            </a:extLst>
          </p:cNvPr>
          <p:cNvSpPr/>
          <p:nvPr/>
        </p:nvSpPr>
        <p:spPr>
          <a:xfrm>
            <a:off x="35056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57" name="Rectangle 56">
            <a:extLst>
              <a:ext uri="{FF2B5EF4-FFF2-40B4-BE49-F238E27FC236}">
                <a16:creationId xmlns:a16="http://schemas.microsoft.com/office/drawing/2014/main" id="{C270FFEC-4F20-4BEF-B3BC-60C59F1AEAF0}"/>
              </a:ext>
            </a:extLst>
          </p:cNvPr>
          <p:cNvSpPr/>
          <p:nvPr/>
        </p:nvSpPr>
        <p:spPr>
          <a:xfrm>
            <a:off x="40390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58" name="Rectangle 57">
            <a:extLst>
              <a:ext uri="{FF2B5EF4-FFF2-40B4-BE49-F238E27FC236}">
                <a16:creationId xmlns:a16="http://schemas.microsoft.com/office/drawing/2014/main" id="{44FCB359-5FE5-4833-BEC5-B348E00424DA}"/>
              </a:ext>
            </a:extLst>
          </p:cNvPr>
          <p:cNvSpPr/>
          <p:nvPr/>
        </p:nvSpPr>
        <p:spPr>
          <a:xfrm>
            <a:off x="3962852" y="1981199"/>
            <a:ext cx="4572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13</a:t>
            </a:r>
          </a:p>
        </p:txBody>
      </p:sp>
      <p:sp>
        <p:nvSpPr>
          <p:cNvPr id="59" name="Rectangle 58">
            <a:extLst>
              <a:ext uri="{FF2B5EF4-FFF2-40B4-BE49-F238E27FC236}">
                <a16:creationId xmlns:a16="http://schemas.microsoft.com/office/drawing/2014/main" id="{2963EE5C-3B25-4C10-9715-1AA093395D3B}"/>
              </a:ext>
            </a:extLst>
          </p:cNvPr>
          <p:cNvSpPr/>
          <p:nvPr/>
        </p:nvSpPr>
        <p:spPr>
          <a:xfrm>
            <a:off x="4801052" y="1981199"/>
            <a:ext cx="457200" cy="3048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14</a:t>
            </a:r>
          </a:p>
        </p:txBody>
      </p:sp>
      <p:sp>
        <p:nvSpPr>
          <p:cNvPr id="60" name="Rectangle 59">
            <a:extLst>
              <a:ext uri="{FF2B5EF4-FFF2-40B4-BE49-F238E27FC236}">
                <a16:creationId xmlns:a16="http://schemas.microsoft.com/office/drawing/2014/main" id="{8570722F-4EC0-4E39-9297-5FE1099561C6}"/>
              </a:ext>
            </a:extLst>
          </p:cNvPr>
          <p:cNvSpPr/>
          <p:nvPr/>
        </p:nvSpPr>
        <p:spPr>
          <a:xfrm>
            <a:off x="5334452" y="1981199"/>
            <a:ext cx="381000" cy="3048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17</a:t>
            </a:r>
          </a:p>
        </p:txBody>
      </p:sp>
      <p:sp>
        <p:nvSpPr>
          <p:cNvPr id="61" name="Rectangle 60">
            <a:extLst>
              <a:ext uri="{FF2B5EF4-FFF2-40B4-BE49-F238E27FC236}">
                <a16:creationId xmlns:a16="http://schemas.microsoft.com/office/drawing/2014/main" id="{B8198EA7-403A-49C1-B542-692233F0A552}"/>
              </a:ext>
            </a:extLst>
          </p:cNvPr>
          <p:cNvSpPr/>
          <p:nvPr/>
        </p:nvSpPr>
        <p:spPr>
          <a:xfrm>
            <a:off x="5410652" y="2514599"/>
            <a:ext cx="304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62" name="Rectangle 61">
            <a:extLst>
              <a:ext uri="{FF2B5EF4-FFF2-40B4-BE49-F238E27FC236}">
                <a16:creationId xmlns:a16="http://schemas.microsoft.com/office/drawing/2014/main" id="{B439BD2A-7656-4977-A00E-B45252C452BA}"/>
              </a:ext>
            </a:extLst>
          </p:cNvPr>
          <p:cNvSpPr/>
          <p:nvPr/>
        </p:nvSpPr>
        <p:spPr>
          <a:xfrm>
            <a:off x="48010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63" name="Rectangle 62">
            <a:extLst>
              <a:ext uri="{FF2B5EF4-FFF2-40B4-BE49-F238E27FC236}">
                <a16:creationId xmlns:a16="http://schemas.microsoft.com/office/drawing/2014/main" id="{9DA87BA2-1204-4781-8DA9-BEA7FFAA6694}"/>
              </a:ext>
            </a:extLst>
          </p:cNvPr>
          <p:cNvSpPr/>
          <p:nvPr/>
        </p:nvSpPr>
        <p:spPr>
          <a:xfrm>
            <a:off x="6096452" y="19811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18</a:t>
            </a:r>
          </a:p>
        </p:txBody>
      </p:sp>
      <p:sp>
        <p:nvSpPr>
          <p:cNvPr id="64" name="Rectangle 63">
            <a:extLst>
              <a:ext uri="{FF2B5EF4-FFF2-40B4-BE49-F238E27FC236}">
                <a16:creationId xmlns:a16="http://schemas.microsoft.com/office/drawing/2014/main" id="{CA7ED8FA-29C7-4F02-8A22-84CD16216CFA}"/>
              </a:ext>
            </a:extLst>
          </p:cNvPr>
          <p:cNvSpPr/>
          <p:nvPr/>
        </p:nvSpPr>
        <p:spPr>
          <a:xfrm>
            <a:off x="6629852" y="19811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19</a:t>
            </a:r>
          </a:p>
        </p:txBody>
      </p:sp>
      <p:sp>
        <p:nvSpPr>
          <p:cNvPr id="65" name="Rectangle 64">
            <a:extLst>
              <a:ext uri="{FF2B5EF4-FFF2-40B4-BE49-F238E27FC236}">
                <a16:creationId xmlns:a16="http://schemas.microsoft.com/office/drawing/2014/main" id="{B047600A-7BDF-4BFB-B6FB-3F44BD38496B}"/>
              </a:ext>
            </a:extLst>
          </p:cNvPr>
          <p:cNvSpPr/>
          <p:nvPr/>
        </p:nvSpPr>
        <p:spPr>
          <a:xfrm>
            <a:off x="66298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66" name="Rectangle 65">
            <a:extLst>
              <a:ext uri="{FF2B5EF4-FFF2-40B4-BE49-F238E27FC236}">
                <a16:creationId xmlns:a16="http://schemas.microsoft.com/office/drawing/2014/main" id="{0572E225-C344-43ED-9C82-21A328FA253E}"/>
              </a:ext>
            </a:extLst>
          </p:cNvPr>
          <p:cNvSpPr/>
          <p:nvPr/>
        </p:nvSpPr>
        <p:spPr>
          <a:xfrm>
            <a:off x="60964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67" name="Rectangle 66">
            <a:extLst>
              <a:ext uri="{FF2B5EF4-FFF2-40B4-BE49-F238E27FC236}">
                <a16:creationId xmlns:a16="http://schemas.microsoft.com/office/drawing/2014/main" id="{8E80D6A2-3A94-41B6-B5E4-C554E56FC4ED}"/>
              </a:ext>
            </a:extLst>
          </p:cNvPr>
          <p:cNvSpPr/>
          <p:nvPr/>
        </p:nvSpPr>
        <p:spPr>
          <a:xfrm>
            <a:off x="73918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68" name="Rectangle 67">
            <a:extLst>
              <a:ext uri="{FF2B5EF4-FFF2-40B4-BE49-F238E27FC236}">
                <a16:creationId xmlns:a16="http://schemas.microsoft.com/office/drawing/2014/main" id="{03FE07EA-699C-48E2-96FC-311629B18BB2}"/>
              </a:ext>
            </a:extLst>
          </p:cNvPr>
          <p:cNvSpPr/>
          <p:nvPr/>
        </p:nvSpPr>
        <p:spPr>
          <a:xfrm>
            <a:off x="7391852" y="1978024"/>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20</a:t>
            </a:r>
          </a:p>
        </p:txBody>
      </p:sp>
      <p:sp>
        <p:nvSpPr>
          <p:cNvPr id="69" name="Rectangle 68">
            <a:extLst>
              <a:ext uri="{FF2B5EF4-FFF2-40B4-BE49-F238E27FC236}">
                <a16:creationId xmlns:a16="http://schemas.microsoft.com/office/drawing/2014/main" id="{8F5AB765-4F75-45A9-BB15-2EE30FA61A13}"/>
              </a:ext>
            </a:extLst>
          </p:cNvPr>
          <p:cNvSpPr/>
          <p:nvPr/>
        </p:nvSpPr>
        <p:spPr>
          <a:xfrm>
            <a:off x="7925252" y="19811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400" dirty="0">
                <a:latin typeface="Calibri" pitchFamily="34" charset="0"/>
              </a:rPr>
              <a:t>26</a:t>
            </a:r>
          </a:p>
        </p:txBody>
      </p:sp>
      <p:sp>
        <p:nvSpPr>
          <p:cNvPr id="70" name="Rectangle 69">
            <a:extLst>
              <a:ext uri="{FF2B5EF4-FFF2-40B4-BE49-F238E27FC236}">
                <a16:creationId xmlns:a16="http://schemas.microsoft.com/office/drawing/2014/main" id="{65B5DAD8-0253-4536-868F-90CF2AEDDBB7}"/>
              </a:ext>
            </a:extLst>
          </p:cNvPr>
          <p:cNvSpPr/>
          <p:nvPr/>
        </p:nvSpPr>
        <p:spPr>
          <a:xfrm>
            <a:off x="7925252" y="2514599"/>
            <a:ext cx="3810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sz="1400">
              <a:latin typeface="Calibri" pitchFamily="34" charset="0"/>
            </a:endParaRPr>
          </a:p>
        </p:txBody>
      </p:sp>
      <p:sp>
        <p:nvSpPr>
          <p:cNvPr id="71" name="Rectangle 42">
            <a:extLst>
              <a:ext uri="{FF2B5EF4-FFF2-40B4-BE49-F238E27FC236}">
                <a16:creationId xmlns:a16="http://schemas.microsoft.com/office/drawing/2014/main" id="{5EAD4C40-9181-4955-88F6-0FC59C90508D}"/>
              </a:ext>
            </a:extLst>
          </p:cNvPr>
          <p:cNvSpPr>
            <a:spLocks noChangeArrowheads="1"/>
          </p:cNvSpPr>
          <p:nvPr/>
        </p:nvSpPr>
        <p:spPr bwMode="auto">
          <a:xfrm>
            <a:off x="1981652" y="3962400"/>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1</a:t>
            </a:r>
          </a:p>
        </p:txBody>
      </p:sp>
      <p:sp>
        <p:nvSpPr>
          <p:cNvPr id="72" name="Rectangle 42">
            <a:extLst>
              <a:ext uri="{FF2B5EF4-FFF2-40B4-BE49-F238E27FC236}">
                <a16:creationId xmlns:a16="http://schemas.microsoft.com/office/drawing/2014/main" id="{DB0DD2B5-D44F-4DFF-9D53-B01018E300A9}"/>
              </a:ext>
            </a:extLst>
          </p:cNvPr>
          <p:cNvSpPr>
            <a:spLocks noChangeArrowheads="1"/>
          </p:cNvSpPr>
          <p:nvPr/>
        </p:nvSpPr>
        <p:spPr bwMode="auto">
          <a:xfrm>
            <a:off x="2522990" y="4567050"/>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73" name="Rectangle 42">
            <a:extLst>
              <a:ext uri="{FF2B5EF4-FFF2-40B4-BE49-F238E27FC236}">
                <a16:creationId xmlns:a16="http://schemas.microsoft.com/office/drawing/2014/main" id="{8B3FD28E-33D4-4523-A20A-10F6B7DF1C10}"/>
              </a:ext>
            </a:extLst>
          </p:cNvPr>
          <p:cNvSpPr>
            <a:spLocks noChangeArrowheads="1"/>
          </p:cNvSpPr>
          <p:nvPr/>
        </p:nvSpPr>
        <p:spPr bwMode="auto">
          <a:xfrm>
            <a:off x="1981652" y="4566288"/>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74" name="Rectangle 44">
            <a:extLst>
              <a:ext uri="{FF2B5EF4-FFF2-40B4-BE49-F238E27FC236}">
                <a16:creationId xmlns:a16="http://schemas.microsoft.com/office/drawing/2014/main" id="{45E56FE7-ED4C-471F-B6DE-D2877AAADD3F}"/>
              </a:ext>
            </a:extLst>
          </p:cNvPr>
          <p:cNvSpPr>
            <a:spLocks noChangeArrowheads="1"/>
          </p:cNvSpPr>
          <p:nvPr/>
        </p:nvSpPr>
        <p:spPr bwMode="auto">
          <a:xfrm>
            <a:off x="4039052" y="4262250"/>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75" name="Rectangle 44">
            <a:extLst>
              <a:ext uri="{FF2B5EF4-FFF2-40B4-BE49-F238E27FC236}">
                <a16:creationId xmlns:a16="http://schemas.microsoft.com/office/drawing/2014/main" id="{92DB5F03-4E33-435E-87A5-BC77B2D07C61}"/>
              </a:ext>
            </a:extLst>
          </p:cNvPr>
          <p:cNvSpPr>
            <a:spLocks noChangeArrowheads="1"/>
          </p:cNvSpPr>
          <p:nvPr/>
        </p:nvSpPr>
        <p:spPr bwMode="auto">
          <a:xfrm>
            <a:off x="4060327" y="3656838"/>
            <a:ext cx="367408"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12</a:t>
            </a:r>
          </a:p>
        </p:txBody>
      </p:sp>
      <p:sp>
        <p:nvSpPr>
          <p:cNvPr id="76" name="Rectangle 44">
            <a:extLst>
              <a:ext uri="{FF2B5EF4-FFF2-40B4-BE49-F238E27FC236}">
                <a16:creationId xmlns:a16="http://schemas.microsoft.com/office/drawing/2014/main" id="{647E3304-4997-4158-8188-142E59A3BA72}"/>
              </a:ext>
            </a:extLst>
          </p:cNvPr>
          <p:cNvSpPr>
            <a:spLocks noChangeArrowheads="1"/>
          </p:cNvSpPr>
          <p:nvPr/>
        </p:nvSpPr>
        <p:spPr bwMode="auto">
          <a:xfrm>
            <a:off x="3505652" y="4261488"/>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77" name="Rectangle 43">
            <a:extLst>
              <a:ext uri="{FF2B5EF4-FFF2-40B4-BE49-F238E27FC236}">
                <a16:creationId xmlns:a16="http://schemas.microsoft.com/office/drawing/2014/main" id="{7674AEB6-AE48-48E9-BB7B-6D3D29030583}"/>
              </a:ext>
            </a:extLst>
          </p:cNvPr>
          <p:cNvSpPr>
            <a:spLocks noChangeArrowheads="1"/>
          </p:cNvSpPr>
          <p:nvPr/>
        </p:nvSpPr>
        <p:spPr bwMode="auto">
          <a:xfrm>
            <a:off x="4877252" y="3657600"/>
            <a:ext cx="367408"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13</a:t>
            </a:r>
          </a:p>
        </p:txBody>
      </p:sp>
      <p:sp>
        <p:nvSpPr>
          <p:cNvPr id="78" name="Rectangle 43">
            <a:extLst>
              <a:ext uri="{FF2B5EF4-FFF2-40B4-BE49-F238E27FC236}">
                <a16:creationId xmlns:a16="http://schemas.microsoft.com/office/drawing/2014/main" id="{93809104-F040-4FAA-8F6C-2CB6E4DE5D2F}"/>
              </a:ext>
            </a:extLst>
          </p:cNvPr>
          <p:cNvSpPr>
            <a:spLocks noChangeArrowheads="1"/>
          </p:cNvSpPr>
          <p:nvPr/>
        </p:nvSpPr>
        <p:spPr bwMode="auto">
          <a:xfrm>
            <a:off x="5410652" y="4261488"/>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79" name="Rectangle 43">
            <a:extLst>
              <a:ext uri="{FF2B5EF4-FFF2-40B4-BE49-F238E27FC236}">
                <a16:creationId xmlns:a16="http://schemas.microsoft.com/office/drawing/2014/main" id="{72459917-0BC6-4A58-8686-C485347389BC}"/>
              </a:ext>
            </a:extLst>
          </p:cNvPr>
          <p:cNvSpPr>
            <a:spLocks noChangeArrowheads="1"/>
          </p:cNvSpPr>
          <p:nvPr/>
        </p:nvSpPr>
        <p:spPr bwMode="auto">
          <a:xfrm>
            <a:off x="4877252" y="4261488"/>
            <a:ext cx="3048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endParaRPr lang="en-US" sz="1400" dirty="0">
              <a:latin typeface="Calibri" pitchFamily="34" charset="0"/>
            </a:endParaRPr>
          </a:p>
        </p:txBody>
      </p:sp>
      <p:sp>
        <p:nvSpPr>
          <p:cNvPr id="80" name="Title 65">
            <a:extLst>
              <a:ext uri="{FF2B5EF4-FFF2-40B4-BE49-F238E27FC236}">
                <a16:creationId xmlns:a16="http://schemas.microsoft.com/office/drawing/2014/main" id="{E4B31420-5E76-4989-BE05-E5F457897F68}"/>
              </a:ext>
            </a:extLst>
          </p:cNvPr>
          <p:cNvSpPr txBox="1">
            <a:spLocks/>
          </p:cNvSpPr>
          <p:nvPr/>
        </p:nvSpPr>
        <p:spPr bwMode="auto">
          <a:xfrm>
            <a:off x="1981652" y="1752600"/>
            <a:ext cx="838200" cy="612775"/>
          </a:xfrm>
          <a:prstGeom prst="rect">
            <a:avLst/>
          </a:prstGeom>
          <a:noFill/>
          <a:ln w="9525">
            <a:noFill/>
            <a:miter lim="800000"/>
            <a:headEnd/>
            <a:tailEnd/>
          </a:ln>
        </p:spPr>
        <p:txBody>
          <a:bodyPr anchor="ctr"/>
          <a:lstStyle/>
          <a:p>
            <a:pPr algn="ctr">
              <a:defRPr/>
            </a:pPr>
            <a:r>
              <a:rPr lang="en-US" dirty="0">
                <a:latin typeface="Calibri" pitchFamily="34" charset="0"/>
                <a:ea typeface="+mj-ea"/>
                <a:cs typeface="+mj-cs"/>
              </a:rPr>
              <a:t>4</a:t>
            </a:r>
          </a:p>
        </p:txBody>
      </p:sp>
      <p:sp>
        <p:nvSpPr>
          <p:cNvPr id="81" name="Title 65">
            <a:extLst>
              <a:ext uri="{FF2B5EF4-FFF2-40B4-BE49-F238E27FC236}">
                <a16:creationId xmlns:a16="http://schemas.microsoft.com/office/drawing/2014/main" id="{B194657B-1BF9-4E5D-8E97-32A9CF6A540E}"/>
              </a:ext>
            </a:extLst>
          </p:cNvPr>
          <p:cNvSpPr txBox="1">
            <a:spLocks/>
          </p:cNvSpPr>
          <p:nvPr/>
        </p:nvSpPr>
        <p:spPr>
          <a:xfrm>
            <a:off x="3505652" y="1447800"/>
            <a:ext cx="838200" cy="612775"/>
          </a:xfrm>
          <a:prstGeom prst="rect">
            <a:avLst/>
          </a:prstGeom>
        </p:spPr>
        <p:txBody>
          <a:bodyPr anchor="ctr">
            <a:normAutofit/>
          </a:bodyPr>
          <a:lstStyle/>
          <a:p>
            <a:pPr algn="ctr">
              <a:defRPr/>
            </a:pPr>
            <a:r>
              <a:rPr lang="en-US" dirty="0">
                <a:latin typeface="Calibri" pitchFamily="34" charset="0"/>
                <a:ea typeface="+mj-ea"/>
                <a:cs typeface="+mj-cs"/>
              </a:rPr>
              <a:t>9</a:t>
            </a:r>
          </a:p>
        </p:txBody>
      </p:sp>
      <p:sp>
        <p:nvSpPr>
          <p:cNvPr id="82" name="Title 65">
            <a:extLst>
              <a:ext uri="{FF2B5EF4-FFF2-40B4-BE49-F238E27FC236}">
                <a16:creationId xmlns:a16="http://schemas.microsoft.com/office/drawing/2014/main" id="{3C8C39BB-F9BF-43FC-A49E-133E008D8B16}"/>
              </a:ext>
            </a:extLst>
          </p:cNvPr>
          <p:cNvSpPr txBox="1">
            <a:spLocks/>
          </p:cNvSpPr>
          <p:nvPr/>
        </p:nvSpPr>
        <p:spPr>
          <a:xfrm>
            <a:off x="4877252" y="1524000"/>
            <a:ext cx="838200" cy="612775"/>
          </a:xfrm>
          <a:prstGeom prst="rect">
            <a:avLst/>
          </a:prstGeom>
        </p:spPr>
        <p:txBody>
          <a:bodyPr anchor="ctr">
            <a:normAutofit/>
          </a:bodyPr>
          <a:lstStyle/>
          <a:p>
            <a:pPr algn="ctr">
              <a:defRPr/>
            </a:pPr>
            <a:r>
              <a:rPr lang="en-US" dirty="0">
                <a:latin typeface="Calibri" pitchFamily="34" charset="0"/>
                <a:ea typeface="+mj-ea"/>
                <a:cs typeface="+mj-cs"/>
              </a:rPr>
              <a:t>4</a:t>
            </a:r>
          </a:p>
        </p:txBody>
      </p:sp>
      <p:sp>
        <p:nvSpPr>
          <p:cNvPr id="83" name="Title 65">
            <a:extLst>
              <a:ext uri="{FF2B5EF4-FFF2-40B4-BE49-F238E27FC236}">
                <a16:creationId xmlns:a16="http://schemas.microsoft.com/office/drawing/2014/main" id="{80CB079E-7974-4D48-97F0-BA95F3A2E747}"/>
              </a:ext>
            </a:extLst>
          </p:cNvPr>
          <p:cNvSpPr txBox="1">
            <a:spLocks/>
          </p:cNvSpPr>
          <p:nvPr/>
        </p:nvSpPr>
        <p:spPr>
          <a:xfrm>
            <a:off x="6096452" y="1524000"/>
            <a:ext cx="838200" cy="612775"/>
          </a:xfrm>
          <a:prstGeom prst="rect">
            <a:avLst/>
          </a:prstGeom>
        </p:spPr>
        <p:txBody>
          <a:bodyPr anchor="ctr">
            <a:normAutofit/>
          </a:bodyPr>
          <a:lstStyle/>
          <a:p>
            <a:pPr algn="ctr">
              <a:defRPr/>
            </a:pPr>
            <a:r>
              <a:rPr lang="en-US" dirty="0">
                <a:latin typeface="Calibri" pitchFamily="34" charset="0"/>
                <a:ea typeface="+mj-ea"/>
                <a:cs typeface="+mj-cs"/>
              </a:rPr>
              <a:t>2</a:t>
            </a:r>
          </a:p>
        </p:txBody>
      </p:sp>
      <p:sp>
        <p:nvSpPr>
          <p:cNvPr id="84" name="Title 65">
            <a:extLst>
              <a:ext uri="{FF2B5EF4-FFF2-40B4-BE49-F238E27FC236}">
                <a16:creationId xmlns:a16="http://schemas.microsoft.com/office/drawing/2014/main" id="{D9F28C50-B7CC-4752-AE90-F5577CA32CCD}"/>
              </a:ext>
            </a:extLst>
          </p:cNvPr>
          <p:cNvSpPr txBox="1">
            <a:spLocks/>
          </p:cNvSpPr>
          <p:nvPr/>
        </p:nvSpPr>
        <p:spPr>
          <a:xfrm>
            <a:off x="7391852" y="1524000"/>
            <a:ext cx="838200" cy="612775"/>
          </a:xfrm>
          <a:prstGeom prst="rect">
            <a:avLst/>
          </a:prstGeom>
        </p:spPr>
        <p:txBody>
          <a:bodyPr anchor="ctr">
            <a:normAutofit/>
          </a:bodyPr>
          <a:lstStyle/>
          <a:p>
            <a:pPr algn="ctr">
              <a:defRPr/>
            </a:pPr>
            <a:r>
              <a:rPr lang="en-US" dirty="0">
                <a:latin typeface="Calibri" pitchFamily="34" charset="0"/>
                <a:ea typeface="+mj-ea"/>
                <a:cs typeface="+mj-cs"/>
              </a:rPr>
              <a:t>7</a:t>
            </a:r>
          </a:p>
        </p:txBody>
      </p:sp>
      <p:sp>
        <p:nvSpPr>
          <p:cNvPr id="85" name="Title 65">
            <a:extLst>
              <a:ext uri="{FF2B5EF4-FFF2-40B4-BE49-F238E27FC236}">
                <a16:creationId xmlns:a16="http://schemas.microsoft.com/office/drawing/2014/main" id="{3F0918CA-BFB6-45F9-BD81-FE3F39C7D18B}"/>
              </a:ext>
            </a:extLst>
          </p:cNvPr>
          <p:cNvSpPr txBox="1">
            <a:spLocks/>
          </p:cNvSpPr>
          <p:nvPr/>
        </p:nvSpPr>
        <p:spPr>
          <a:xfrm>
            <a:off x="2057852" y="3425825"/>
            <a:ext cx="838200" cy="612775"/>
          </a:xfrm>
          <a:prstGeom prst="rect">
            <a:avLst/>
          </a:prstGeom>
        </p:spPr>
        <p:txBody>
          <a:bodyPr anchor="ctr">
            <a:normAutofit/>
          </a:bodyPr>
          <a:lstStyle/>
          <a:p>
            <a:pPr algn="ctr">
              <a:defRPr/>
            </a:pPr>
            <a:r>
              <a:rPr lang="en-US" dirty="0">
                <a:latin typeface="Calibri" pitchFamily="34" charset="0"/>
                <a:ea typeface="+mj-ea"/>
                <a:cs typeface="+mj-cs"/>
              </a:rPr>
              <a:t>3</a:t>
            </a:r>
          </a:p>
        </p:txBody>
      </p:sp>
      <p:sp>
        <p:nvSpPr>
          <p:cNvPr id="86" name="Title 65">
            <a:extLst>
              <a:ext uri="{FF2B5EF4-FFF2-40B4-BE49-F238E27FC236}">
                <a16:creationId xmlns:a16="http://schemas.microsoft.com/office/drawing/2014/main" id="{A11332B4-7116-4509-9DF7-B7F0A5D1B5CF}"/>
              </a:ext>
            </a:extLst>
          </p:cNvPr>
          <p:cNvSpPr txBox="1">
            <a:spLocks/>
          </p:cNvSpPr>
          <p:nvPr/>
        </p:nvSpPr>
        <p:spPr>
          <a:xfrm>
            <a:off x="3505652" y="3197225"/>
            <a:ext cx="838200" cy="612775"/>
          </a:xfrm>
          <a:prstGeom prst="rect">
            <a:avLst/>
          </a:prstGeom>
        </p:spPr>
        <p:txBody>
          <a:bodyPr anchor="ctr">
            <a:normAutofit/>
          </a:bodyPr>
          <a:lstStyle/>
          <a:p>
            <a:pPr algn="ctr">
              <a:defRPr/>
            </a:pPr>
            <a:r>
              <a:rPr lang="en-US" dirty="0">
                <a:latin typeface="Calibri" pitchFamily="34" charset="0"/>
                <a:ea typeface="+mj-ea"/>
                <a:cs typeface="+mj-cs"/>
              </a:rPr>
              <a:t>8</a:t>
            </a:r>
          </a:p>
        </p:txBody>
      </p:sp>
      <p:sp>
        <p:nvSpPr>
          <p:cNvPr id="87" name="Title 65">
            <a:extLst>
              <a:ext uri="{FF2B5EF4-FFF2-40B4-BE49-F238E27FC236}">
                <a16:creationId xmlns:a16="http://schemas.microsoft.com/office/drawing/2014/main" id="{3BFB9BF0-1486-4B80-9E1A-69320900DCAF}"/>
              </a:ext>
            </a:extLst>
          </p:cNvPr>
          <p:cNvSpPr txBox="1">
            <a:spLocks/>
          </p:cNvSpPr>
          <p:nvPr/>
        </p:nvSpPr>
        <p:spPr>
          <a:xfrm>
            <a:off x="4877252" y="3197225"/>
            <a:ext cx="838200" cy="612775"/>
          </a:xfrm>
          <a:prstGeom prst="rect">
            <a:avLst/>
          </a:prstGeom>
        </p:spPr>
        <p:txBody>
          <a:bodyPr anchor="ctr">
            <a:normAutofit/>
          </a:bodyPr>
          <a:lstStyle/>
          <a:p>
            <a:pPr algn="ctr">
              <a:defRPr/>
            </a:pPr>
            <a:r>
              <a:rPr lang="en-US" dirty="0">
                <a:latin typeface="Calibri" pitchFamily="34" charset="0"/>
                <a:ea typeface="+mj-ea"/>
                <a:cs typeface="+mj-cs"/>
              </a:rPr>
              <a:t>4</a:t>
            </a:r>
          </a:p>
        </p:txBody>
      </p:sp>
      <p:sp>
        <p:nvSpPr>
          <p:cNvPr id="88" name="Rectangle 87">
            <a:extLst>
              <a:ext uri="{FF2B5EF4-FFF2-40B4-BE49-F238E27FC236}">
                <a16:creationId xmlns:a16="http://schemas.microsoft.com/office/drawing/2014/main" id="{585880B3-A2B8-4BA1-8D2F-9C53326DE028}"/>
              </a:ext>
            </a:extLst>
          </p:cNvPr>
          <p:cNvSpPr/>
          <p:nvPr/>
        </p:nvSpPr>
        <p:spPr>
          <a:xfrm>
            <a:off x="339892" y="5470542"/>
            <a:ext cx="4191000" cy="646331"/>
          </a:xfrm>
          <a:prstGeom prst="rect">
            <a:avLst/>
          </a:prstGeom>
        </p:spPr>
        <p:txBody>
          <a:bodyPr wrap="square">
            <a:spAutoFit/>
          </a:bodyPr>
          <a:lstStyle/>
          <a:p>
            <a:r>
              <a:rPr lang="en-US" b="1" dirty="0">
                <a:latin typeface="Calibri" pitchFamily="34" charset="0"/>
              </a:rPr>
              <a:t>EF = ES + duration – 1 </a:t>
            </a:r>
            <a:r>
              <a:rPr lang="en-US" dirty="0">
                <a:latin typeface="Calibri" pitchFamily="34" charset="0"/>
              </a:rPr>
              <a:t>(For forward pass)</a:t>
            </a:r>
            <a:endParaRPr lang="en-US" b="1" dirty="0">
              <a:latin typeface="Calibri" pitchFamily="34" charset="0"/>
            </a:endParaRPr>
          </a:p>
          <a:p>
            <a:r>
              <a:rPr lang="en-US" b="1" dirty="0">
                <a:latin typeface="Calibri" pitchFamily="34" charset="0"/>
              </a:rPr>
              <a:t>LS = LF – duration + 1 </a:t>
            </a:r>
            <a:r>
              <a:rPr lang="en-US" dirty="0">
                <a:latin typeface="Calibri" pitchFamily="34" charset="0"/>
              </a:rPr>
              <a:t>(For backward pass)</a:t>
            </a:r>
            <a:endParaRPr lang="en-US" b="1" dirty="0">
              <a:latin typeface="Calibri" pitchFamily="34" charset="0"/>
            </a:endParaRPr>
          </a:p>
        </p:txBody>
      </p:sp>
      <p:sp>
        <p:nvSpPr>
          <p:cNvPr id="89" name="Rectangle 88">
            <a:extLst>
              <a:ext uri="{FF2B5EF4-FFF2-40B4-BE49-F238E27FC236}">
                <a16:creationId xmlns:a16="http://schemas.microsoft.com/office/drawing/2014/main" id="{EB2A393F-C104-49CC-9ECB-3F550401FDA8}"/>
              </a:ext>
            </a:extLst>
          </p:cNvPr>
          <p:cNvSpPr/>
          <p:nvPr/>
        </p:nvSpPr>
        <p:spPr>
          <a:xfrm>
            <a:off x="152400" y="3144837"/>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Start</a:t>
            </a:r>
          </a:p>
        </p:txBody>
      </p:sp>
      <p:sp>
        <p:nvSpPr>
          <p:cNvPr id="90" name="Rectangle 89">
            <a:extLst>
              <a:ext uri="{FF2B5EF4-FFF2-40B4-BE49-F238E27FC236}">
                <a16:creationId xmlns:a16="http://schemas.microsoft.com/office/drawing/2014/main" id="{8F879AEB-2C78-46B0-8EC7-08E9215126CD}"/>
              </a:ext>
            </a:extLst>
          </p:cNvPr>
          <p:cNvSpPr/>
          <p:nvPr/>
        </p:nvSpPr>
        <p:spPr>
          <a:xfrm>
            <a:off x="8137498" y="3505199"/>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End</a:t>
            </a:r>
          </a:p>
        </p:txBody>
      </p:sp>
      <p:cxnSp>
        <p:nvCxnSpPr>
          <p:cNvPr id="91" name="Straight Arrow Connector 90">
            <a:extLst>
              <a:ext uri="{FF2B5EF4-FFF2-40B4-BE49-F238E27FC236}">
                <a16:creationId xmlns:a16="http://schemas.microsoft.com/office/drawing/2014/main" id="{B5A8FF9A-A66B-42DC-97B6-B5E04E3A0B8B}"/>
              </a:ext>
            </a:extLst>
          </p:cNvPr>
          <p:cNvCxnSpPr>
            <a:stCxn id="89" idx="3"/>
            <a:endCxn id="39" idx="1"/>
          </p:cNvCxnSpPr>
          <p:nvPr/>
        </p:nvCxnSpPr>
        <p:spPr>
          <a:xfrm flipV="1">
            <a:off x="1066800" y="2743199"/>
            <a:ext cx="914852" cy="8588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182D31EB-95C5-462B-BDE1-AE8798841F17}"/>
              </a:ext>
            </a:extLst>
          </p:cNvPr>
          <p:cNvCxnSpPr>
            <a:stCxn id="39" idx="3"/>
            <a:endCxn id="41" idx="1"/>
          </p:cNvCxnSpPr>
          <p:nvPr/>
        </p:nvCxnSpPr>
        <p:spPr>
          <a:xfrm flipV="1">
            <a:off x="2896052" y="2438399"/>
            <a:ext cx="6096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CE88BB3F-1821-4B40-8504-56C2F21CC348}"/>
              </a:ext>
            </a:extLst>
          </p:cNvPr>
          <p:cNvCxnSpPr>
            <a:endCxn id="40" idx="1"/>
          </p:cNvCxnSpPr>
          <p:nvPr/>
        </p:nvCxnSpPr>
        <p:spPr>
          <a:xfrm>
            <a:off x="1066800" y="3962399"/>
            <a:ext cx="914852" cy="457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92CC844F-5C47-4D75-9DE6-2CDEF2DB78B2}"/>
              </a:ext>
            </a:extLst>
          </p:cNvPr>
          <p:cNvCxnSpPr>
            <a:stCxn id="39" idx="3"/>
            <a:endCxn id="43" idx="1"/>
          </p:cNvCxnSpPr>
          <p:nvPr/>
        </p:nvCxnSpPr>
        <p:spPr>
          <a:xfrm>
            <a:off x="2896052" y="2743199"/>
            <a:ext cx="609600" cy="1371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D3BB35AD-8E1A-44A7-BDF9-B204836F906B}"/>
              </a:ext>
            </a:extLst>
          </p:cNvPr>
          <p:cNvCxnSpPr>
            <a:stCxn id="40" idx="3"/>
            <a:endCxn id="43" idx="1"/>
          </p:cNvCxnSpPr>
          <p:nvPr/>
        </p:nvCxnSpPr>
        <p:spPr>
          <a:xfrm flipV="1">
            <a:off x="2896052" y="4114799"/>
            <a:ext cx="6096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B569A0B-E62D-4B16-9C53-C69A4271CA0D}"/>
              </a:ext>
            </a:extLst>
          </p:cNvPr>
          <p:cNvCxnSpPr>
            <a:stCxn id="41" idx="3"/>
            <a:endCxn id="46" idx="1"/>
          </p:cNvCxnSpPr>
          <p:nvPr/>
        </p:nvCxnSpPr>
        <p:spPr>
          <a:xfrm>
            <a:off x="4420052" y="2438399"/>
            <a:ext cx="381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3F03C63D-3BA5-4094-9DE3-04370C83DD16}"/>
              </a:ext>
            </a:extLst>
          </p:cNvPr>
          <p:cNvCxnSpPr>
            <a:stCxn id="46" idx="3"/>
            <a:endCxn id="45" idx="1"/>
          </p:cNvCxnSpPr>
          <p:nvPr/>
        </p:nvCxnSpPr>
        <p:spPr>
          <a:xfrm>
            <a:off x="5715452" y="2438399"/>
            <a:ext cx="381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7D8A9816-5363-4CDF-886F-ADA103B141F5}"/>
              </a:ext>
            </a:extLst>
          </p:cNvPr>
          <p:cNvCxnSpPr>
            <a:stCxn id="45" idx="3"/>
            <a:endCxn id="44" idx="1"/>
          </p:cNvCxnSpPr>
          <p:nvPr/>
        </p:nvCxnSpPr>
        <p:spPr>
          <a:xfrm>
            <a:off x="7010852" y="2438399"/>
            <a:ext cx="381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2F975788-D9C2-47F0-BA9F-ED95327B4191}"/>
              </a:ext>
            </a:extLst>
          </p:cNvPr>
          <p:cNvCxnSpPr>
            <a:stCxn id="44" idx="2"/>
            <a:endCxn id="90" idx="0"/>
          </p:cNvCxnSpPr>
          <p:nvPr/>
        </p:nvCxnSpPr>
        <p:spPr>
          <a:xfrm>
            <a:off x="7849052" y="2895599"/>
            <a:ext cx="745646"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297B92A1-E64A-48F2-B1F1-B3CD5093BAC2}"/>
              </a:ext>
            </a:extLst>
          </p:cNvPr>
          <p:cNvCxnSpPr>
            <a:stCxn id="43" idx="3"/>
            <a:endCxn id="47" idx="1"/>
          </p:cNvCxnSpPr>
          <p:nvPr/>
        </p:nvCxnSpPr>
        <p:spPr>
          <a:xfrm>
            <a:off x="4420052" y="4114799"/>
            <a:ext cx="457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4B4624CC-977C-41DD-8F5E-C4A5E1E56BF7}"/>
              </a:ext>
            </a:extLst>
          </p:cNvPr>
          <p:cNvCxnSpPr>
            <a:stCxn id="47" idx="3"/>
          </p:cNvCxnSpPr>
          <p:nvPr/>
        </p:nvCxnSpPr>
        <p:spPr>
          <a:xfrm>
            <a:off x="5791652" y="4114799"/>
            <a:ext cx="234584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C2203C9E-F1D3-4A8D-B66F-6AF3B1CC91CB}"/>
              </a:ext>
            </a:extLst>
          </p:cNvPr>
          <p:cNvCxnSpPr/>
          <p:nvPr/>
        </p:nvCxnSpPr>
        <p:spPr>
          <a:xfrm flipV="1">
            <a:off x="4445452" y="2895599"/>
            <a:ext cx="381000" cy="762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6735536"/>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title"/>
          </p:nvPr>
        </p:nvSpPr>
        <p:spPr>
          <a:xfrm>
            <a:off x="609600" y="304800"/>
            <a:ext cx="8077200" cy="1143000"/>
          </a:xfrm>
        </p:spPr>
        <p:txBody>
          <a:bodyPr/>
          <a:lstStyle/>
          <a:p>
            <a:r>
              <a:rPr lang="en-US" altLang="en-US"/>
              <a:t>Critical Path Calculation (cont.)</a:t>
            </a:r>
          </a:p>
        </p:txBody>
      </p:sp>
      <p:sp>
        <p:nvSpPr>
          <p:cNvPr id="103" name="Rectangle 102">
            <a:extLst>
              <a:ext uri="{FF2B5EF4-FFF2-40B4-BE49-F238E27FC236}">
                <a16:creationId xmlns:a16="http://schemas.microsoft.com/office/drawing/2014/main" id="{62414313-F1AA-4064-AA37-B718F518CB38}"/>
              </a:ext>
            </a:extLst>
          </p:cNvPr>
          <p:cNvSpPr/>
          <p:nvPr/>
        </p:nvSpPr>
        <p:spPr>
          <a:xfrm>
            <a:off x="1893577" y="22017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D</a:t>
            </a:r>
          </a:p>
        </p:txBody>
      </p:sp>
      <p:sp>
        <p:nvSpPr>
          <p:cNvPr id="104" name="Rectangle 103">
            <a:extLst>
              <a:ext uri="{FF2B5EF4-FFF2-40B4-BE49-F238E27FC236}">
                <a16:creationId xmlns:a16="http://schemas.microsoft.com/office/drawing/2014/main" id="{C13C5EA7-FA8A-4D6B-8759-BF0864FEBFF0}"/>
              </a:ext>
            </a:extLst>
          </p:cNvPr>
          <p:cNvSpPr/>
          <p:nvPr/>
        </p:nvSpPr>
        <p:spPr>
          <a:xfrm>
            <a:off x="1893577" y="38781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A</a:t>
            </a:r>
          </a:p>
        </p:txBody>
      </p:sp>
      <p:sp>
        <p:nvSpPr>
          <p:cNvPr id="105" name="Rectangle 104">
            <a:extLst>
              <a:ext uri="{FF2B5EF4-FFF2-40B4-BE49-F238E27FC236}">
                <a16:creationId xmlns:a16="http://schemas.microsoft.com/office/drawing/2014/main" id="{3EAB3A6A-00E2-4DE0-87BE-255377796327}"/>
              </a:ext>
            </a:extLst>
          </p:cNvPr>
          <p:cNvSpPr/>
          <p:nvPr/>
        </p:nvSpPr>
        <p:spPr>
          <a:xfrm>
            <a:off x="3417577" y="18969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E</a:t>
            </a:r>
          </a:p>
        </p:txBody>
      </p:sp>
      <p:sp>
        <p:nvSpPr>
          <p:cNvPr id="106" name="Rectangle 105">
            <a:extLst>
              <a:ext uri="{FF2B5EF4-FFF2-40B4-BE49-F238E27FC236}">
                <a16:creationId xmlns:a16="http://schemas.microsoft.com/office/drawing/2014/main" id="{2B4A157D-B8BF-41D3-82D6-6C5EFBA74062}"/>
              </a:ext>
            </a:extLst>
          </p:cNvPr>
          <p:cNvSpPr/>
          <p:nvPr/>
        </p:nvSpPr>
        <p:spPr>
          <a:xfrm>
            <a:off x="3417577" y="35733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F</a:t>
            </a:r>
          </a:p>
        </p:txBody>
      </p:sp>
      <p:sp>
        <p:nvSpPr>
          <p:cNvPr id="107" name="Rectangle 106">
            <a:extLst>
              <a:ext uri="{FF2B5EF4-FFF2-40B4-BE49-F238E27FC236}">
                <a16:creationId xmlns:a16="http://schemas.microsoft.com/office/drawing/2014/main" id="{37DC7DDD-24C1-4646-AB14-4D45E21CD12C}"/>
              </a:ext>
            </a:extLst>
          </p:cNvPr>
          <p:cNvSpPr/>
          <p:nvPr/>
        </p:nvSpPr>
        <p:spPr>
          <a:xfrm>
            <a:off x="7303777" y="18969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C</a:t>
            </a:r>
          </a:p>
        </p:txBody>
      </p:sp>
      <p:sp>
        <p:nvSpPr>
          <p:cNvPr id="108" name="Rectangle 107">
            <a:extLst>
              <a:ext uri="{FF2B5EF4-FFF2-40B4-BE49-F238E27FC236}">
                <a16:creationId xmlns:a16="http://schemas.microsoft.com/office/drawing/2014/main" id="{73FE2004-EF7D-49E1-B030-8715F98E7945}"/>
              </a:ext>
            </a:extLst>
          </p:cNvPr>
          <p:cNvSpPr/>
          <p:nvPr/>
        </p:nvSpPr>
        <p:spPr>
          <a:xfrm>
            <a:off x="6008377" y="18969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H</a:t>
            </a:r>
          </a:p>
        </p:txBody>
      </p:sp>
      <p:sp>
        <p:nvSpPr>
          <p:cNvPr id="109" name="Rectangle 108">
            <a:extLst>
              <a:ext uri="{FF2B5EF4-FFF2-40B4-BE49-F238E27FC236}">
                <a16:creationId xmlns:a16="http://schemas.microsoft.com/office/drawing/2014/main" id="{C472E7E8-EB37-43C2-8C49-543FC6ACD628}"/>
              </a:ext>
            </a:extLst>
          </p:cNvPr>
          <p:cNvSpPr/>
          <p:nvPr/>
        </p:nvSpPr>
        <p:spPr>
          <a:xfrm>
            <a:off x="4712977" y="18969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G</a:t>
            </a:r>
          </a:p>
        </p:txBody>
      </p:sp>
      <p:sp>
        <p:nvSpPr>
          <p:cNvPr id="110" name="Rectangle 109">
            <a:extLst>
              <a:ext uri="{FF2B5EF4-FFF2-40B4-BE49-F238E27FC236}">
                <a16:creationId xmlns:a16="http://schemas.microsoft.com/office/drawing/2014/main" id="{F0450793-F0F0-41CD-AB24-AFD6B0419647}"/>
              </a:ext>
            </a:extLst>
          </p:cNvPr>
          <p:cNvSpPr/>
          <p:nvPr/>
        </p:nvSpPr>
        <p:spPr>
          <a:xfrm>
            <a:off x="4789177" y="3573397"/>
            <a:ext cx="914400" cy="914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dirty="0">
                <a:latin typeface="Calibri" pitchFamily="34" charset="0"/>
              </a:rPr>
              <a:t>B</a:t>
            </a:r>
          </a:p>
        </p:txBody>
      </p:sp>
      <p:sp>
        <p:nvSpPr>
          <p:cNvPr id="111" name="Rectangle 42">
            <a:extLst>
              <a:ext uri="{FF2B5EF4-FFF2-40B4-BE49-F238E27FC236}">
                <a16:creationId xmlns:a16="http://schemas.microsoft.com/office/drawing/2014/main" id="{AFA6B75F-742A-49CB-8C35-A7EA803D7806}"/>
              </a:ext>
            </a:extLst>
          </p:cNvPr>
          <p:cNvSpPr>
            <a:spLocks noChangeArrowheads="1"/>
          </p:cNvSpPr>
          <p:nvPr/>
        </p:nvSpPr>
        <p:spPr bwMode="auto">
          <a:xfrm>
            <a:off x="2426977" y="38781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3</a:t>
            </a:r>
          </a:p>
        </p:txBody>
      </p:sp>
      <p:sp>
        <p:nvSpPr>
          <p:cNvPr id="112" name="Rectangle 43">
            <a:extLst>
              <a:ext uri="{FF2B5EF4-FFF2-40B4-BE49-F238E27FC236}">
                <a16:creationId xmlns:a16="http://schemas.microsoft.com/office/drawing/2014/main" id="{00B48DEC-D014-4DBB-911E-9C4664913D5F}"/>
              </a:ext>
            </a:extLst>
          </p:cNvPr>
          <p:cNvSpPr>
            <a:spLocks noChangeArrowheads="1"/>
          </p:cNvSpPr>
          <p:nvPr/>
        </p:nvSpPr>
        <p:spPr bwMode="auto">
          <a:xfrm>
            <a:off x="5322578" y="3573398"/>
            <a:ext cx="366713"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16</a:t>
            </a:r>
          </a:p>
        </p:txBody>
      </p:sp>
      <p:sp>
        <p:nvSpPr>
          <p:cNvPr id="113" name="Rectangle 44">
            <a:extLst>
              <a:ext uri="{FF2B5EF4-FFF2-40B4-BE49-F238E27FC236}">
                <a16:creationId xmlns:a16="http://schemas.microsoft.com/office/drawing/2014/main" id="{A25FB7DF-6A63-46CC-9A2F-D076C74900A4}"/>
              </a:ext>
            </a:extLst>
          </p:cNvPr>
          <p:cNvSpPr>
            <a:spLocks noChangeArrowheads="1"/>
          </p:cNvSpPr>
          <p:nvPr/>
        </p:nvSpPr>
        <p:spPr bwMode="auto">
          <a:xfrm>
            <a:off x="3417577" y="35733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5</a:t>
            </a:r>
          </a:p>
        </p:txBody>
      </p:sp>
      <p:sp>
        <p:nvSpPr>
          <p:cNvPr id="114" name="Rectangle 42">
            <a:extLst>
              <a:ext uri="{FF2B5EF4-FFF2-40B4-BE49-F238E27FC236}">
                <a16:creationId xmlns:a16="http://schemas.microsoft.com/office/drawing/2014/main" id="{D28EF173-ECF8-4902-ADFC-0DC6E32CCAAF}"/>
              </a:ext>
            </a:extLst>
          </p:cNvPr>
          <p:cNvSpPr>
            <a:spLocks noChangeArrowheads="1"/>
          </p:cNvSpPr>
          <p:nvPr/>
        </p:nvSpPr>
        <p:spPr bwMode="auto">
          <a:xfrm>
            <a:off x="1893577" y="38781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1</a:t>
            </a:r>
          </a:p>
        </p:txBody>
      </p:sp>
      <p:sp>
        <p:nvSpPr>
          <p:cNvPr id="115" name="Rectangle 42">
            <a:extLst>
              <a:ext uri="{FF2B5EF4-FFF2-40B4-BE49-F238E27FC236}">
                <a16:creationId xmlns:a16="http://schemas.microsoft.com/office/drawing/2014/main" id="{06A05B61-D14B-4CBF-AB96-E02B10FC26AF}"/>
              </a:ext>
            </a:extLst>
          </p:cNvPr>
          <p:cNvSpPr>
            <a:spLocks noChangeArrowheads="1"/>
          </p:cNvSpPr>
          <p:nvPr/>
        </p:nvSpPr>
        <p:spPr bwMode="auto">
          <a:xfrm>
            <a:off x="2434915" y="44846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5</a:t>
            </a:r>
          </a:p>
        </p:txBody>
      </p:sp>
      <p:sp>
        <p:nvSpPr>
          <p:cNvPr id="116" name="Rectangle 42">
            <a:extLst>
              <a:ext uri="{FF2B5EF4-FFF2-40B4-BE49-F238E27FC236}">
                <a16:creationId xmlns:a16="http://schemas.microsoft.com/office/drawing/2014/main" id="{E5BAC00F-0164-49CB-A2EB-0774006FE334}"/>
              </a:ext>
            </a:extLst>
          </p:cNvPr>
          <p:cNvSpPr>
            <a:spLocks noChangeArrowheads="1"/>
          </p:cNvSpPr>
          <p:nvPr/>
        </p:nvSpPr>
        <p:spPr bwMode="auto">
          <a:xfrm>
            <a:off x="1893577" y="44846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3</a:t>
            </a:r>
          </a:p>
        </p:txBody>
      </p:sp>
      <p:sp>
        <p:nvSpPr>
          <p:cNvPr id="117" name="Rectangle 44">
            <a:extLst>
              <a:ext uri="{FF2B5EF4-FFF2-40B4-BE49-F238E27FC236}">
                <a16:creationId xmlns:a16="http://schemas.microsoft.com/office/drawing/2014/main" id="{61EE29ED-D437-4278-9A6C-80AEF9C34CC9}"/>
              </a:ext>
            </a:extLst>
          </p:cNvPr>
          <p:cNvSpPr>
            <a:spLocks noChangeArrowheads="1"/>
          </p:cNvSpPr>
          <p:nvPr/>
        </p:nvSpPr>
        <p:spPr bwMode="auto">
          <a:xfrm>
            <a:off x="3950977" y="4179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13</a:t>
            </a:r>
          </a:p>
        </p:txBody>
      </p:sp>
      <p:sp>
        <p:nvSpPr>
          <p:cNvPr id="118" name="Rectangle 44">
            <a:extLst>
              <a:ext uri="{FF2B5EF4-FFF2-40B4-BE49-F238E27FC236}">
                <a16:creationId xmlns:a16="http://schemas.microsoft.com/office/drawing/2014/main" id="{2171AC52-7D35-48E7-9468-7C1E83FEE8D7}"/>
              </a:ext>
            </a:extLst>
          </p:cNvPr>
          <p:cNvSpPr>
            <a:spLocks noChangeArrowheads="1"/>
          </p:cNvSpPr>
          <p:nvPr/>
        </p:nvSpPr>
        <p:spPr bwMode="auto">
          <a:xfrm>
            <a:off x="3965265" y="3584511"/>
            <a:ext cx="366712"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12</a:t>
            </a:r>
          </a:p>
        </p:txBody>
      </p:sp>
      <p:sp>
        <p:nvSpPr>
          <p:cNvPr id="119" name="Rectangle 44">
            <a:extLst>
              <a:ext uri="{FF2B5EF4-FFF2-40B4-BE49-F238E27FC236}">
                <a16:creationId xmlns:a16="http://schemas.microsoft.com/office/drawing/2014/main" id="{A9AB0928-0117-4CF0-8608-42C33F8665E2}"/>
              </a:ext>
            </a:extLst>
          </p:cNvPr>
          <p:cNvSpPr>
            <a:spLocks noChangeArrowheads="1"/>
          </p:cNvSpPr>
          <p:nvPr/>
        </p:nvSpPr>
        <p:spPr bwMode="auto">
          <a:xfrm>
            <a:off x="3417577" y="4179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6</a:t>
            </a:r>
          </a:p>
        </p:txBody>
      </p:sp>
      <p:sp>
        <p:nvSpPr>
          <p:cNvPr id="120" name="Rectangle 43">
            <a:extLst>
              <a:ext uri="{FF2B5EF4-FFF2-40B4-BE49-F238E27FC236}">
                <a16:creationId xmlns:a16="http://schemas.microsoft.com/office/drawing/2014/main" id="{C8E34EEF-C4D1-4327-9503-E15BDEF05064}"/>
              </a:ext>
            </a:extLst>
          </p:cNvPr>
          <p:cNvSpPr>
            <a:spLocks noChangeArrowheads="1"/>
          </p:cNvSpPr>
          <p:nvPr/>
        </p:nvSpPr>
        <p:spPr bwMode="auto">
          <a:xfrm>
            <a:off x="4789177" y="3573398"/>
            <a:ext cx="367408"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1400" dirty="0">
                <a:latin typeface="Calibri" pitchFamily="34" charset="0"/>
              </a:rPr>
              <a:t>13</a:t>
            </a:r>
          </a:p>
        </p:txBody>
      </p:sp>
      <p:sp>
        <p:nvSpPr>
          <p:cNvPr id="121" name="Rectangle 43">
            <a:extLst>
              <a:ext uri="{FF2B5EF4-FFF2-40B4-BE49-F238E27FC236}">
                <a16:creationId xmlns:a16="http://schemas.microsoft.com/office/drawing/2014/main" id="{9E9A97BF-AA09-4381-BAFE-77AE839C6570}"/>
              </a:ext>
            </a:extLst>
          </p:cNvPr>
          <p:cNvSpPr>
            <a:spLocks noChangeArrowheads="1"/>
          </p:cNvSpPr>
          <p:nvPr/>
        </p:nvSpPr>
        <p:spPr bwMode="auto">
          <a:xfrm>
            <a:off x="5322577" y="4179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26</a:t>
            </a:r>
          </a:p>
        </p:txBody>
      </p:sp>
      <p:sp>
        <p:nvSpPr>
          <p:cNvPr id="122" name="Title 65">
            <a:extLst>
              <a:ext uri="{FF2B5EF4-FFF2-40B4-BE49-F238E27FC236}">
                <a16:creationId xmlns:a16="http://schemas.microsoft.com/office/drawing/2014/main" id="{44900B3E-64C0-4F95-8E88-A81F91E6F89B}"/>
              </a:ext>
            </a:extLst>
          </p:cNvPr>
          <p:cNvSpPr txBox="1">
            <a:spLocks/>
          </p:cNvSpPr>
          <p:nvPr/>
        </p:nvSpPr>
        <p:spPr>
          <a:xfrm>
            <a:off x="1893577" y="1668398"/>
            <a:ext cx="838200" cy="612775"/>
          </a:xfrm>
          <a:prstGeom prst="rect">
            <a:avLst/>
          </a:prstGeom>
        </p:spPr>
        <p:txBody>
          <a:bodyPr anchor="ctr">
            <a:normAutofit/>
          </a:bodyPr>
          <a:lstStyle/>
          <a:p>
            <a:pPr algn="ctr">
              <a:defRPr/>
            </a:pPr>
            <a:r>
              <a:rPr lang="en-US" dirty="0">
                <a:latin typeface="Calibri" pitchFamily="34" charset="0"/>
                <a:ea typeface="+mj-ea"/>
                <a:cs typeface="+mj-cs"/>
              </a:rPr>
              <a:t>4</a:t>
            </a:r>
          </a:p>
        </p:txBody>
      </p:sp>
      <p:sp>
        <p:nvSpPr>
          <p:cNvPr id="123" name="Title 65">
            <a:extLst>
              <a:ext uri="{FF2B5EF4-FFF2-40B4-BE49-F238E27FC236}">
                <a16:creationId xmlns:a16="http://schemas.microsoft.com/office/drawing/2014/main" id="{C74CF149-B658-4BB0-90BE-D913120B8ACD}"/>
              </a:ext>
            </a:extLst>
          </p:cNvPr>
          <p:cNvSpPr txBox="1">
            <a:spLocks/>
          </p:cNvSpPr>
          <p:nvPr/>
        </p:nvSpPr>
        <p:spPr>
          <a:xfrm>
            <a:off x="4789177" y="1439798"/>
            <a:ext cx="838200" cy="612775"/>
          </a:xfrm>
          <a:prstGeom prst="rect">
            <a:avLst/>
          </a:prstGeom>
        </p:spPr>
        <p:txBody>
          <a:bodyPr anchor="ctr">
            <a:normAutofit/>
          </a:bodyPr>
          <a:lstStyle/>
          <a:p>
            <a:pPr algn="ctr">
              <a:defRPr/>
            </a:pPr>
            <a:r>
              <a:rPr lang="en-US" dirty="0">
                <a:latin typeface="Calibri" pitchFamily="34" charset="0"/>
                <a:ea typeface="+mj-ea"/>
                <a:cs typeface="+mj-cs"/>
              </a:rPr>
              <a:t>4</a:t>
            </a:r>
          </a:p>
        </p:txBody>
      </p:sp>
      <p:sp>
        <p:nvSpPr>
          <p:cNvPr id="124" name="Title 65">
            <a:extLst>
              <a:ext uri="{FF2B5EF4-FFF2-40B4-BE49-F238E27FC236}">
                <a16:creationId xmlns:a16="http://schemas.microsoft.com/office/drawing/2014/main" id="{492D90E3-0FD2-4091-978A-AA5F88D1165C}"/>
              </a:ext>
            </a:extLst>
          </p:cNvPr>
          <p:cNvSpPr txBox="1">
            <a:spLocks/>
          </p:cNvSpPr>
          <p:nvPr/>
        </p:nvSpPr>
        <p:spPr>
          <a:xfrm>
            <a:off x="6008377" y="1439798"/>
            <a:ext cx="838200" cy="612775"/>
          </a:xfrm>
          <a:prstGeom prst="rect">
            <a:avLst/>
          </a:prstGeom>
        </p:spPr>
        <p:txBody>
          <a:bodyPr anchor="ctr">
            <a:normAutofit/>
          </a:bodyPr>
          <a:lstStyle/>
          <a:p>
            <a:pPr algn="ctr">
              <a:defRPr/>
            </a:pPr>
            <a:r>
              <a:rPr lang="en-US" dirty="0">
                <a:latin typeface="Calibri" pitchFamily="34" charset="0"/>
                <a:ea typeface="+mj-ea"/>
                <a:cs typeface="+mj-cs"/>
              </a:rPr>
              <a:t>2</a:t>
            </a:r>
          </a:p>
        </p:txBody>
      </p:sp>
      <p:sp>
        <p:nvSpPr>
          <p:cNvPr id="125" name="Title 65">
            <a:extLst>
              <a:ext uri="{FF2B5EF4-FFF2-40B4-BE49-F238E27FC236}">
                <a16:creationId xmlns:a16="http://schemas.microsoft.com/office/drawing/2014/main" id="{FB3FA410-E5AB-4AD5-B437-E809E5D251EB}"/>
              </a:ext>
            </a:extLst>
          </p:cNvPr>
          <p:cNvSpPr txBox="1">
            <a:spLocks/>
          </p:cNvSpPr>
          <p:nvPr/>
        </p:nvSpPr>
        <p:spPr>
          <a:xfrm>
            <a:off x="7303777" y="1439798"/>
            <a:ext cx="838200" cy="612775"/>
          </a:xfrm>
          <a:prstGeom prst="rect">
            <a:avLst/>
          </a:prstGeom>
        </p:spPr>
        <p:txBody>
          <a:bodyPr anchor="ctr">
            <a:normAutofit/>
          </a:bodyPr>
          <a:lstStyle/>
          <a:p>
            <a:pPr algn="ctr">
              <a:defRPr/>
            </a:pPr>
            <a:r>
              <a:rPr lang="en-US" dirty="0">
                <a:latin typeface="Calibri" pitchFamily="34" charset="0"/>
                <a:ea typeface="+mj-ea"/>
                <a:cs typeface="+mj-cs"/>
              </a:rPr>
              <a:t>7</a:t>
            </a:r>
          </a:p>
        </p:txBody>
      </p:sp>
      <p:sp>
        <p:nvSpPr>
          <p:cNvPr id="126" name="Title 65">
            <a:extLst>
              <a:ext uri="{FF2B5EF4-FFF2-40B4-BE49-F238E27FC236}">
                <a16:creationId xmlns:a16="http://schemas.microsoft.com/office/drawing/2014/main" id="{DB0DDBA5-8564-4096-BCD4-D54E8D5D39E7}"/>
              </a:ext>
            </a:extLst>
          </p:cNvPr>
          <p:cNvSpPr txBox="1">
            <a:spLocks/>
          </p:cNvSpPr>
          <p:nvPr/>
        </p:nvSpPr>
        <p:spPr>
          <a:xfrm>
            <a:off x="1969777" y="3341623"/>
            <a:ext cx="838200" cy="612775"/>
          </a:xfrm>
          <a:prstGeom prst="rect">
            <a:avLst/>
          </a:prstGeom>
        </p:spPr>
        <p:txBody>
          <a:bodyPr anchor="ctr">
            <a:normAutofit/>
          </a:bodyPr>
          <a:lstStyle/>
          <a:p>
            <a:pPr algn="ctr">
              <a:defRPr/>
            </a:pPr>
            <a:r>
              <a:rPr lang="en-US" dirty="0">
                <a:latin typeface="Calibri" pitchFamily="34" charset="0"/>
                <a:ea typeface="+mj-ea"/>
                <a:cs typeface="+mj-cs"/>
              </a:rPr>
              <a:t>3</a:t>
            </a:r>
          </a:p>
        </p:txBody>
      </p:sp>
      <p:sp>
        <p:nvSpPr>
          <p:cNvPr id="127" name="Title 65">
            <a:extLst>
              <a:ext uri="{FF2B5EF4-FFF2-40B4-BE49-F238E27FC236}">
                <a16:creationId xmlns:a16="http://schemas.microsoft.com/office/drawing/2014/main" id="{1C9777AC-3949-4A74-BA5A-61B4F631C7C2}"/>
              </a:ext>
            </a:extLst>
          </p:cNvPr>
          <p:cNvSpPr txBox="1">
            <a:spLocks/>
          </p:cNvSpPr>
          <p:nvPr/>
        </p:nvSpPr>
        <p:spPr>
          <a:xfrm>
            <a:off x="3417577" y="3113023"/>
            <a:ext cx="838200" cy="612775"/>
          </a:xfrm>
          <a:prstGeom prst="rect">
            <a:avLst/>
          </a:prstGeom>
        </p:spPr>
        <p:txBody>
          <a:bodyPr anchor="ctr">
            <a:normAutofit/>
          </a:bodyPr>
          <a:lstStyle/>
          <a:p>
            <a:pPr algn="ctr">
              <a:defRPr/>
            </a:pPr>
            <a:r>
              <a:rPr lang="en-US" dirty="0">
                <a:latin typeface="Calibri" pitchFamily="34" charset="0"/>
                <a:ea typeface="+mj-ea"/>
                <a:cs typeface="+mj-cs"/>
              </a:rPr>
              <a:t>8</a:t>
            </a:r>
          </a:p>
        </p:txBody>
      </p:sp>
      <p:sp>
        <p:nvSpPr>
          <p:cNvPr id="128" name="Title 65">
            <a:extLst>
              <a:ext uri="{FF2B5EF4-FFF2-40B4-BE49-F238E27FC236}">
                <a16:creationId xmlns:a16="http://schemas.microsoft.com/office/drawing/2014/main" id="{77E319CC-7665-4B0A-AA53-CB16E62A629A}"/>
              </a:ext>
            </a:extLst>
          </p:cNvPr>
          <p:cNvSpPr txBox="1">
            <a:spLocks/>
          </p:cNvSpPr>
          <p:nvPr/>
        </p:nvSpPr>
        <p:spPr>
          <a:xfrm>
            <a:off x="4789177" y="3113023"/>
            <a:ext cx="838200" cy="612775"/>
          </a:xfrm>
          <a:prstGeom prst="rect">
            <a:avLst/>
          </a:prstGeom>
        </p:spPr>
        <p:txBody>
          <a:bodyPr anchor="ctr">
            <a:normAutofit/>
          </a:bodyPr>
          <a:lstStyle/>
          <a:p>
            <a:pPr algn="ctr">
              <a:defRPr/>
            </a:pPr>
            <a:r>
              <a:rPr lang="en-US" dirty="0">
                <a:latin typeface="Calibri" pitchFamily="34" charset="0"/>
                <a:ea typeface="+mj-ea"/>
                <a:cs typeface="+mj-cs"/>
              </a:rPr>
              <a:t>4</a:t>
            </a:r>
          </a:p>
        </p:txBody>
      </p:sp>
      <p:sp>
        <p:nvSpPr>
          <p:cNvPr id="129" name="Title 65">
            <a:extLst>
              <a:ext uri="{FF2B5EF4-FFF2-40B4-BE49-F238E27FC236}">
                <a16:creationId xmlns:a16="http://schemas.microsoft.com/office/drawing/2014/main" id="{37A97631-7EE7-48D2-8233-C0FC3ECD73F6}"/>
              </a:ext>
            </a:extLst>
          </p:cNvPr>
          <p:cNvSpPr txBox="1">
            <a:spLocks/>
          </p:cNvSpPr>
          <p:nvPr/>
        </p:nvSpPr>
        <p:spPr>
          <a:xfrm>
            <a:off x="3493777" y="1439798"/>
            <a:ext cx="838200" cy="612775"/>
          </a:xfrm>
          <a:prstGeom prst="rect">
            <a:avLst/>
          </a:prstGeom>
        </p:spPr>
        <p:txBody>
          <a:bodyPr anchor="ctr">
            <a:normAutofit/>
          </a:bodyPr>
          <a:lstStyle/>
          <a:p>
            <a:pPr algn="ctr">
              <a:defRPr/>
            </a:pPr>
            <a:r>
              <a:rPr lang="en-US" dirty="0">
                <a:latin typeface="Calibri" pitchFamily="34" charset="0"/>
                <a:ea typeface="+mj-ea"/>
                <a:cs typeface="+mj-cs"/>
              </a:rPr>
              <a:t>9</a:t>
            </a:r>
          </a:p>
        </p:txBody>
      </p:sp>
      <p:sp>
        <p:nvSpPr>
          <p:cNvPr id="130" name="Rectangle 42">
            <a:extLst>
              <a:ext uri="{FF2B5EF4-FFF2-40B4-BE49-F238E27FC236}">
                <a16:creationId xmlns:a16="http://schemas.microsoft.com/office/drawing/2014/main" id="{2FF75EC2-5559-4BE2-8FF8-61218C0CDBF5}"/>
              </a:ext>
            </a:extLst>
          </p:cNvPr>
          <p:cNvSpPr>
            <a:spLocks noChangeArrowheads="1"/>
          </p:cNvSpPr>
          <p:nvPr/>
        </p:nvSpPr>
        <p:spPr bwMode="auto">
          <a:xfrm>
            <a:off x="2426977" y="21986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4</a:t>
            </a:r>
          </a:p>
        </p:txBody>
      </p:sp>
      <p:sp>
        <p:nvSpPr>
          <p:cNvPr id="131" name="Rectangle 42">
            <a:extLst>
              <a:ext uri="{FF2B5EF4-FFF2-40B4-BE49-F238E27FC236}">
                <a16:creationId xmlns:a16="http://schemas.microsoft.com/office/drawing/2014/main" id="{67013955-5B40-4077-887B-11FF6BD38A4E}"/>
              </a:ext>
            </a:extLst>
          </p:cNvPr>
          <p:cNvSpPr>
            <a:spLocks noChangeArrowheads="1"/>
          </p:cNvSpPr>
          <p:nvPr/>
        </p:nvSpPr>
        <p:spPr bwMode="auto">
          <a:xfrm>
            <a:off x="2426977" y="28082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4</a:t>
            </a:r>
          </a:p>
        </p:txBody>
      </p:sp>
      <p:sp>
        <p:nvSpPr>
          <p:cNvPr id="132" name="Rectangle 42">
            <a:extLst>
              <a:ext uri="{FF2B5EF4-FFF2-40B4-BE49-F238E27FC236}">
                <a16:creationId xmlns:a16="http://schemas.microsoft.com/office/drawing/2014/main" id="{A0BD1DEF-B92F-44F2-BF13-73E56A2C3443}"/>
              </a:ext>
            </a:extLst>
          </p:cNvPr>
          <p:cNvSpPr>
            <a:spLocks noChangeArrowheads="1"/>
          </p:cNvSpPr>
          <p:nvPr/>
        </p:nvSpPr>
        <p:spPr bwMode="auto">
          <a:xfrm>
            <a:off x="1893577" y="22017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1</a:t>
            </a:r>
          </a:p>
        </p:txBody>
      </p:sp>
      <p:sp>
        <p:nvSpPr>
          <p:cNvPr id="133" name="Rectangle 42">
            <a:extLst>
              <a:ext uri="{FF2B5EF4-FFF2-40B4-BE49-F238E27FC236}">
                <a16:creationId xmlns:a16="http://schemas.microsoft.com/office/drawing/2014/main" id="{FE98E1CA-B883-4C4F-AAEC-C8421F9B2155}"/>
              </a:ext>
            </a:extLst>
          </p:cNvPr>
          <p:cNvSpPr>
            <a:spLocks noChangeArrowheads="1"/>
          </p:cNvSpPr>
          <p:nvPr/>
        </p:nvSpPr>
        <p:spPr bwMode="auto">
          <a:xfrm>
            <a:off x="1893577" y="28113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 1</a:t>
            </a:r>
          </a:p>
        </p:txBody>
      </p:sp>
      <p:sp>
        <p:nvSpPr>
          <p:cNvPr id="134" name="Rectangle 42">
            <a:extLst>
              <a:ext uri="{FF2B5EF4-FFF2-40B4-BE49-F238E27FC236}">
                <a16:creationId xmlns:a16="http://schemas.microsoft.com/office/drawing/2014/main" id="{81CD8319-CC39-407E-87FC-758C1D6253A4}"/>
              </a:ext>
            </a:extLst>
          </p:cNvPr>
          <p:cNvSpPr>
            <a:spLocks noChangeArrowheads="1"/>
          </p:cNvSpPr>
          <p:nvPr/>
        </p:nvSpPr>
        <p:spPr bwMode="auto">
          <a:xfrm>
            <a:off x="39509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13</a:t>
            </a:r>
          </a:p>
        </p:txBody>
      </p:sp>
      <p:sp>
        <p:nvSpPr>
          <p:cNvPr id="135" name="Rectangle 42">
            <a:extLst>
              <a:ext uri="{FF2B5EF4-FFF2-40B4-BE49-F238E27FC236}">
                <a16:creationId xmlns:a16="http://schemas.microsoft.com/office/drawing/2014/main" id="{E3305767-DC9F-4A2D-B0EF-E5E159CC7D1D}"/>
              </a:ext>
            </a:extLst>
          </p:cNvPr>
          <p:cNvSpPr>
            <a:spLocks noChangeArrowheads="1"/>
          </p:cNvSpPr>
          <p:nvPr/>
        </p:nvSpPr>
        <p:spPr bwMode="auto">
          <a:xfrm>
            <a:off x="3417577" y="18969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5</a:t>
            </a:r>
          </a:p>
        </p:txBody>
      </p:sp>
      <p:sp>
        <p:nvSpPr>
          <p:cNvPr id="136" name="Rectangle 42">
            <a:extLst>
              <a:ext uri="{FF2B5EF4-FFF2-40B4-BE49-F238E27FC236}">
                <a16:creationId xmlns:a16="http://schemas.microsoft.com/office/drawing/2014/main" id="{66E6994E-2F44-4C9B-BBCA-6BB2F9114C2D}"/>
              </a:ext>
            </a:extLst>
          </p:cNvPr>
          <p:cNvSpPr>
            <a:spLocks noChangeArrowheads="1"/>
          </p:cNvSpPr>
          <p:nvPr/>
        </p:nvSpPr>
        <p:spPr bwMode="auto">
          <a:xfrm>
            <a:off x="34175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5</a:t>
            </a:r>
          </a:p>
        </p:txBody>
      </p:sp>
      <p:sp>
        <p:nvSpPr>
          <p:cNvPr id="137" name="Rectangle 42">
            <a:extLst>
              <a:ext uri="{FF2B5EF4-FFF2-40B4-BE49-F238E27FC236}">
                <a16:creationId xmlns:a16="http://schemas.microsoft.com/office/drawing/2014/main" id="{9745CCBE-5995-4E3E-B067-A0310109C5B2}"/>
              </a:ext>
            </a:extLst>
          </p:cNvPr>
          <p:cNvSpPr>
            <a:spLocks noChangeArrowheads="1"/>
          </p:cNvSpPr>
          <p:nvPr/>
        </p:nvSpPr>
        <p:spPr bwMode="auto">
          <a:xfrm>
            <a:off x="3950977" y="18969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13</a:t>
            </a:r>
          </a:p>
        </p:txBody>
      </p:sp>
      <p:sp>
        <p:nvSpPr>
          <p:cNvPr id="138" name="Rectangle 42">
            <a:extLst>
              <a:ext uri="{FF2B5EF4-FFF2-40B4-BE49-F238E27FC236}">
                <a16:creationId xmlns:a16="http://schemas.microsoft.com/office/drawing/2014/main" id="{48D9DB04-DAAC-4963-B2F0-AB0C469732B0}"/>
              </a:ext>
            </a:extLst>
          </p:cNvPr>
          <p:cNvSpPr>
            <a:spLocks noChangeArrowheads="1"/>
          </p:cNvSpPr>
          <p:nvPr/>
        </p:nvSpPr>
        <p:spPr bwMode="auto">
          <a:xfrm>
            <a:off x="47129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14</a:t>
            </a:r>
          </a:p>
        </p:txBody>
      </p:sp>
      <p:sp>
        <p:nvSpPr>
          <p:cNvPr id="139" name="Rectangle 42">
            <a:extLst>
              <a:ext uri="{FF2B5EF4-FFF2-40B4-BE49-F238E27FC236}">
                <a16:creationId xmlns:a16="http://schemas.microsoft.com/office/drawing/2014/main" id="{28819D81-F2A8-44BF-8175-0FB8A7375D81}"/>
              </a:ext>
            </a:extLst>
          </p:cNvPr>
          <p:cNvSpPr>
            <a:spLocks noChangeArrowheads="1"/>
          </p:cNvSpPr>
          <p:nvPr/>
        </p:nvSpPr>
        <p:spPr bwMode="auto">
          <a:xfrm>
            <a:off x="4712977" y="1896998"/>
            <a:ext cx="381000" cy="307777"/>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14</a:t>
            </a:r>
          </a:p>
        </p:txBody>
      </p:sp>
      <p:sp>
        <p:nvSpPr>
          <p:cNvPr id="140" name="Rectangle 42">
            <a:extLst>
              <a:ext uri="{FF2B5EF4-FFF2-40B4-BE49-F238E27FC236}">
                <a16:creationId xmlns:a16="http://schemas.microsoft.com/office/drawing/2014/main" id="{0EDCD4FC-A783-479B-9D5E-4EAF464D1713}"/>
              </a:ext>
            </a:extLst>
          </p:cNvPr>
          <p:cNvSpPr>
            <a:spLocks noChangeArrowheads="1"/>
          </p:cNvSpPr>
          <p:nvPr/>
        </p:nvSpPr>
        <p:spPr bwMode="auto">
          <a:xfrm>
            <a:off x="52463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17</a:t>
            </a:r>
          </a:p>
        </p:txBody>
      </p:sp>
      <p:sp>
        <p:nvSpPr>
          <p:cNvPr id="141" name="Rectangle 42">
            <a:extLst>
              <a:ext uri="{FF2B5EF4-FFF2-40B4-BE49-F238E27FC236}">
                <a16:creationId xmlns:a16="http://schemas.microsoft.com/office/drawing/2014/main" id="{030887C2-93E9-4B61-B12E-3DC9B0BE3EBA}"/>
              </a:ext>
            </a:extLst>
          </p:cNvPr>
          <p:cNvSpPr>
            <a:spLocks noChangeArrowheads="1"/>
          </p:cNvSpPr>
          <p:nvPr/>
        </p:nvSpPr>
        <p:spPr bwMode="auto">
          <a:xfrm>
            <a:off x="5246377" y="1893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17</a:t>
            </a:r>
          </a:p>
        </p:txBody>
      </p:sp>
      <p:sp>
        <p:nvSpPr>
          <p:cNvPr id="142" name="Rectangle 42">
            <a:extLst>
              <a:ext uri="{FF2B5EF4-FFF2-40B4-BE49-F238E27FC236}">
                <a16:creationId xmlns:a16="http://schemas.microsoft.com/office/drawing/2014/main" id="{88B01570-6587-451D-A085-3A464FC34EDA}"/>
              </a:ext>
            </a:extLst>
          </p:cNvPr>
          <p:cNvSpPr>
            <a:spLocks noChangeArrowheads="1"/>
          </p:cNvSpPr>
          <p:nvPr/>
        </p:nvSpPr>
        <p:spPr bwMode="auto">
          <a:xfrm>
            <a:off x="6008377" y="1893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18</a:t>
            </a:r>
          </a:p>
        </p:txBody>
      </p:sp>
      <p:sp>
        <p:nvSpPr>
          <p:cNvPr id="143" name="Rectangle 42">
            <a:extLst>
              <a:ext uri="{FF2B5EF4-FFF2-40B4-BE49-F238E27FC236}">
                <a16:creationId xmlns:a16="http://schemas.microsoft.com/office/drawing/2014/main" id="{2243BAD3-471C-4871-9193-CD3CA4667C30}"/>
              </a:ext>
            </a:extLst>
          </p:cNvPr>
          <p:cNvSpPr>
            <a:spLocks noChangeArrowheads="1"/>
          </p:cNvSpPr>
          <p:nvPr/>
        </p:nvSpPr>
        <p:spPr bwMode="auto">
          <a:xfrm>
            <a:off x="6008377" y="25065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18</a:t>
            </a:r>
          </a:p>
        </p:txBody>
      </p:sp>
      <p:sp>
        <p:nvSpPr>
          <p:cNvPr id="144" name="Rectangle 42">
            <a:extLst>
              <a:ext uri="{FF2B5EF4-FFF2-40B4-BE49-F238E27FC236}">
                <a16:creationId xmlns:a16="http://schemas.microsoft.com/office/drawing/2014/main" id="{425E8DF0-356C-48B0-B148-1E123297E4FA}"/>
              </a:ext>
            </a:extLst>
          </p:cNvPr>
          <p:cNvSpPr>
            <a:spLocks noChangeArrowheads="1"/>
          </p:cNvSpPr>
          <p:nvPr/>
        </p:nvSpPr>
        <p:spPr bwMode="auto">
          <a:xfrm>
            <a:off x="65417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19</a:t>
            </a:r>
          </a:p>
        </p:txBody>
      </p:sp>
      <p:sp>
        <p:nvSpPr>
          <p:cNvPr id="145" name="Rectangle 42">
            <a:extLst>
              <a:ext uri="{FF2B5EF4-FFF2-40B4-BE49-F238E27FC236}">
                <a16:creationId xmlns:a16="http://schemas.microsoft.com/office/drawing/2014/main" id="{699A211A-8F57-4110-8ABC-D4B86F2A399F}"/>
              </a:ext>
            </a:extLst>
          </p:cNvPr>
          <p:cNvSpPr>
            <a:spLocks noChangeArrowheads="1"/>
          </p:cNvSpPr>
          <p:nvPr/>
        </p:nvSpPr>
        <p:spPr bwMode="auto">
          <a:xfrm>
            <a:off x="6541777" y="18969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19</a:t>
            </a:r>
          </a:p>
        </p:txBody>
      </p:sp>
      <p:sp>
        <p:nvSpPr>
          <p:cNvPr id="146" name="Rectangle 42">
            <a:extLst>
              <a:ext uri="{FF2B5EF4-FFF2-40B4-BE49-F238E27FC236}">
                <a16:creationId xmlns:a16="http://schemas.microsoft.com/office/drawing/2014/main" id="{20309464-98C0-4F8B-B51C-4F73251DF0F9}"/>
              </a:ext>
            </a:extLst>
          </p:cNvPr>
          <p:cNvSpPr>
            <a:spLocks noChangeArrowheads="1"/>
          </p:cNvSpPr>
          <p:nvPr/>
        </p:nvSpPr>
        <p:spPr bwMode="auto">
          <a:xfrm>
            <a:off x="7303777" y="25034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20</a:t>
            </a:r>
          </a:p>
        </p:txBody>
      </p:sp>
      <p:sp>
        <p:nvSpPr>
          <p:cNvPr id="147" name="Rectangle 42">
            <a:extLst>
              <a:ext uri="{FF2B5EF4-FFF2-40B4-BE49-F238E27FC236}">
                <a16:creationId xmlns:a16="http://schemas.microsoft.com/office/drawing/2014/main" id="{6D3D4579-CDAC-4A9F-A16F-5A604993A80F}"/>
              </a:ext>
            </a:extLst>
          </p:cNvPr>
          <p:cNvSpPr>
            <a:spLocks noChangeArrowheads="1"/>
          </p:cNvSpPr>
          <p:nvPr/>
        </p:nvSpPr>
        <p:spPr bwMode="auto">
          <a:xfrm>
            <a:off x="7303777" y="18969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20</a:t>
            </a:r>
          </a:p>
        </p:txBody>
      </p:sp>
      <p:sp>
        <p:nvSpPr>
          <p:cNvPr id="148" name="Rectangle 42">
            <a:extLst>
              <a:ext uri="{FF2B5EF4-FFF2-40B4-BE49-F238E27FC236}">
                <a16:creationId xmlns:a16="http://schemas.microsoft.com/office/drawing/2014/main" id="{9956990F-EA10-4502-B29F-E567DA492B66}"/>
              </a:ext>
            </a:extLst>
          </p:cNvPr>
          <p:cNvSpPr>
            <a:spLocks noChangeArrowheads="1"/>
          </p:cNvSpPr>
          <p:nvPr/>
        </p:nvSpPr>
        <p:spPr bwMode="auto">
          <a:xfrm>
            <a:off x="7837177" y="25065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26</a:t>
            </a:r>
          </a:p>
        </p:txBody>
      </p:sp>
      <p:sp>
        <p:nvSpPr>
          <p:cNvPr id="149" name="Rectangle 42">
            <a:extLst>
              <a:ext uri="{FF2B5EF4-FFF2-40B4-BE49-F238E27FC236}">
                <a16:creationId xmlns:a16="http://schemas.microsoft.com/office/drawing/2014/main" id="{36559E1E-8B2A-4FB6-82F8-3CB37366414E}"/>
              </a:ext>
            </a:extLst>
          </p:cNvPr>
          <p:cNvSpPr>
            <a:spLocks noChangeArrowheads="1"/>
          </p:cNvSpPr>
          <p:nvPr/>
        </p:nvSpPr>
        <p:spPr bwMode="auto">
          <a:xfrm>
            <a:off x="7837177" y="1896998"/>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26</a:t>
            </a:r>
          </a:p>
        </p:txBody>
      </p:sp>
      <p:sp>
        <p:nvSpPr>
          <p:cNvPr id="150" name="Rectangle 42">
            <a:extLst>
              <a:ext uri="{FF2B5EF4-FFF2-40B4-BE49-F238E27FC236}">
                <a16:creationId xmlns:a16="http://schemas.microsoft.com/office/drawing/2014/main" id="{FCC19342-A6AB-4E1E-8D13-1BA615C23273}"/>
              </a:ext>
            </a:extLst>
          </p:cNvPr>
          <p:cNvSpPr>
            <a:spLocks noChangeArrowheads="1"/>
          </p:cNvSpPr>
          <p:nvPr/>
        </p:nvSpPr>
        <p:spPr bwMode="auto">
          <a:xfrm>
            <a:off x="4789177" y="4179823"/>
            <a:ext cx="381000" cy="307975"/>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sz="1400" dirty="0">
                <a:latin typeface="Calibri" pitchFamily="34" charset="0"/>
              </a:rPr>
              <a:t>23</a:t>
            </a:r>
          </a:p>
        </p:txBody>
      </p:sp>
      <p:sp>
        <p:nvSpPr>
          <p:cNvPr id="151" name="Rectangle 150">
            <a:extLst>
              <a:ext uri="{FF2B5EF4-FFF2-40B4-BE49-F238E27FC236}">
                <a16:creationId xmlns:a16="http://schemas.microsoft.com/office/drawing/2014/main" id="{9DBEB462-0F60-4E42-8B59-6DD5F0E40EAD}"/>
              </a:ext>
            </a:extLst>
          </p:cNvPr>
          <p:cNvSpPr/>
          <p:nvPr/>
        </p:nvSpPr>
        <p:spPr>
          <a:xfrm>
            <a:off x="179077" y="5525869"/>
            <a:ext cx="4191000" cy="646331"/>
          </a:xfrm>
          <a:prstGeom prst="rect">
            <a:avLst/>
          </a:prstGeom>
        </p:spPr>
        <p:txBody>
          <a:bodyPr wrap="square">
            <a:spAutoFit/>
          </a:bodyPr>
          <a:lstStyle/>
          <a:p>
            <a:r>
              <a:rPr lang="en-US" b="1" dirty="0">
                <a:latin typeface="Calibri" pitchFamily="34" charset="0"/>
              </a:rPr>
              <a:t>EF = ES + duration – 1 </a:t>
            </a:r>
            <a:r>
              <a:rPr lang="en-US" dirty="0">
                <a:latin typeface="Calibri" pitchFamily="34" charset="0"/>
              </a:rPr>
              <a:t>(For forward pass)</a:t>
            </a:r>
            <a:endParaRPr lang="en-US" b="1" dirty="0">
              <a:latin typeface="Calibri" pitchFamily="34" charset="0"/>
            </a:endParaRPr>
          </a:p>
          <a:p>
            <a:r>
              <a:rPr lang="en-US" b="1" dirty="0">
                <a:latin typeface="Calibri" pitchFamily="34" charset="0"/>
              </a:rPr>
              <a:t>LS = LF – duration + 1 </a:t>
            </a:r>
            <a:r>
              <a:rPr lang="en-US" dirty="0">
                <a:latin typeface="Calibri" pitchFamily="34" charset="0"/>
              </a:rPr>
              <a:t>(For backward pass)</a:t>
            </a:r>
            <a:endParaRPr lang="en-US" b="1" dirty="0">
              <a:latin typeface="Calibri" pitchFamily="34" charset="0"/>
            </a:endParaRPr>
          </a:p>
        </p:txBody>
      </p:sp>
      <p:sp>
        <p:nvSpPr>
          <p:cNvPr id="152" name="Rectangle 151">
            <a:extLst>
              <a:ext uri="{FF2B5EF4-FFF2-40B4-BE49-F238E27FC236}">
                <a16:creationId xmlns:a16="http://schemas.microsoft.com/office/drawing/2014/main" id="{13EEBC64-6A49-47F0-9874-7F04B7A77C25}"/>
              </a:ext>
            </a:extLst>
          </p:cNvPr>
          <p:cNvSpPr/>
          <p:nvPr/>
        </p:nvSpPr>
        <p:spPr>
          <a:xfrm>
            <a:off x="76200" y="3045785"/>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Start</a:t>
            </a:r>
          </a:p>
        </p:txBody>
      </p:sp>
      <p:sp>
        <p:nvSpPr>
          <p:cNvPr id="153" name="Rectangle 152">
            <a:extLst>
              <a:ext uri="{FF2B5EF4-FFF2-40B4-BE49-F238E27FC236}">
                <a16:creationId xmlns:a16="http://schemas.microsoft.com/office/drawing/2014/main" id="{DE437521-8941-4571-ABA4-51978E200C79}"/>
              </a:ext>
            </a:extLst>
          </p:cNvPr>
          <p:cNvSpPr/>
          <p:nvPr/>
        </p:nvSpPr>
        <p:spPr>
          <a:xfrm>
            <a:off x="8049423" y="3406147"/>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latin typeface="Calibri" pitchFamily="34" charset="0"/>
              </a:rPr>
              <a:t>End</a:t>
            </a:r>
          </a:p>
        </p:txBody>
      </p:sp>
      <p:cxnSp>
        <p:nvCxnSpPr>
          <p:cNvPr id="154" name="Straight Arrow Connector 153">
            <a:extLst>
              <a:ext uri="{FF2B5EF4-FFF2-40B4-BE49-F238E27FC236}">
                <a16:creationId xmlns:a16="http://schemas.microsoft.com/office/drawing/2014/main" id="{88C96BA8-8C08-46E9-8BDF-549E4A7D5544}"/>
              </a:ext>
            </a:extLst>
          </p:cNvPr>
          <p:cNvCxnSpPr>
            <a:endCxn id="103" idx="1"/>
          </p:cNvCxnSpPr>
          <p:nvPr/>
        </p:nvCxnSpPr>
        <p:spPr>
          <a:xfrm flipV="1">
            <a:off x="990601" y="2658998"/>
            <a:ext cx="902977" cy="68262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5" name="Straight Arrow Connector 154">
            <a:extLst>
              <a:ext uri="{FF2B5EF4-FFF2-40B4-BE49-F238E27FC236}">
                <a16:creationId xmlns:a16="http://schemas.microsoft.com/office/drawing/2014/main" id="{D4DFD3B8-5444-4FAD-B8FA-53288E1D671A}"/>
              </a:ext>
            </a:extLst>
          </p:cNvPr>
          <p:cNvCxnSpPr>
            <a:stCxn id="103" idx="3"/>
            <a:endCxn id="105" idx="1"/>
          </p:cNvCxnSpPr>
          <p:nvPr/>
        </p:nvCxnSpPr>
        <p:spPr>
          <a:xfrm flipV="1">
            <a:off x="2807977" y="2354197"/>
            <a:ext cx="609600" cy="304800"/>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6" name="Straight Arrow Connector 155">
            <a:extLst>
              <a:ext uri="{FF2B5EF4-FFF2-40B4-BE49-F238E27FC236}">
                <a16:creationId xmlns:a16="http://schemas.microsoft.com/office/drawing/2014/main" id="{7FA3F60D-31A3-4F9F-A673-BCD72D9A0180}"/>
              </a:ext>
            </a:extLst>
          </p:cNvPr>
          <p:cNvCxnSpPr>
            <a:stCxn id="105" idx="3"/>
            <a:endCxn id="109" idx="1"/>
          </p:cNvCxnSpPr>
          <p:nvPr/>
        </p:nvCxnSpPr>
        <p:spPr>
          <a:xfrm>
            <a:off x="4331977" y="2354197"/>
            <a:ext cx="381000" cy="0"/>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7" name="Straight Arrow Connector 156">
            <a:extLst>
              <a:ext uri="{FF2B5EF4-FFF2-40B4-BE49-F238E27FC236}">
                <a16:creationId xmlns:a16="http://schemas.microsoft.com/office/drawing/2014/main" id="{D3FC63AA-21A0-436E-AE10-4CE6A8B050DF}"/>
              </a:ext>
            </a:extLst>
          </p:cNvPr>
          <p:cNvCxnSpPr>
            <a:stCxn id="109" idx="3"/>
            <a:endCxn id="108" idx="1"/>
          </p:cNvCxnSpPr>
          <p:nvPr/>
        </p:nvCxnSpPr>
        <p:spPr>
          <a:xfrm>
            <a:off x="5627377" y="2354197"/>
            <a:ext cx="381000" cy="0"/>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E5833382-74D8-48DD-907F-D3C8EC66E2E3}"/>
              </a:ext>
            </a:extLst>
          </p:cNvPr>
          <p:cNvCxnSpPr>
            <a:stCxn id="108" idx="3"/>
            <a:endCxn id="107" idx="1"/>
          </p:cNvCxnSpPr>
          <p:nvPr/>
        </p:nvCxnSpPr>
        <p:spPr>
          <a:xfrm>
            <a:off x="6922777" y="2354197"/>
            <a:ext cx="381000" cy="0"/>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AE24EA9E-D7FB-46C2-BE56-7369B125D9F1}"/>
              </a:ext>
            </a:extLst>
          </p:cNvPr>
          <p:cNvCxnSpPr>
            <a:stCxn id="107" idx="3"/>
            <a:endCxn id="153" idx="0"/>
          </p:cNvCxnSpPr>
          <p:nvPr/>
        </p:nvCxnSpPr>
        <p:spPr>
          <a:xfrm>
            <a:off x="8218177" y="2354197"/>
            <a:ext cx="288446" cy="1051950"/>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60" name="Straight Arrow Connector 159">
            <a:extLst>
              <a:ext uri="{FF2B5EF4-FFF2-40B4-BE49-F238E27FC236}">
                <a16:creationId xmlns:a16="http://schemas.microsoft.com/office/drawing/2014/main" id="{96EEAD5A-C937-4CAA-8EB7-2FD2D3A242C3}"/>
              </a:ext>
            </a:extLst>
          </p:cNvPr>
          <p:cNvCxnSpPr>
            <a:stCxn id="152" idx="3"/>
            <a:endCxn id="104" idx="1"/>
          </p:cNvCxnSpPr>
          <p:nvPr/>
        </p:nvCxnSpPr>
        <p:spPr>
          <a:xfrm>
            <a:off x="990601" y="3502985"/>
            <a:ext cx="902977" cy="8324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1" name="Straight Arrow Connector 160">
            <a:extLst>
              <a:ext uri="{FF2B5EF4-FFF2-40B4-BE49-F238E27FC236}">
                <a16:creationId xmlns:a16="http://schemas.microsoft.com/office/drawing/2014/main" id="{935C9929-1AC3-459C-A878-E125F1A1D80A}"/>
              </a:ext>
            </a:extLst>
          </p:cNvPr>
          <p:cNvCxnSpPr>
            <a:endCxn id="106" idx="1"/>
          </p:cNvCxnSpPr>
          <p:nvPr/>
        </p:nvCxnSpPr>
        <p:spPr>
          <a:xfrm>
            <a:off x="2815915" y="2808223"/>
            <a:ext cx="601662" cy="12223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32FA79E8-D22F-4178-A8E5-15D497A35BAF}"/>
              </a:ext>
            </a:extLst>
          </p:cNvPr>
          <p:cNvCxnSpPr>
            <a:stCxn id="106" idx="3"/>
          </p:cNvCxnSpPr>
          <p:nvPr/>
        </p:nvCxnSpPr>
        <p:spPr>
          <a:xfrm flipV="1">
            <a:off x="4331977" y="2354197"/>
            <a:ext cx="381000" cy="1676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3" name="Straight Arrow Connector 162">
            <a:extLst>
              <a:ext uri="{FF2B5EF4-FFF2-40B4-BE49-F238E27FC236}">
                <a16:creationId xmlns:a16="http://schemas.microsoft.com/office/drawing/2014/main" id="{8A0DA727-76BA-45E8-BB87-4250275B1108}"/>
              </a:ext>
            </a:extLst>
          </p:cNvPr>
          <p:cNvCxnSpPr>
            <a:stCxn id="106" idx="3"/>
            <a:endCxn id="110" idx="1"/>
          </p:cNvCxnSpPr>
          <p:nvPr/>
        </p:nvCxnSpPr>
        <p:spPr>
          <a:xfrm>
            <a:off x="4331977" y="4030597"/>
            <a:ext cx="457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4" name="Straight Arrow Connector 163">
            <a:extLst>
              <a:ext uri="{FF2B5EF4-FFF2-40B4-BE49-F238E27FC236}">
                <a16:creationId xmlns:a16="http://schemas.microsoft.com/office/drawing/2014/main" id="{CB8E451A-615E-4A1B-B4E5-53AD113912D4}"/>
              </a:ext>
            </a:extLst>
          </p:cNvPr>
          <p:cNvCxnSpPr>
            <a:stCxn id="104" idx="3"/>
            <a:endCxn id="106" idx="1"/>
          </p:cNvCxnSpPr>
          <p:nvPr/>
        </p:nvCxnSpPr>
        <p:spPr>
          <a:xfrm flipV="1">
            <a:off x="2807977" y="4030597"/>
            <a:ext cx="60960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9CDA9521-DF18-4BFC-B837-6CEAFF3DD2FF}"/>
              </a:ext>
            </a:extLst>
          </p:cNvPr>
          <p:cNvCxnSpPr>
            <a:stCxn id="110" idx="3"/>
          </p:cNvCxnSpPr>
          <p:nvPr/>
        </p:nvCxnSpPr>
        <p:spPr>
          <a:xfrm>
            <a:off x="5703577" y="4030597"/>
            <a:ext cx="234584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5908287"/>
      </p:ext>
    </p:extLst>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Grp="1" noChangeArrowheads="1"/>
          </p:cNvSpPr>
          <p:nvPr>
            <p:ph type="title"/>
          </p:nvPr>
        </p:nvSpPr>
        <p:spPr>
          <a:xfrm>
            <a:off x="609600" y="304800"/>
            <a:ext cx="8077200" cy="1143000"/>
          </a:xfrm>
        </p:spPr>
        <p:txBody>
          <a:bodyPr/>
          <a:lstStyle/>
          <a:p>
            <a:r>
              <a:rPr lang="en-US" altLang="en-US"/>
              <a:t>Critical Path Calculation (cont.)</a:t>
            </a:r>
          </a:p>
        </p:txBody>
      </p:sp>
      <p:pic>
        <p:nvPicPr>
          <p:cNvPr id="6" name="Picture 5">
            <a:extLst>
              <a:ext uri="{FF2B5EF4-FFF2-40B4-BE49-F238E27FC236}">
                <a16:creationId xmlns:a16="http://schemas.microsoft.com/office/drawing/2014/main" id="{64A5E1EB-D54C-45B9-AB3A-4E6ADB5C5FC4}"/>
              </a:ext>
            </a:extLst>
          </p:cNvPr>
          <p:cNvPicPr/>
          <p:nvPr/>
        </p:nvPicPr>
        <p:blipFill>
          <a:blip r:embed="rId3"/>
          <a:srcRect/>
          <a:stretch>
            <a:fillRect/>
          </a:stretch>
        </p:blipFill>
        <p:spPr bwMode="auto">
          <a:xfrm>
            <a:off x="1295400" y="2895600"/>
            <a:ext cx="6072996" cy="3313217"/>
          </a:xfrm>
          <a:prstGeom prst="rect">
            <a:avLst/>
          </a:prstGeom>
          <a:noFill/>
          <a:ln w="9525">
            <a:noFill/>
            <a:miter lim="800000"/>
            <a:headEnd/>
            <a:tailEnd/>
          </a:ln>
        </p:spPr>
      </p:pic>
      <p:sp>
        <p:nvSpPr>
          <p:cNvPr id="3" name="TextBox 2">
            <a:extLst>
              <a:ext uri="{FF2B5EF4-FFF2-40B4-BE49-F238E27FC236}">
                <a16:creationId xmlns:a16="http://schemas.microsoft.com/office/drawing/2014/main" id="{18C0DEF3-BA5D-4327-B8A9-A583D4EC93BA}"/>
              </a:ext>
            </a:extLst>
          </p:cNvPr>
          <p:cNvSpPr txBox="1"/>
          <p:nvPr/>
        </p:nvSpPr>
        <p:spPr>
          <a:xfrm>
            <a:off x="609600" y="1600200"/>
            <a:ext cx="8305800" cy="1107996"/>
          </a:xfrm>
          <a:prstGeom prst="rect">
            <a:avLst/>
          </a:prstGeom>
          <a:noFill/>
        </p:spPr>
        <p:txBody>
          <a:bodyPr wrap="square" rtlCol="0">
            <a:spAutoFit/>
          </a:bodyPr>
          <a:lstStyle/>
          <a:p>
            <a:r>
              <a:rPr lang="en-US" sz="2400" dirty="0">
                <a:latin typeface="Calibri" pitchFamily="34" charset="0"/>
              </a:rPr>
              <a:t>Determining Critical Path and Calculating Float (Slack) for the following diagram.</a:t>
            </a:r>
            <a:endParaRPr lang="en-US" sz="2400" b="1" dirty="0">
              <a:latin typeface="Calibri" pitchFamily="34" charset="0"/>
            </a:endParaRPr>
          </a:p>
          <a:p>
            <a:endParaRPr lang="en-US" dirty="0"/>
          </a:p>
        </p:txBody>
      </p:sp>
    </p:spTree>
    <p:extLst>
      <p:ext uri="{BB962C8B-B14F-4D97-AF65-F5344CB8AC3E}">
        <p14:creationId xmlns:p14="http://schemas.microsoft.com/office/powerpoint/2010/main" val="3827803841"/>
      </p:ext>
    </p:extLst>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en-US" altLang="en-US" sz="4000"/>
              <a:t>Using Project Management Software</a:t>
            </a:r>
          </a:p>
        </p:txBody>
      </p:sp>
      <p:sp>
        <p:nvSpPr>
          <p:cNvPr id="41988" name="Rectangle 3" descr="Rectangle: Click to edit Master text styles&#10;Second level&#10;Third level&#10;Fourth level&#10;Fifth level"/>
          <p:cNvSpPr>
            <a:spLocks noGrp="1" noChangeArrowheads="1"/>
          </p:cNvSpPr>
          <p:nvPr>
            <p:ph type="body" idx="1"/>
          </p:nvPr>
        </p:nvSpPr>
        <p:spPr/>
        <p:txBody>
          <a:bodyPr/>
          <a:lstStyle/>
          <a:p>
            <a:r>
              <a:rPr lang="en-US" altLang="en-US"/>
              <a:t>Many powerful software tools exist for assisting with project management.</a:t>
            </a:r>
          </a:p>
          <a:p>
            <a:r>
              <a:rPr lang="en-US" altLang="en-US"/>
              <a:t>Example: Microsoft Project can help with</a:t>
            </a:r>
          </a:p>
          <a:p>
            <a:pPr lvl="1"/>
            <a:r>
              <a:rPr lang="en-US" altLang="en-US"/>
              <a:t>Entering project start or end date.</a:t>
            </a:r>
          </a:p>
          <a:p>
            <a:pPr lvl="1"/>
            <a:r>
              <a:rPr lang="en-US" altLang="en-US"/>
              <a:t>Establishing tasks and task dependencies.</a:t>
            </a:r>
          </a:p>
          <a:p>
            <a:pPr lvl="1"/>
            <a:r>
              <a:rPr lang="en-US" altLang="en-US"/>
              <a:t>Viewing project information as Gantt or Network diagrams.</a:t>
            </a:r>
          </a:p>
        </p:txBody>
      </p:sp>
    </p:spTree>
    <p:extLst>
      <p:ext uri="{BB962C8B-B14F-4D97-AF65-F5344CB8AC3E}">
        <p14:creationId xmlns:p14="http://schemas.microsoft.com/office/powerpoint/2010/main" val="3734094017"/>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altLang="en-US"/>
              <a:t>Project Start Date</a:t>
            </a:r>
          </a:p>
        </p:txBody>
      </p:sp>
      <p:sp>
        <p:nvSpPr>
          <p:cNvPr id="43014" name="Rectangle 7"/>
          <p:cNvSpPr>
            <a:spLocks noChangeArrowheads="1"/>
          </p:cNvSpPr>
          <p:nvPr/>
        </p:nvSpPr>
        <p:spPr bwMode="auto">
          <a:xfrm>
            <a:off x="685800" y="1524000"/>
            <a:ext cx="7848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3-27</a:t>
            </a:r>
          </a:p>
          <a:p>
            <a:pPr eaLnBrk="1" hangingPunct="1"/>
            <a:r>
              <a:rPr lang="en-US" altLang="en-US" dirty="0"/>
              <a:t>Establishing a project starting date in Microsoft Project for Windows </a:t>
            </a:r>
          </a:p>
          <a:p>
            <a:pPr eaLnBrk="1" hangingPunct="1"/>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914400" y="2447925"/>
            <a:ext cx="6324600" cy="3877373"/>
          </a:xfrm>
          <a:prstGeom prst="rect">
            <a:avLst/>
          </a:prstGeom>
        </p:spPr>
      </p:pic>
    </p:spTree>
    <p:extLst>
      <p:ext uri="{BB962C8B-B14F-4D97-AF65-F5344CB8AC3E}">
        <p14:creationId xmlns:p14="http://schemas.microsoft.com/office/powerpoint/2010/main" val="2660551988"/>
      </p:ext>
    </p:extLst>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altLang="en-US"/>
              <a:t>Entering Tasks</a:t>
            </a:r>
          </a:p>
        </p:txBody>
      </p:sp>
      <p:sp>
        <p:nvSpPr>
          <p:cNvPr id="44039" name="Rectangle 7"/>
          <p:cNvSpPr>
            <a:spLocks noChangeArrowheads="1"/>
          </p:cNvSpPr>
          <p:nvPr/>
        </p:nvSpPr>
        <p:spPr bwMode="auto">
          <a:xfrm>
            <a:off x="685800" y="1600200"/>
            <a:ext cx="8153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3-29</a:t>
            </a:r>
          </a:p>
          <a:p>
            <a:pPr eaLnBrk="1" hangingPunct="1"/>
            <a:r>
              <a:rPr lang="en-US" altLang="en-US" dirty="0"/>
              <a:t>Entering tasks and assigning task relationships in Microsoft project</a:t>
            </a:r>
          </a:p>
          <a:p>
            <a:pPr eaLnBrk="1" hangingPunct="1"/>
            <a:r>
              <a:rPr lang="en-US" altLang="en-US" dirty="0"/>
              <a:t>for Windows </a:t>
            </a:r>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990600" y="2501930"/>
            <a:ext cx="6400800" cy="3924089"/>
          </a:xfrm>
          <a:prstGeom prst="rect">
            <a:avLst/>
          </a:prstGeom>
        </p:spPr>
      </p:pic>
    </p:spTree>
    <p:extLst>
      <p:ext uri="{BB962C8B-B14F-4D97-AF65-F5344CB8AC3E}">
        <p14:creationId xmlns:p14="http://schemas.microsoft.com/office/powerpoint/2010/main" val="1027475300"/>
      </p:ext>
    </p:extLst>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altLang="en-US"/>
              <a:t>Summary</a:t>
            </a:r>
          </a:p>
        </p:txBody>
      </p:sp>
      <p:sp>
        <p:nvSpPr>
          <p:cNvPr id="202755" name="Rectangle 3" descr="Rectangle: Click to edit Master text styles&#10;Second level&#10;Third level&#10;Fourth level&#10;Fifth level"/>
          <p:cNvSpPr>
            <a:spLocks noGrp="1" noChangeArrowheads="1"/>
          </p:cNvSpPr>
          <p:nvPr>
            <p:ph type="body" idx="1"/>
          </p:nvPr>
        </p:nvSpPr>
        <p:spPr>
          <a:xfrm>
            <a:off x="609600" y="1752600"/>
            <a:ext cx="7772400" cy="4114800"/>
          </a:xfrm>
        </p:spPr>
        <p:txBody>
          <a:bodyPr/>
          <a:lstStyle/>
          <a:p>
            <a:pPr>
              <a:lnSpc>
                <a:spcPct val="80000"/>
              </a:lnSpc>
              <a:defRPr/>
            </a:pPr>
            <a:r>
              <a:rPr lang="en-US" sz="2800" dirty="0"/>
              <a:t>In this chapter you learned how to:</a:t>
            </a:r>
          </a:p>
          <a:p>
            <a:pPr lvl="1">
              <a:lnSpc>
                <a:spcPct val="90000"/>
              </a:lnSpc>
              <a:buClr>
                <a:srgbClr val="BA2212"/>
              </a:buClr>
              <a:buFont typeface="Wingdings" panose="05000000000000000000" pitchFamily="2" charset="2"/>
              <a:buChar char="ü"/>
            </a:pPr>
            <a:r>
              <a:rPr lang="en-US" altLang="en-US" sz="2400" dirty="0"/>
              <a:t>explain the process of managing an information systems project, including project initiation, project planning, project execution, and project closedown,</a:t>
            </a:r>
          </a:p>
          <a:p>
            <a:pPr lvl="1">
              <a:lnSpc>
                <a:spcPct val="90000"/>
              </a:lnSpc>
              <a:buClr>
                <a:srgbClr val="BA2212"/>
              </a:buClr>
              <a:buFont typeface="Wingdings" panose="05000000000000000000" pitchFamily="2" charset="2"/>
              <a:buChar char="ü"/>
            </a:pPr>
            <a:r>
              <a:rPr lang="en-US" sz="2400" dirty="0"/>
              <a:t>describe how to represent and schedule project plans using Gantt charts and network diagrams, and</a:t>
            </a:r>
          </a:p>
          <a:p>
            <a:pPr lvl="1">
              <a:lnSpc>
                <a:spcPct val="90000"/>
              </a:lnSpc>
              <a:buClr>
                <a:srgbClr val="BA2212"/>
              </a:buClr>
              <a:buFont typeface="Wingdings" panose="05000000000000000000" pitchFamily="2" charset="2"/>
              <a:buChar char="ü"/>
            </a:pPr>
            <a:r>
              <a:rPr lang="en-US" sz="2400" dirty="0"/>
              <a:t>explain how commercial project management software packages can be used to assist in representing and managing project schedules</a:t>
            </a:r>
            <a:endParaRPr lang="en-US" altLang="en-US" sz="2400" dirty="0"/>
          </a:p>
        </p:txBody>
      </p:sp>
    </p:spTree>
    <p:extLst>
      <p:ext uri="{BB962C8B-B14F-4D97-AF65-F5344CB8AC3E}">
        <p14:creationId xmlns:p14="http://schemas.microsoft.com/office/powerpoint/2010/main" val="3081725978"/>
      </p:ext>
    </p:extLst>
  </p:cSld>
  <p:clrMapOvr>
    <a:masterClrMapping/>
  </p:clrMapOvr>
  <p:transition>
    <p:zoom/>
  </p:transition>
</p:sld>
</file>

<file path=ppt/theme/theme1.xml><?xml version="1.0" encoding="utf-8"?>
<a:theme xmlns:a="http://schemas.openxmlformats.org/drawingml/2006/main" name="Pixel">
  <a:themeElements>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FCC3DBBDD27046996F6B28FDDA9AA6" ma:contentTypeVersion="0" ma:contentTypeDescription="Create a new document." ma:contentTypeScope="" ma:versionID="f903405ccd5a60f45f459749f97675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0974F0-B088-483A-BBA1-46922694D57D}"/>
</file>

<file path=customXml/itemProps2.xml><?xml version="1.0" encoding="utf-8"?>
<ds:datastoreItem xmlns:ds="http://schemas.openxmlformats.org/officeDocument/2006/customXml" ds:itemID="{5254E22C-0FEC-4F10-87BD-7022F76409A0}"/>
</file>

<file path=customXml/itemProps3.xml><?xml version="1.0" encoding="utf-8"?>
<ds:datastoreItem xmlns:ds="http://schemas.openxmlformats.org/officeDocument/2006/customXml" ds:itemID="{B4BEB07B-3EAC-44EF-BDCE-A36129BB1C55}"/>
</file>

<file path=docProps/app.xml><?xml version="1.0" encoding="utf-8"?>
<Properties xmlns="http://schemas.openxmlformats.org/officeDocument/2006/extended-properties" xmlns:vt="http://schemas.openxmlformats.org/officeDocument/2006/docPropsVTypes">
  <Template/>
  <TotalTime>24319</TotalTime>
  <Words>4478</Words>
  <Application>Microsoft Office PowerPoint</Application>
  <PresentationFormat>On-screen Show (4:3)</PresentationFormat>
  <Paragraphs>502</Paragraphs>
  <Slides>50</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FuturaLTPro-Bold</vt:lpstr>
      <vt:lpstr>FuturaLTPro-Light</vt:lpstr>
      <vt:lpstr>Tahoma</vt:lpstr>
      <vt:lpstr>Times New Roman</vt:lpstr>
      <vt:lpstr>Wingdings</vt:lpstr>
      <vt:lpstr>Pixel</vt:lpstr>
      <vt:lpstr>PowerPoint Presentation</vt:lpstr>
      <vt:lpstr>Learning Objectives</vt:lpstr>
      <vt:lpstr>Introduction</vt:lpstr>
      <vt:lpstr>Pine Valley Application Project</vt:lpstr>
      <vt:lpstr>Managing the Information Systems Project</vt:lpstr>
      <vt:lpstr>Managing the Information Systems Project (cont.)</vt:lpstr>
      <vt:lpstr>Deciding on Systems Projects</vt:lpstr>
      <vt:lpstr>PowerPoint Presentation</vt:lpstr>
      <vt:lpstr>Project Management Activities</vt:lpstr>
      <vt:lpstr>Phases of Project Management Process</vt:lpstr>
      <vt:lpstr>PM Phase 1: Project Initiation</vt:lpstr>
      <vt:lpstr>PowerPoint Presentation</vt:lpstr>
      <vt:lpstr>Project Charter</vt:lpstr>
      <vt:lpstr>PM Phase 2: Project Planning</vt:lpstr>
      <vt:lpstr>Planning Detail</vt:lpstr>
      <vt:lpstr>Project Scope, Alternatives, and Feasibility</vt:lpstr>
      <vt:lpstr>Dividing Project into Manageable Tasks</vt:lpstr>
      <vt:lpstr>Developing a Preliminary Schedule</vt:lpstr>
      <vt:lpstr>Scheduling Diagrams Network Diagram</vt:lpstr>
      <vt:lpstr>Estimating Resources, Creating a Resource Plan</vt:lpstr>
      <vt:lpstr>Developing a Communication Plan</vt:lpstr>
      <vt:lpstr>Communication Plan</vt:lpstr>
      <vt:lpstr>Determining Project Standards and Procedures</vt:lpstr>
      <vt:lpstr>Identifying and Assessing Risk</vt:lpstr>
      <vt:lpstr>Developing a Preliminary Budget</vt:lpstr>
      <vt:lpstr>Setting a Baseline Project Plan</vt:lpstr>
      <vt:lpstr>PM Phase 3: Project Execution</vt:lpstr>
      <vt:lpstr>Monitoring Progress with a Gantt Chart</vt:lpstr>
      <vt:lpstr>Communication Methods</vt:lpstr>
      <vt:lpstr>PM Phase 4: Project Closedown</vt:lpstr>
      <vt:lpstr>Representing and Scheduling Project Plans</vt:lpstr>
      <vt:lpstr>Gantt Charts vs. Network Diagrams</vt:lpstr>
      <vt:lpstr>Gantt Charts vs. Network Diagrams (Cont.)</vt:lpstr>
      <vt:lpstr>Gantt Charts vs. Network Diagrams (Cont.)</vt:lpstr>
      <vt:lpstr>Estimating Task Duration</vt:lpstr>
      <vt:lpstr>Example PERT Analysis</vt:lpstr>
      <vt:lpstr>Critical Path Scheduling</vt:lpstr>
      <vt:lpstr>Critical Path Example (dependencies between tasks)</vt:lpstr>
      <vt:lpstr>Critical Path Example (Cont.)</vt:lpstr>
      <vt:lpstr>Determining the Critical Path</vt:lpstr>
      <vt:lpstr>Critical Path Calculation</vt:lpstr>
      <vt:lpstr>Critical Path Calculation (cont.)</vt:lpstr>
      <vt:lpstr>Critical Path Calculation (cont.)</vt:lpstr>
      <vt:lpstr>Critical Path Calculation (cont.)</vt:lpstr>
      <vt:lpstr>Critical Path Calculation (cont.)</vt:lpstr>
      <vt:lpstr>Critical Path Calculation (cont.)</vt:lpstr>
      <vt:lpstr>Using Project Management Software</vt:lpstr>
      <vt:lpstr>Project Start Date</vt:lpstr>
      <vt:lpstr>Entering Tasks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User</cp:lastModifiedBy>
  <cp:revision>659</cp:revision>
  <cp:lastPrinted>1601-01-01T00:00:00Z</cp:lastPrinted>
  <dcterms:created xsi:type="dcterms:W3CDTF">2000-04-11T00:26:26Z</dcterms:created>
  <dcterms:modified xsi:type="dcterms:W3CDTF">2022-03-10T15:45:34Z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0x01010058FCC3DBBDD27046996F6B28FDDA9AA6</vt:lpwstr>
  </property>
</Properties>
</file>