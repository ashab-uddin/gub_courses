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21.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9.xml" ContentType="application/vnd.openxmlformats-officedocument.presentationml.slide+xml"/>
  <Override PartName="/ppt/slides/slide29.xml" ContentType="application/vnd.openxmlformats-officedocument.presentationml.slide+xml"/>
  <Override PartName="/ppt/slides/slide31.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0.xml" ContentType="application/vnd.openxmlformats-officedocument.presentationml.slide+xml"/>
  <Override PartName="/ppt/slides/slide35.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xml" ContentType="application/vnd.openxmlformats-officedocument.presentationml.notes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6.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22.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26.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25.xml" ContentType="application/vnd.openxmlformats-officedocument.presentationml.notesSlide+xml"/>
  <Override PartName="/ppt/handoutMasters/handoutMaster1.xml" ContentType="application/vnd.openxmlformats-officedocument.presentationml.handoutMaster+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0" r:id="rId1"/>
  </p:sldMasterIdLst>
  <p:notesMasterIdLst>
    <p:notesMasterId r:id="rId39"/>
  </p:notesMasterIdLst>
  <p:handoutMasterIdLst>
    <p:handoutMasterId r:id="rId40"/>
  </p:handoutMasterIdLst>
  <p:sldIdLst>
    <p:sldId id="256" r:id="rId2"/>
    <p:sldId id="257" r:id="rId3"/>
    <p:sldId id="258" r:id="rId4"/>
    <p:sldId id="297" r:id="rId5"/>
    <p:sldId id="262" r:id="rId6"/>
    <p:sldId id="259" r:id="rId7"/>
    <p:sldId id="260" r:id="rId8"/>
    <p:sldId id="261" r:id="rId9"/>
    <p:sldId id="298"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9" r:id="rId25"/>
    <p:sldId id="281" r:id="rId26"/>
    <p:sldId id="282" r:id="rId27"/>
    <p:sldId id="283" r:id="rId28"/>
    <p:sldId id="285" r:id="rId29"/>
    <p:sldId id="286" r:id="rId30"/>
    <p:sldId id="287" r:id="rId31"/>
    <p:sldId id="288" r:id="rId32"/>
    <p:sldId id="290" r:id="rId33"/>
    <p:sldId id="291" r:id="rId34"/>
    <p:sldId id="299" r:id="rId35"/>
    <p:sldId id="292" r:id="rId36"/>
    <p:sldId id="294" r:id="rId37"/>
    <p:sldId id="295" r:id="rId3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1714" autoAdjust="0"/>
  </p:normalViewPr>
  <p:slideViewPr>
    <p:cSldViewPr>
      <p:cViewPr varScale="1">
        <p:scale>
          <a:sx n="70" d="100"/>
          <a:sy n="70" d="100"/>
        </p:scale>
        <p:origin x="183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78"/>
    </p:cViewPr>
  </p:sorterViewPr>
  <p:notesViewPr>
    <p:cSldViewPr>
      <p:cViewPr varScale="1">
        <p:scale>
          <a:sx n="71" d="100"/>
          <a:sy n="71" d="100"/>
        </p:scale>
        <p:origin x="3029" y="7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47"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20000"/>
              </a:spcBef>
              <a:buClr>
                <a:schemeClr val="hlink"/>
              </a:buClr>
              <a:buSzPct val="110000"/>
              <a:buFont typeface="Wingdings" pitchFamily="2" charset="2"/>
              <a:buBlip>
                <a:blip r:embed="rId2"/>
              </a:buBlip>
              <a:defRPr sz="1200">
                <a:latin typeface="Arial" charset="0"/>
                <a:cs typeface="Arial" charset="0"/>
              </a:defRPr>
            </a:lvl1pPr>
          </a:lstStyle>
          <a:p>
            <a:pPr>
              <a:defRPr/>
            </a:pPr>
            <a:endParaRPr lang="en-US"/>
          </a:p>
        </p:txBody>
      </p:sp>
      <p:sp>
        <p:nvSpPr>
          <p:cNvPr id="10445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20000"/>
              </a:spcBef>
              <a:buClr>
                <a:schemeClr val="hlink"/>
              </a:buClr>
              <a:buSzPct val="110000"/>
              <a:buFont typeface="Wingdings" panose="05000000000000000000" pitchFamily="2" charset="2"/>
              <a:buBlip>
                <a:blip r:embed="rId2"/>
              </a:buBlip>
              <a:defRPr sz="1200"/>
            </a:lvl1pPr>
          </a:lstStyle>
          <a:p>
            <a:fld id="{2A9FE85F-BC8E-4ACD-9E59-4FFC34542938}" type="slidenum">
              <a:rPr lang="en-US" altLang="en-US"/>
              <a:pPr/>
              <a:t>‹#›</a:t>
            </a:fld>
            <a:endParaRPr lang="en-US" altLang="en-US"/>
          </a:p>
        </p:txBody>
      </p:sp>
    </p:spTree>
    <p:extLst>
      <p:ext uri="{BB962C8B-B14F-4D97-AF65-F5344CB8AC3E}">
        <p14:creationId xmlns:p14="http://schemas.microsoft.com/office/powerpoint/2010/main" val="1504939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pitchFamily="34" charset="0"/>
                <a:cs typeface="Arial" charset="0"/>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34" charset="0"/>
                <a:cs typeface="Arial" charset="0"/>
              </a:defRPr>
            </a:lvl1pPr>
          </a:lstStyle>
          <a:p>
            <a:pPr>
              <a:defRPr/>
            </a:pPr>
            <a:endParaRPr lang="en-US"/>
          </a:p>
        </p:txBody>
      </p:sp>
      <p:sp>
        <p:nvSpPr>
          <p:cNvPr id="419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pitchFamily="34" charset="0"/>
                <a:cs typeface="Arial" charset="0"/>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anose="020B0604030504040204" pitchFamily="34" charset="0"/>
              </a:defRPr>
            </a:lvl1pPr>
          </a:lstStyle>
          <a:p>
            <a:fld id="{F5F488AC-279B-4D8B-A679-FF80C5A02C55}" type="slidenum">
              <a:rPr lang="en-US" altLang="en-US"/>
              <a:pPr/>
              <a:t>‹#›</a:t>
            </a:fld>
            <a:endParaRPr lang="en-US" altLang="en-US"/>
          </a:p>
        </p:txBody>
      </p:sp>
    </p:spTree>
    <p:extLst>
      <p:ext uri="{BB962C8B-B14F-4D97-AF65-F5344CB8AC3E}">
        <p14:creationId xmlns:p14="http://schemas.microsoft.com/office/powerpoint/2010/main" val="2710161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3C1F9C0-743D-4B9E-9ADD-0EEF6F5876F2}" type="slidenum">
              <a:rPr lang="en-US" altLang="en-US">
                <a:latin typeface="Tahoma" panose="020B0604030504040204" pitchFamily="34" charset="0"/>
              </a:rPr>
              <a:pPr eaLnBrk="1" hangingPunct="1"/>
              <a:t>1</a:t>
            </a:fld>
            <a:endParaRPr lang="en-US" altLang="en-US">
              <a:latin typeface="Tahoma" panose="020B0604030504040204" pitchFamily="34"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2510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9EC6ED-4F20-4B56-AE51-F50DF9A255AC}" type="slidenum">
              <a:rPr lang="en-US" altLang="en-US">
                <a:latin typeface="Tahoma" panose="020B0604030504040204" pitchFamily="34" charset="0"/>
              </a:rPr>
              <a:pPr eaLnBrk="1" hangingPunct="1"/>
              <a:t>2</a:t>
            </a:fld>
            <a:endParaRPr lang="en-US" altLang="en-US">
              <a:latin typeface="Tahoma" panose="020B0604030504040204" pitchFamily="3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2043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0D13B8C-CD9A-4E98-8A9B-51964E18E51F}" type="slidenum">
              <a:rPr lang="en-US" altLang="en-US">
                <a:latin typeface="Tahoma" panose="020B0604030504040204" pitchFamily="34" charset="0"/>
              </a:rPr>
              <a:pPr eaLnBrk="1" hangingPunct="1"/>
              <a:t>3</a:t>
            </a:fld>
            <a:endParaRPr lang="en-US" altLang="en-US">
              <a:latin typeface="Tahoma" panose="020B0604030504040204" pitchFamily="34" charset="0"/>
            </a:endParaRPr>
          </a:p>
        </p:txBody>
      </p:sp>
    </p:spTree>
    <p:extLst>
      <p:ext uri="{BB962C8B-B14F-4D97-AF65-F5344CB8AC3E}">
        <p14:creationId xmlns:p14="http://schemas.microsoft.com/office/powerpoint/2010/main" val="430045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When choosing a software solution, you’ll be choosing among a number of possible types of software solutions, and for each type,</a:t>
            </a:r>
            <a:r>
              <a:rPr lang="en-US" altLang="en-US" baseline="0" dirty="0">
                <a:latin typeface="Arial" panose="020B0604020202020204" pitchFamily="34" charset="0"/>
                <a:cs typeface="Arial" panose="020B0604020202020204" pitchFamily="34" charset="0"/>
              </a:rPr>
              <a:t> there are a variety of different products and vendors to choose between. For the next several slides we’ll talk about the different possibilities and how to choose among them.</a:t>
            </a:r>
            <a:endParaRPr lang="en-US" altLang="en-US" dirty="0">
              <a:latin typeface="Arial" panose="020B0604020202020204" pitchFamily="34" charset="0"/>
              <a:cs typeface="Arial" panose="020B0604020202020204" pitchFamily="34" charset="0"/>
            </a:endParaRP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0D13B8C-CD9A-4E98-8A9B-51964E18E51F}" type="slidenum">
              <a:rPr lang="en-US" altLang="en-US">
                <a:latin typeface="Tahoma" panose="020B0604030504040204" pitchFamily="34" charset="0"/>
              </a:rPr>
              <a:pPr eaLnBrk="1" hangingPunct="1"/>
              <a:t>4</a:t>
            </a:fld>
            <a:endParaRPr lang="en-US" altLang="en-US">
              <a:latin typeface="Tahoma" panose="020B0604030504040204" pitchFamily="34" charset="0"/>
            </a:endParaRPr>
          </a:p>
        </p:txBody>
      </p:sp>
    </p:spTree>
    <p:extLst>
      <p:ext uri="{BB962C8B-B14F-4D97-AF65-F5344CB8AC3E}">
        <p14:creationId xmlns:p14="http://schemas.microsoft.com/office/powerpoint/2010/main" val="3883603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A company may use any combination of these sources for their information</a:t>
            </a:r>
            <a:r>
              <a:rPr lang="en-US" altLang="en-US" baseline="0" dirty="0">
                <a:latin typeface="Arial" panose="020B0604020202020204" pitchFamily="34" charset="0"/>
                <a:cs typeface="Arial" panose="020B0604020202020204" pitchFamily="34" charset="0"/>
              </a:rPr>
              <a:t> system.</a:t>
            </a:r>
          </a:p>
          <a:p>
            <a:endParaRPr lang="en-US" altLang="en-US" baseline="0" dirty="0">
              <a:latin typeface="Arial" panose="020B0604020202020204" pitchFamily="34" charset="0"/>
              <a:cs typeface="Arial" panose="020B0604020202020204" pitchFamily="34"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panose="020B0604020202020204" pitchFamily="34" charset="0"/>
                <a:cs typeface="Arial" panose="020B0604020202020204" pitchFamily="34" charset="0"/>
              </a:rPr>
              <a:t>When choosing a software solution, you’ll be choosing among a number of possible types of software solutions, and for each type,</a:t>
            </a:r>
            <a:r>
              <a:rPr lang="en-US" altLang="en-US" baseline="0" dirty="0">
                <a:latin typeface="Arial" panose="020B0604020202020204" pitchFamily="34" charset="0"/>
                <a:cs typeface="Arial" panose="020B0604020202020204" pitchFamily="34" charset="0"/>
              </a:rPr>
              <a:t> there are a variety of different products and vendors to choose between. For the next several slides we’ll talk about the different possibilities and how to choose among them.</a:t>
            </a: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We’ll talk about each of these in more detail.</a:t>
            </a: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BBF8CE0-F887-48BF-9E36-414C10CBEB9C}" type="slidenum">
              <a:rPr lang="en-US" altLang="en-US">
                <a:latin typeface="Tahoma" panose="020B0604030504040204" pitchFamily="34" charset="0"/>
              </a:rPr>
              <a:pPr eaLnBrk="1" hangingPunct="1"/>
              <a:t>5</a:t>
            </a:fld>
            <a:endParaRPr lang="en-US" altLang="en-US">
              <a:latin typeface="Tahoma" panose="020B0604030504040204" pitchFamily="34" charset="0"/>
            </a:endParaRPr>
          </a:p>
        </p:txBody>
      </p:sp>
    </p:spTree>
    <p:extLst>
      <p:ext uri="{BB962C8B-B14F-4D97-AF65-F5344CB8AC3E}">
        <p14:creationId xmlns:p14="http://schemas.microsoft.com/office/powerpoint/2010/main" val="20112728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1D1164D-1EF2-4769-8052-433D165CAF1D}" type="slidenum">
              <a:rPr lang="en-US" altLang="en-US">
                <a:latin typeface="Tahoma" panose="020B0604030504040204" pitchFamily="34" charset="0"/>
              </a:rPr>
              <a:pPr eaLnBrk="1" hangingPunct="1"/>
              <a:t>6</a:t>
            </a:fld>
            <a:endParaRPr lang="en-US" altLang="en-US">
              <a:latin typeface="Tahoma" panose="020B0604030504040204" pitchFamily="34"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Chances</a:t>
            </a:r>
            <a:r>
              <a:rPr lang="en-US" altLang="en-US" baseline="0" dirty="0">
                <a:latin typeface="Arial" panose="020B0604020202020204" pitchFamily="34" charset="0"/>
                <a:cs typeface="Arial" panose="020B0604020202020204" pitchFamily="34" charset="0"/>
              </a:rPr>
              <a:t> are, your company outsources at least part of its overall corporate information system.</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869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8DC046A-53A2-4467-AF22-73A5ABD887F3}" type="slidenum">
              <a:rPr lang="en-US" altLang="en-US">
                <a:latin typeface="Tahoma" panose="020B0604030504040204" pitchFamily="34" charset="0"/>
              </a:rPr>
              <a:pPr eaLnBrk="1" hangingPunct="1"/>
              <a:t>7</a:t>
            </a:fld>
            <a:endParaRPr lang="en-US" altLang="en-US">
              <a:latin typeface="Tahoma" panose="020B0604030504040204" pitchFamily="34"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For a very</a:t>
            </a:r>
            <a:r>
              <a:rPr lang="en-US" altLang="en-US" baseline="0" dirty="0">
                <a:latin typeface="Arial" panose="020B0604020202020204" pitchFamily="34" charset="0"/>
                <a:cs typeface="Arial" panose="020B0604020202020204" pitchFamily="34" charset="0"/>
              </a:rPr>
              <a:t> large operation, there may be many outsourced companies working on the project. Big corporations are one example. The U.S. government is another.</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5576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3FBB3D8-0BA9-4B35-B02E-734B1B249E99}" type="slidenum">
              <a:rPr lang="en-US" altLang="en-US">
                <a:latin typeface="Tahoma" panose="020B0604030504040204" pitchFamily="34" charset="0"/>
              </a:rPr>
              <a:pPr eaLnBrk="1" hangingPunct="1"/>
              <a:t>8</a:t>
            </a:fld>
            <a:endParaRPr lang="en-US" altLang="en-US">
              <a:latin typeface="Tahoma" panose="020B0604030504040204" pitchFamily="34"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These</a:t>
            </a:r>
            <a:r>
              <a:rPr lang="en-US" altLang="en-US" baseline="0" dirty="0">
                <a:latin typeface="Arial" panose="020B0604020202020204" pitchFamily="34" charset="0"/>
                <a:cs typeface="Arial" panose="020B0604020202020204" pitchFamily="34" charset="0"/>
              </a:rPr>
              <a:t> are the main motivators behind the outsourcing phenomenon in the IT economy. </a:t>
            </a: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5119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time in the early 2000s</a:t>
            </a:r>
            <a:r>
              <a:rPr lang="en-US" baseline="0" dirty="0"/>
              <a:t> there was a concern that our IT would all be outsourced abroad because of lower labor costs. This hasn’t happened, although a good part of IT services provided to US companies are done abroad. Nevertheless, there’s a thriving IT sector in the US as well.</a:t>
            </a:r>
            <a:endParaRPr lang="en-US" dirty="0"/>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9</a:t>
            </a:fld>
            <a:endParaRPr lang="en-US" altLang="en-US"/>
          </a:p>
        </p:txBody>
      </p:sp>
    </p:spTree>
    <p:extLst>
      <p:ext uri="{BB962C8B-B14F-4D97-AF65-F5344CB8AC3E}">
        <p14:creationId xmlns:p14="http://schemas.microsoft.com/office/powerpoint/2010/main" val="863319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Software produced by IT services</a:t>
            </a:r>
            <a:r>
              <a:rPr lang="en-US" altLang="en-US" baseline="0" dirty="0">
                <a:latin typeface="Arial" panose="020B0604020202020204" pitchFamily="34" charset="0"/>
                <a:cs typeface="Arial" panose="020B0604020202020204" pitchFamily="34" charset="0"/>
              </a:rPr>
              <a:t> firms is usually custom software, for a particular client. Other sectors, like packaged software providers and ERP firms have a particular product suite and help with installing (and sometimes customizing) it at customers’ sites. Open source products are typically free of charge, and governed by General Public License (GNU) license, Cloud computing includes cloud-based storage and computing infrastructure as well as software services and platforms.</a:t>
            </a:r>
          </a:p>
          <a:p>
            <a:endParaRPr lang="en-US" altLang="en-US" baseline="0" dirty="0">
              <a:latin typeface="Arial" panose="020B0604020202020204" pitchFamily="34" charset="0"/>
              <a:cs typeface="Arial" panose="020B0604020202020204" pitchFamily="34" charset="0"/>
            </a:endParaRP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D656153-D2A1-41ED-BF54-11D08DC633E5}" type="slidenum">
              <a:rPr lang="en-US" altLang="en-US">
                <a:latin typeface="Tahoma" panose="020B0604030504040204" pitchFamily="34" charset="0"/>
              </a:rPr>
              <a:pPr eaLnBrk="1" hangingPunct="1"/>
              <a:t>10</a:t>
            </a:fld>
            <a:endParaRPr lang="en-US" altLang="en-US">
              <a:latin typeface="Tahoma" panose="020B0604030504040204" pitchFamily="34" charset="0"/>
            </a:endParaRPr>
          </a:p>
        </p:txBody>
      </p:sp>
    </p:spTree>
    <p:extLst>
      <p:ext uri="{BB962C8B-B14F-4D97-AF65-F5344CB8AC3E}">
        <p14:creationId xmlns:p14="http://schemas.microsoft.com/office/powerpoint/2010/main" val="1404838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baseline="0" dirty="0">
                <a:latin typeface="Arial" panose="020B0604020202020204" pitchFamily="34" charset="0"/>
                <a:cs typeface="Arial" panose="020B0604020202020204" pitchFamily="34" charset="0"/>
              </a:rPr>
              <a:t>You might think of IBM as primarily a hardware provider, but it’s actually a leader in IT services as well, thanks in part to its purchase of PWC in 2002.</a:t>
            </a: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6FEC22B-C47E-48AD-BBC1-20015FAB2C09}" type="slidenum">
              <a:rPr lang="en-US" altLang="en-US">
                <a:latin typeface="Tahoma" panose="020B0604030504040204" pitchFamily="34" charset="0"/>
              </a:rPr>
              <a:pPr eaLnBrk="1" hangingPunct="1"/>
              <a:t>11</a:t>
            </a:fld>
            <a:endParaRPr lang="en-US" altLang="en-US">
              <a:latin typeface="Tahoma" panose="020B0604030504040204" pitchFamily="34" charset="0"/>
            </a:endParaRPr>
          </a:p>
        </p:txBody>
      </p:sp>
    </p:spTree>
    <p:extLst>
      <p:ext uri="{BB962C8B-B14F-4D97-AF65-F5344CB8AC3E}">
        <p14:creationId xmlns:p14="http://schemas.microsoft.com/office/powerpoint/2010/main" val="3673413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cs typeface="Arial" panose="020B0604020202020204" pitchFamily="34" charset="0"/>
            </a:endParaRPr>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CC26304-14C0-4220-A22F-CA56EE1B283C}" type="slidenum">
              <a:rPr lang="en-US" altLang="en-US">
                <a:latin typeface="Tahoma" panose="020B0604030504040204" pitchFamily="34" charset="0"/>
              </a:rPr>
              <a:pPr eaLnBrk="1" hangingPunct="1"/>
              <a:t>12</a:t>
            </a:fld>
            <a:endParaRPr lang="en-US" altLang="en-US">
              <a:latin typeface="Tahoma" panose="020B0604030504040204" pitchFamily="34" charset="0"/>
            </a:endParaRPr>
          </a:p>
        </p:txBody>
      </p:sp>
    </p:spTree>
    <p:extLst>
      <p:ext uri="{BB962C8B-B14F-4D97-AF65-F5344CB8AC3E}">
        <p14:creationId xmlns:p14="http://schemas.microsoft.com/office/powerpoint/2010/main" val="3407420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b="0" i="0" u="none" strike="noStrike" kern="1200" baseline="0" dirty="0">
                <a:solidFill>
                  <a:schemeClr val="tx1"/>
                </a:solidFill>
                <a:latin typeface="Arial" charset="0"/>
                <a:ea typeface="+mn-ea"/>
                <a:cs typeface="Arial" charset="0"/>
              </a:rPr>
              <a:t>Some off-the-shelf software systems cannot be modified to meet the specific, individual needs. These are sometimes called </a:t>
            </a:r>
            <a:r>
              <a:rPr kumimoji="1" lang="en-US" sz="1200" b="0" i="1" u="none" strike="noStrike" kern="1200" baseline="0" dirty="0">
                <a:solidFill>
                  <a:schemeClr val="tx1"/>
                </a:solidFill>
                <a:latin typeface="Arial" charset="0"/>
                <a:ea typeface="+mn-ea"/>
                <a:cs typeface="Arial" charset="0"/>
              </a:rPr>
              <a:t>turnkey systems</a:t>
            </a:r>
            <a:r>
              <a:rPr kumimoji="1" lang="en-US" sz="1200" b="0" i="0" u="none" strike="noStrike" kern="1200" baseline="0" dirty="0">
                <a:solidFill>
                  <a:schemeClr val="tx1"/>
                </a:solidFill>
                <a:latin typeface="Arial" charset="0"/>
                <a:ea typeface="+mn-ea"/>
                <a:cs typeface="Arial" charset="0"/>
              </a:rPr>
              <a:t>. Turnkey systems are changed only when a substantial number of users ask it. Other systems allow for modification and extension to meet more specialized needs. </a:t>
            </a: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en-US" altLang="en-US" sz="1200" b="0" i="0" u="none" strike="noStrike" kern="1200" baseline="0" dirty="0">
              <a:solidFill>
                <a:schemeClr val="tx1"/>
              </a:solidFill>
              <a:latin typeface="Arial" charset="0"/>
              <a:ea typeface="+mn-ea"/>
              <a:cs typeface="Arial" charset="0"/>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DB7284F-CF68-42A2-9160-A0DF0D15229C}" type="slidenum">
              <a:rPr lang="en-US" altLang="en-US">
                <a:latin typeface="Tahoma" panose="020B0604030504040204" pitchFamily="34" charset="0"/>
              </a:rPr>
              <a:pPr eaLnBrk="1" hangingPunct="1"/>
              <a:t>13</a:t>
            </a:fld>
            <a:endParaRPr lang="en-US" altLang="en-US">
              <a:latin typeface="Tahoma" panose="020B0604030504040204" pitchFamily="34" charset="0"/>
            </a:endParaRPr>
          </a:p>
        </p:txBody>
      </p:sp>
    </p:spTree>
    <p:extLst>
      <p:ext uri="{BB962C8B-B14F-4D97-AF65-F5344CB8AC3E}">
        <p14:creationId xmlns:p14="http://schemas.microsoft.com/office/powerpoint/2010/main" val="3630735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is part of the Microsoft Office suite, which includes Excel, PowerPoint,</a:t>
            </a:r>
            <a:r>
              <a:rPr lang="en-US" altLang="en-US" baseline="0" dirty="0">
                <a:latin typeface="Arial" panose="020B0604020202020204" pitchFamily="34" charset="0"/>
                <a:cs typeface="Arial" panose="020B0604020202020204" pitchFamily="34" charset="0"/>
              </a:rPr>
              <a:t> and other applications. This is used by the general public and is sometimes called “horizontal” application. Others prepackaged software products are for more specific audiences, and these are sometimes called “vertical” applications.</a:t>
            </a:r>
          </a:p>
          <a:p>
            <a:endParaRPr lang="en-US" altLang="en-US" baseline="0"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68AB228-7D76-4136-A371-3035ECFB5D2F}" type="slidenum">
              <a:rPr lang="en-US" altLang="en-US">
                <a:latin typeface="Tahoma" panose="020B0604030504040204" pitchFamily="34" charset="0"/>
              </a:rPr>
              <a:pPr eaLnBrk="1" hangingPunct="1"/>
              <a:t>14</a:t>
            </a:fld>
            <a:endParaRPr lang="en-US" altLang="en-US">
              <a:latin typeface="Tahoma" panose="020B0604030504040204" pitchFamily="34" charset="0"/>
            </a:endParaRPr>
          </a:p>
        </p:txBody>
      </p:sp>
    </p:spTree>
    <p:extLst>
      <p:ext uri="{BB962C8B-B14F-4D97-AF65-F5344CB8AC3E}">
        <p14:creationId xmlns:p14="http://schemas.microsoft.com/office/powerpoint/2010/main" val="268861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b="0" i="0" u="none" strike="noStrike" kern="1200" baseline="0" dirty="0">
                <a:solidFill>
                  <a:schemeClr val="tx1"/>
                </a:solidFill>
                <a:latin typeface="Arial" charset="0"/>
                <a:ea typeface="+mn-ea"/>
                <a:cs typeface="Arial" charset="0"/>
              </a:rPr>
              <a:t>The benefits of the enterprise solutions approach include a single repository of data for all aspects of a business process and the flexibility of the modules. A single repository ensures more consistent and accurate data, and requires less maintenance. But these are very complex systems with difficult implementations, requiring vendor support. Also, using them often requires a company to alter their business processes.</a:t>
            </a:r>
            <a:endParaRPr lang="en-US" altLang="en-US" dirty="0">
              <a:latin typeface="Arial" panose="020B0604020202020204" pitchFamily="34" charset="0"/>
              <a:cs typeface="Arial" panose="020B0604020202020204" pitchFamily="34" charset="0"/>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39121F4-915A-469F-BFB2-0D7FE6321273}" type="slidenum">
              <a:rPr lang="en-US" altLang="en-US">
                <a:latin typeface="Tahoma" panose="020B0604030504040204" pitchFamily="34" charset="0"/>
              </a:rPr>
              <a:pPr eaLnBrk="1" hangingPunct="1"/>
              <a:t>15</a:t>
            </a:fld>
            <a:endParaRPr lang="en-US" altLang="en-US">
              <a:latin typeface="Tahoma" panose="020B0604030504040204" pitchFamily="34" charset="0"/>
            </a:endParaRPr>
          </a:p>
        </p:txBody>
      </p:sp>
    </p:spTree>
    <p:extLst>
      <p:ext uri="{BB962C8B-B14F-4D97-AF65-F5344CB8AC3E}">
        <p14:creationId xmlns:p14="http://schemas.microsoft.com/office/powerpoint/2010/main" val="15342139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SAP is the biggest ERP</a:t>
            </a:r>
            <a:r>
              <a:rPr lang="en-US" altLang="en-US" baseline="0" dirty="0">
                <a:latin typeface="Arial" panose="020B0604020202020204" pitchFamily="34" charset="0"/>
                <a:cs typeface="Arial" panose="020B0604020202020204" pitchFamily="34" charset="0"/>
              </a:rPr>
              <a:t> provider. They are headquartered in Germany.</a:t>
            </a:r>
            <a:endParaRPr lang="en-US" altLang="en-US" dirty="0">
              <a:latin typeface="Arial" panose="020B0604020202020204" pitchFamily="34" charset="0"/>
              <a:cs typeface="Arial" panose="020B0604020202020204" pitchFamily="34" charset="0"/>
            </a:endParaRP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D8808C9-8570-49EB-BB8F-83D08E5D124D}" type="slidenum">
              <a:rPr lang="en-US" altLang="en-US">
                <a:latin typeface="Tahoma" panose="020B0604030504040204" pitchFamily="34" charset="0"/>
              </a:rPr>
              <a:pPr eaLnBrk="1" hangingPunct="1"/>
              <a:t>16</a:t>
            </a:fld>
            <a:endParaRPr lang="en-US" altLang="en-US">
              <a:latin typeface="Tahoma" panose="020B0604030504040204" pitchFamily="34" charset="0"/>
            </a:endParaRPr>
          </a:p>
        </p:txBody>
      </p:sp>
    </p:spTree>
    <p:extLst>
      <p:ext uri="{BB962C8B-B14F-4D97-AF65-F5344CB8AC3E}">
        <p14:creationId xmlns:p14="http://schemas.microsoft.com/office/powerpoint/2010/main" val="1344534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3BA592-0D0F-415A-97B5-163FF7AAF9D5}" type="slidenum">
              <a:rPr lang="en-US" altLang="en-US">
                <a:latin typeface="Tahoma" panose="020B0604030504040204" pitchFamily="34" charset="0"/>
              </a:rPr>
              <a:pPr eaLnBrk="1" hangingPunct="1"/>
              <a:t>17</a:t>
            </a:fld>
            <a:endParaRPr lang="en-US" altLang="en-US">
              <a:latin typeface="Tahoma" panose="020B0604030504040204" pitchFamily="34" charset="0"/>
            </a:endParaRPr>
          </a:p>
        </p:txBody>
      </p:sp>
    </p:spTree>
    <p:extLst>
      <p:ext uri="{BB962C8B-B14F-4D97-AF65-F5344CB8AC3E}">
        <p14:creationId xmlns:p14="http://schemas.microsoft.com/office/powerpoint/2010/main" val="4071943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Google</a:t>
            </a:r>
            <a:r>
              <a:rPr lang="en-US" altLang="en-US" baseline="0" dirty="0">
                <a:latin typeface="Arial" panose="020B0604020202020204" pitchFamily="34" charset="0"/>
                <a:cs typeface="Arial" panose="020B0604020202020204" pitchFamily="34" charset="0"/>
              </a:rPr>
              <a:t> Apps is a cloud-based competitor to Microsoft Office. Actually, Microsoft has Microsoft 365, which provides cloud-based Word, Excel, and PowerPoint applications. These are for the general user audience. By contrast, Salesforce.com is for a narrower target market (sales and customer relations).</a:t>
            </a:r>
            <a:endParaRPr lang="en-US" altLang="en-US" dirty="0">
              <a:latin typeface="Arial" panose="020B0604020202020204" pitchFamily="34" charset="0"/>
              <a:cs typeface="Arial" panose="020B0604020202020204" pitchFamily="34" charset="0"/>
            </a:endParaRP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FFD32DC-D54D-451E-92E7-D1002719426E}" type="slidenum">
              <a:rPr lang="en-US" altLang="en-US">
                <a:latin typeface="Tahoma" panose="020B0604030504040204" pitchFamily="34" charset="0"/>
              </a:rPr>
              <a:pPr eaLnBrk="1" hangingPunct="1"/>
              <a:t>18</a:t>
            </a:fld>
            <a:endParaRPr lang="en-US" altLang="en-US">
              <a:latin typeface="Tahoma" panose="020B0604030504040204" pitchFamily="34" charset="0"/>
            </a:endParaRPr>
          </a:p>
        </p:txBody>
      </p:sp>
    </p:spTree>
    <p:extLst>
      <p:ext uri="{BB962C8B-B14F-4D97-AF65-F5344CB8AC3E}">
        <p14:creationId xmlns:p14="http://schemas.microsoft.com/office/powerpoint/2010/main" val="38509662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As with every choice, the choice of cloud computing comes with its benefits and concerns.</a:t>
            </a:r>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13206B7-2130-4CDD-8FBE-0E2A24CB500A}" type="slidenum">
              <a:rPr lang="en-US" altLang="en-US">
                <a:latin typeface="Tahoma" panose="020B0604030504040204" pitchFamily="34" charset="0"/>
              </a:rPr>
              <a:pPr eaLnBrk="1" hangingPunct="1"/>
              <a:t>19</a:t>
            </a:fld>
            <a:endParaRPr lang="en-US" altLang="en-US">
              <a:latin typeface="Tahoma" panose="020B0604030504040204" pitchFamily="34" charset="0"/>
            </a:endParaRPr>
          </a:p>
        </p:txBody>
      </p:sp>
    </p:spTree>
    <p:extLst>
      <p:ext uri="{BB962C8B-B14F-4D97-AF65-F5344CB8AC3E}">
        <p14:creationId xmlns:p14="http://schemas.microsoft.com/office/powerpoint/2010/main" val="28774574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There are a huge number of open-source projects available. Some other widely-used</a:t>
            </a:r>
            <a:r>
              <a:rPr lang="en-US" altLang="en-US" baseline="0" dirty="0">
                <a:latin typeface="Arial" panose="020B0604020202020204" pitchFamily="34" charset="0"/>
                <a:cs typeface="Arial" panose="020B0604020202020204" pitchFamily="34" charset="0"/>
              </a:rPr>
              <a:t> open source software include the Apache HTTP web server, the Android operating system, the Hadoop distributed file system, and the osCommerce e-commerce platform, </a:t>
            </a:r>
            <a:endParaRPr lang="en-US" altLang="en-US" dirty="0">
              <a:latin typeface="Arial" panose="020B0604020202020204" pitchFamily="34" charset="0"/>
              <a:cs typeface="Arial" panose="020B0604020202020204" pitchFamily="34" charset="0"/>
            </a:endParaRP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B341CB6-D234-486D-9B9F-0D0CE2184F60}" type="slidenum">
              <a:rPr lang="en-US" altLang="en-US">
                <a:latin typeface="Tahoma" panose="020B0604030504040204" pitchFamily="34" charset="0"/>
              </a:rPr>
              <a:pPr eaLnBrk="1" hangingPunct="1"/>
              <a:t>20</a:t>
            </a:fld>
            <a:endParaRPr lang="en-US" altLang="en-US">
              <a:latin typeface="Tahoma" panose="020B0604030504040204" pitchFamily="34" charset="0"/>
            </a:endParaRPr>
          </a:p>
        </p:txBody>
      </p:sp>
    </p:spTree>
    <p:extLst>
      <p:ext uri="{BB962C8B-B14F-4D97-AF65-F5344CB8AC3E}">
        <p14:creationId xmlns:p14="http://schemas.microsoft.com/office/powerpoint/2010/main" val="15188042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For the most part, companies’ in-house</a:t>
            </a:r>
            <a:r>
              <a:rPr lang="en-US" altLang="en-US" baseline="0" dirty="0">
                <a:latin typeface="Arial" panose="020B0604020202020204" pitchFamily="34" charset="0"/>
                <a:cs typeface="Arial" panose="020B0604020202020204" pitchFamily="34" charset="0"/>
              </a:rPr>
              <a:t> development has gone down relative to years ago, primarily because of all of the other options available. But many companies still do some in-house development, and most of the time this is combined with components and systems from other sources.</a:t>
            </a:r>
            <a:endParaRPr lang="en-US" altLang="en-US" dirty="0">
              <a:latin typeface="Arial" panose="020B0604020202020204" pitchFamily="34" charset="0"/>
              <a:cs typeface="Arial" panose="020B0604020202020204" pitchFamily="34" charset="0"/>
            </a:endParaRPr>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69F6A68-A44C-4757-A110-DC828B84B47C}" type="slidenum">
              <a:rPr lang="en-US" altLang="en-US">
                <a:latin typeface="Tahoma" panose="020B0604030504040204" pitchFamily="34" charset="0"/>
              </a:rPr>
              <a:pPr eaLnBrk="1" hangingPunct="1"/>
              <a:t>21</a:t>
            </a:fld>
            <a:endParaRPr lang="en-US" altLang="en-US">
              <a:latin typeface="Tahoma" panose="020B0604030504040204" pitchFamily="34" charset="0"/>
            </a:endParaRPr>
          </a:p>
        </p:txBody>
      </p:sp>
    </p:spTree>
    <p:extLst>
      <p:ext uri="{BB962C8B-B14F-4D97-AF65-F5344CB8AC3E}">
        <p14:creationId xmlns:p14="http://schemas.microsoft.com/office/powerpoint/2010/main" val="33696357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This gives a good overview of the types</a:t>
            </a:r>
            <a:r>
              <a:rPr lang="en-US" altLang="en-US" baseline="0" dirty="0">
                <a:latin typeface="Arial" panose="020B0604020202020204" pitchFamily="34" charset="0"/>
                <a:cs typeface="Arial" panose="020B0604020202020204" pitchFamily="34" charset="0"/>
              </a:rPr>
              <a:t> of problems and staffing requirements appropriate for each solution. Some are more appropriate for generic tasks and some for specialized. Cost has an impact on which to choose as well. And some require more internal resources than others.</a:t>
            </a:r>
            <a:endParaRPr lang="en-US" altLang="en-US" dirty="0">
              <a:latin typeface="Arial" panose="020B0604020202020204" pitchFamily="34" charset="0"/>
              <a:cs typeface="Arial" panose="020B0604020202020204" pitchFamily="34" charset="0"/>
            </a:endParaRP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6F14A93-EC2F-4E5D-8787-446B7C1FE8BC}" type="slidenum">
              <a:rPr lang="en-US" altLang="en-US">
                <a:latin typeface="Tahoma" panose="020B0604030504040204" pitchFamily="34" charset="0"/>
              </a:rPr>
              <a:pPr eaLnBrk="1" hangingPunct="1"/>
              <a:t>22</a:t>
            </a:fld>
            <a:endParaRPr lang="en-US" altLang="en-US">
              <a:latin typeface="Tahoma" panose="020B0604030504040204" pitchFamily="34" charset="0"/>
            </a:endParaRPr>
          </a:p>
        </p:txBody>
      </p:sp>
    </p:spTree>
    <p:extLst>
      <p:ext uri="{BB962C8B-B14F-4D97-AF65-F5344CB8AC3E}">
        <p14:creationId xmlns:p14="http://schemas.microsoft.com/office/powerpoint/2010/main" val="40740258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These</a:t>
            </a:r>
            <a:r>
              <a:rPr lang="en-US" altLang="en-US" baseline="0" dirty="0">
                <a:latin typeface="Arial" panose="020B0604020202020204" pitchFamily="34" charset="0"/>
                <a:cs typeface="Arial" panose="020B0604020202020204" pitchFamily="34" charset="0"/>
              </a:rPr>
              <a:t> next few slides show factors to consider when selecting a software solution.</a:t>
            </a:r>
            <a:endParaRPr lang="en-US" altLang="en-US" dirty="0">
              <a:latin typeface="Arial" panose="020B0604020202020204" pitchFamily="34" charset="0"/>
              <a:cs typeface="Arial" panose="020B0604020202020204" pitchFamily="34" charset="0"/>
            </a:endParaRPr>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EDDB322-FEA6-4EA8-ADBF-C1EF338F9161}" type="slidenum">
              <a:rPr lang="en-US" altLang="en-US">
                <a:latin typeface="Tahoma" panose="020B0604030504040204" pitchFamily="34" charset="0"/>
              </a:rPr>
              <a:pPr eaLnBrk="1" hangingPunct="1"/>
              <a:t>23</a:t>
            </a:fld>
            <a:endParaRPr lang="en-US" altLang="en-US">
              <a:latin typeface="Tahoma" panose="020B0604030504040204" pitchFamily="34" charset="0"/>
            </a:endParaRPr>
          </a:p>
        </p:txBody>
      </p:sp>
    </p:spTree>
    <p:extLst>
      <p:ext uri="{BB962C8B-B14F-4D97-AF65-F5344CB8AC3E}">
        <p14:creationId xmlns:p14="http://schemas.microsoft.com/office/powerpoint/2010/main" val="10464543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4EBA791-6637-43B6-98F3-69D83A91E4BE}" type="slidenum">
              <a:rPr lang="en-US" altLang="en-US">
                <a:latin typeface="Tahoma" panose="020B0604030504040204" pitchFamily="34" charset="0"/>
              </a:rPr>
              <a:pPr eaLnBrk="1" hangingPunct="1"/>
              <a:t>24</a:t>
            </a:fld>
            <a:endParaRPr lang="en-US" altLang="en-US">
              <a:latin typeface="Tahoma" panose="020B0604030504040204" pitchFamily="34" charset="0"/>
            </a:endParaRPr>
          </a:p>
        </p:txBody>
      </p:sp>
    </p:spTree>
    <p:extLst>
      <p:ext uri="{BB962C8B-B14F-4D97-AF65-F5344CB8AC3E}">
        <p14:creationId xmlns:p14="http://schemas.microsoft.com/office/powerpoint/2010/main" val="695345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1B255DC-B1C3-4A46-9592-DDF4411772DF}" type="slidenum">
              <a:rPr lang="en-US" altLang="en-US">
                <a:latin typeface="Tahoma" panose="020B0604030504040204" pitchFamily="34" charset="0"/>
              </a:rPr>
              <a:pPr eaLnBrk="1" hangingPunct="1"/>
              <a:t>25</a:t>
            </a:fld>
            <a:endParaRPr lang="en-US" altLang="en-US">
              <a:latin typeface="Tahoma" panose="020B0604030504040204" pitchFamily="34" charset="0"/>
            </a:endParaRPr>
          </a:p>
        </p:txBody>
      </p:sp>
    </p:spTree>
    <p:extLst>
      <p:ext uri="{BB962C8B-B14F-4D97-AF65-F5344CB8AC3E}">
        <p14:creationId xmlns:p14="http://schemas.microsoft.com/office/powerpoint/2010/main" val="41431838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4ACCC33-FB98-488D-AB27-5642CC4828D5}" type="slidenum">
              <a:rPr lang="en-US" altLang="en-US">
                <a:latin typeface="Tahoma" panose="020B0604030504040204" pitchFamily="34" charset="0"/>
              </a:rPr>
              <a:pPr eaLnBrk="1" hangingPunct="1"/>
              <a:t>26</a:t>
            </a:fld>
            <a:endParaRPr lang="en-US" altLang="en-US">
              <a:latin typeface="Tahoma" panose="020B0604030504040204" pitchFamily="34" charset="0"/>
            </a:endParaRPr>
          </a:p>
        </p:txBody>
      </p:sp>
    </p:spTree>
    <p:extLst>
      <p:ext uri="{BB962C8B-B14F-4D97-AF65-F5344CB8AC3E}">
        <p14:creationId xmlns:p14="http://schemas.microsoft.com/office/powerpoint/2010/main" val="16908089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If you are going to compare different vendors</a:t>
            </a:r>
            <a:r>
              <a:rPr lang="en-US" altLang="en-US" baseline="0" dirty="0">
                <a:latin typeface="Arial" panose="020B0604020202020204" pitchFamily="34" charset="0"/>
                <a:cs typeface="Arial" panose="020B0604020202020204" pitchFamily="34" charset="0"/>
              </a:rPr>
              <a:t> and service providers, you need a systematic way of doing this. A clearly stated RFP can help the vendor develop their proposals. You can use a variety of information sources to judge which solution is the best fit for your company’s needs. </a:t>
            </a:r>
            <a:endParaRPr lang="en-US" altLang="en-US" dirty="0">
              <a:latin typeface="Arial" panose="020B0604020202020204" pitchFamily="34" charset="0"/>
              <a:cs typeface="Arial" panose="020B0604020202020204" pitchFamily="34" charset="0"/>
            </a:endParaRP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BED5620-742D-4937-8F6D-52E5E8B8E0F4}" type="slidenum">
              <a:rPr lang="en-US" altLang="en-US">
                <a:latin typeface="Tahoma" panose="020B0604030504040204" pitchFamily="34" charset="0"/>
              </a:rPr>
              <a:pPr eaLnBrk="1" hangingPunct="1"/>
              <a:t>27</a:t>
            </a:fld>
            <a:endParaRPr lang="en-US" altLang="en-US">
              <a:latin typeface="Tahoma" panose="020B0604030504040204" pitchFamily="34" charset="0"/>
            </a:endParaRPr>
          </a:p>
        </p:txBody>
      </p:sp>
    </p:spTree>
    <p:extLst>
      <p:ext uri="{BB962C8B-B14F-4D97-AF65-F5344CB8AC3E}">
        <p14:creationId xmlns:p14="http://schemas.microsoft.com/office/powerpoint/2010/main" val="1282425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cs typeface="Arial" panose="020B0604020202020204" pitchFamily="34" charset="0"/>
            </a:endParaRPr>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27D41C3-3896-4C1C-938D-78C13B8DA71C}" type="slidenum">
              <a:rPr lang="en-US" altLang="en-US">
                <a:latin typeface="Tahoma" panose="020B0604030504040204" pitchFamily="34" charset="0"/>
              </a:rPr>
              <a:pPr eaLnBrk="1" hangingPunct="1"/>
              <a:t>28</a:t>
            </a:fld>
            <a:endParaRPr lang="en-US" altLang="en-US">
              <a:latin typeface="Tahoma" panose="020B0604030504040204" pitchFamily="34" charset="0"/>
            </a:endParaRPr>
          </a:p>
        </p:txBody>
      </p:sp>
    </p:spTree>
    <p:extLst>
      <p:ext uri="{BB962C8B-B14F-4D97-AF65-F5344CB8AC3E}">
        <p14:creationId xmlns:p14="http://schemas.microsoft.com/office/powerpoint/2010/main" val="41988451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Obviously, if you’re going to make wise purchasing decisions, you need to do some research. These</a:t>
            </a:r>
            <a:r>
              <a:rPr lang="en-US" altLang="en-US" baseline="0" dirty="0">
                <a:latin typeface="Arial" panose="020B0604020202020204" pitchFamily="34" charset="0"/>
                <a:cs typeface="Arial" panose="020B0604020202020204" pitchFamily="34" charset="0"/>
              </a:rPr>
              <a:t> are the types of information sources you’ll look at. </a:t>
            </a:r>
            <a:endParaRPr lang="en-US" altLang="en-US" dirty="0">
              <a:latin typeface="Arial" panose="020B0604020202020204" pitchFamily="34" charset="0"/>
              <a:cs typeface="Arial" panose="020B0604020202020204" pitchFamily="34" charset="0"/>
            </a:endParaRPr>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EE74D3E-2640-4DBE-AAA5-AB3265E3F320}" type="slidenum">
              <a:rPr lang="en-US" altLang="en-US">
                <a:latin typeface="Tahoma" panose="020B0604030504040204" pitchFamily="34" charset="0"/>
              </a:rPr>
              <a:pPr eaLnBrk="1" hangingPunct="1"/>
              <a:t>29</a:t>
            </a:fld>
            <a:endParaRPr lang="en-US" altLang="en-US">
              <a:latin typeface="Tahoma" panose="020B0604030504040204" pitchFamily="34" charset="0"/>
            </a:endParaRPr>
          </a:p>
        </p:txBody>
      </p:sp>
    </p:spTree>
    <p:extLst>
      <p:ext uri="{BB962C8B-B14F-4D97-AF65-F5344CB8AC3E}">
        <p14:creationId xmlns:p14="http://schemas.microsoft.com/office/powerpoint/2010/main" val="37968925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cs typeface="Arial" panose="020B0604020202020204" pitchFamily="34" charset="0"/>
            </a:endParaRPr>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DD6D4A5-5909-404E-BD0C-AFDEC60D12B5}" type="slidenum">
              <a:rPr lang="en-US" altLang="en-US">
                <a:latin typeface="Tahoma" panose="020B0604030504040204" pitchFamily="34" charset="0"/>
              </a:rPr>
              <a:pPr eaLnBrk="1" hangingPunct="1"/>
              <a:t>30</a:t>
            </a:fld>
            <a:endParaRPr lang="en-US" altLang="en-US">
              <a:latin typeface="Tahoma" panose="020B0604030504040204" pitchFamily="34" charset="0"/>
            </a:endParaRPr>
          </a:p>
        </p:txBody>
      </p:sp>
    </p:spTree>
    <p:extLst>
      <p:ext uri="{BB962C8B-B14F-4D97-AF65-F5344CB8AC3E}">
        <p14:creationId xmlns:p14="http://schemas.microsoft.com/office/powerpoint/2010/main" val="16245303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Even</a:t>
            </a:r>
            <a:r>
              <a:rPr lang="en-US" altLang="en-US" baseline="0" dirty="0">
                <a:latin typeface="Arial" panose="020B0604020202020204" pitchFamily="34" charset="0"/>
                <a:cs typeface="Arial" panose="020B0604020202020204" pitchFamily="34" charset="0"/>
              </a:rPr>
              <a:t> if you do in-house development, you are reusing objects and components. For example, if you do Java programming, you are using the Java class library, which includes functionality for a wide variety of needs, including data structures, user interfaces, network and web processing, database manipulation, and a host of other services.</a:t>
            </a:r>
            <a:endParaRPr lang="en-US" altLang="en-US" dirty="0">
              <a:latin typeface="Arial" panose="020B0604020202020204" pitchFamily="34" charset="0"/>
              <a:cs typeface="Arial" panose="020B0604020202020204" pitchFamily="34" charset="0"/>
            </a:endParaRPr>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2A486F1-7A8F-4C3B-A786-E751CD1BE7AE}" type="slidenum">
              <a:rPr lang="en-US" altLang="en-US">
                <a:latin typeface="Tahoma" panose="020B0604030504040204" pitchFamily="34" charset="0"/>
              </a:rPr>
              <a:pPr eaLnBrk="1" hangingPunct="1"/>
              <a:t>31</a:t>
            </a:fld>
            <a:endParaRPr lang="en-US" altLang="en-US">
              <a:latin typeface="Tahoma" panose="020B0604030504040204" pitchFamily="34" charset="0"/>
            </a:endParaRPr>
          </a:p>
        </p:txBody>
      </p:sp>
    </p:spTree>
    <p:extLst>
      <p:ext uri="{BB962C8B-B14F-4D97-AF65-F5344CB8AC3E}">
        <p14:creationId xmlns:p14="http://schemas.microsoft.com/office/powerpoint/2010/main" val="17296706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cs typeface="Arial" panose="020B0604020202020204" pitchFamily="34" charset="0"/>
            </a:endParaRP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14BB646-496C-4839-91A9-B5F24672FC7C}" type="slidenum">
              <a:rPr lang="en-US" altLang="en-US">
                <a:latin typeface="Tahoma" panose="020B0604030504040204" pitchFamily="34" charset="0"/>
              </a:rPr>
              <a:pPr eaLnBrk="1" hangingPunct="1"/>
              <a:t>32</a:t>
            </a:fld>
            <a:endParaRPr lang="en-US" altLang="en-US">
              <a:latin typeface="Tahoma" panose="020B0604030504040204" pitchFamily="34" charset="0"/>
            </a:endParaRPr>
          </a:p>
        </p:txBody>
      </p:sp>
    </p:spTree>
    <p:extLst>
      <p:ext uri="{BB962C8B-B14F-4D97-AF65-F5344CB8AC3E}">
        <p14:creationId xmlns:p14="http://schemas.microsoft.com/office/powerpoint/2010/main" val="20494353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sz="1200" b="0" i="0" u="none" strike="noStrike" kern="1200" baseline="0" dirty="0">
                <a:solidFill>
                  <a:schemeClr val="tx1"/>
                </a:solidFill>
                <a:latin typeface="Arial" charset="0"/>
                <a:ea typeface="+mn-ea"/>
                <a:cs typeface="Arial" charset="0"/>
              </a:rPr>
              <a:t>The benefits of reuse grow as more corporate experience is gained from it, but so do the costs and the amount of resources necessary for reuse to work well.</a:t>
            </a:r>
            <a:endParaRPr lang="en-US" altLang="en-US" dirty="0">
              <a:latin typeface="Arial" panose="020B0604020202020204" pitchFamily="34" charset="0"/>
              <a:cs typeface="Arial" panose="020B0604020202020204" pitchFamily="34" charset="0"/>
            </a:endParaRPr>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21BD8D2-9D87-4F92-801F-680944AABA78}" type="slidenum">
              <a:rPr lang="en-US" altLang="en-US">
                <a:latin typeface="Tahoma" panose="020B0604030504040204" pitchFamily="34" charset="0"/>
              </a:rPr>
              <a:pPr eaLnBrk="1" hangingPunct="1"/>
              <a:t>33</a:t>
            </a:fld>
            <a:endParaRPr lang="en-US" altLang="en-US">
              <a:latin typeface="Tahoma" panose="020B0604030504040204" pitchFamily="34" charset="0"/>
            </a:endParaRPr>
          </a:p>
        </p:txBody>
      </p:sp>
    </p:spTree>
    <p:extLst>
      <p:ext uri="{BB962C8B-B14F-4D97-AF65-F5344CB8AC3E}">
        <p14:creationId xmlns:p14="http://schemas.microsoft.com/office/powerpoint/2010/main" val="24737357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could be from scratch, but very often it is based on reuse of other existing objects</a:t>
            </a:r>
            <a:r>
              <a:rPr lang="en-US" baseline="0" dirty="0"/>
              <a:t> and components. </a:t>
            </a:r>
          </a:p>
          <a:p>
            <a:endParaRPr lang="en-US" baseline="0" dirty="0"/>
          </a:p>
          <a:p>
            <a:r>
              <a:rPr lang="en-US" baseline="0" dirty="0"/>
              <a:t>Storage isn’t as simple as it may seem. It requires correctly labeling and cataloguing assets so that others can find them.</a:t>
            </a:r>
          </a:p>
          <a:p>
            <a:endParaRPr lang="en-US" baseline="0" dirty="0"/>
          </a:p>
          <a:p>
            <a:r>
              <a:rPr lang="en-US" baseline="0" dirty="0"/>
              <a:t>Just because the software is easily accessible doesn’t mean people will use it. It needs to be easy to use and understand. That’s where recontextualization comes in. Part of that involves providing good documentation.</a:t>
            </a:r>
            <a:endParaRPr lang="en-US" dirty="0"/>
          </a:p>
        </p:txBody>
      </p:sp>
      <p:sp>
        <p:nvSpPr>
          <p:cNvPr id="4" name="Slide Number Placeholder 3"/>
          <p:cNvSpPr>
            <a:spLocks noGrp="1"/>
          </p:cNvSpPr>
          <p:nvPr>
            <p:ph type="sldNum" sz="quarter" idx="10"/>
          </p:nvPr>
        </p:nvSpPr>
        <p:spPr/>
        <p:txBody>
          <a:bodyPr/>
          <a:lstStyle/>
          <a:p>
            <a:fld id="{F5F488AC-279B-4D8B-A679-FF80C5A02C55}" type="slidenum">
              <a:rPr lang="en-US" altLang="en-US" smtClean="0"/>
              <a:pPr/>
              <a:t>34</a:t>
            </a:fld>
            <a:endParaRPr lang="en-US" altLang="en-US"/>
          </a:p>
        </p:txBody>
      </p:sp>
    </p:spTree>
    <p:extLst>
      <p:ext uri="{BB962C8B-B14F-4D97-AF65-F5344CB8AC3E}">
        <p14:creationId xmlns:p14="http://schemas.microsoft.com/office/powerpoint/2010/main" val="38437855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panose="020B0604020202020204" pitchFamily="34" charset="0"/>
                <a:cs typeface="Arial" panose="020B0604020202020204" pitchFamily="34" charset="0"/>
              </a:rPr>
              <a:t>Recall</a:t>
            </a:r>
            <a:r>
              <a:rPr lang="en-US" altLang="en-US" baseline="0" dirty="0">
                <a:latin typeface="Arial" panose="020B0604020202020204" pitchFamily="34" charset="0"/>
                <a:cs typeface="Arial" panose="020B0604020202020204" pitchFamily="34" charset="0"/>
              </a:rPr>
              <a:t> the organizational and technical issues we talked about before. When choosing and approach to reuse, these issues will factor into the approach you choose. And the approach may evolve over time. For example, you wouldn’t use a mandated approach if there is a lot of resistance, and instead perhaps start with ad-hoc. Once it catches on, you can begin to encourage more, and only after time set up a formal framework. </a:t>
            </a: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B864998-7D89-44A8-A380-F3CD444254DA}" type="slidenum">
              <a:rPr lang="en-US" altLang="en-US">
                <a:latin typeface="Tahoma" panose="020B0604030504040204" pitchFamily="34" charset="0"/>
              </a:rPr>
              <a:pPr eaLnBrk="1" hangingPunct="1"/>
              <a:t>35</a:t>
            </a:fld>
            <a:endParaRPr lang="en-US" altLang="en-US">
              <a:latin typeface="Tahoma" panose="020B0604030504040204" pitchFamily="34" charset="0"/>
            </a:endParaRPr>
          </a:p>
        </p:txBody>
      </p:sp>
    </p:spTree>
    <p:extLst>
      <p:ext uri="{BB962C8B-B14F-4D97-AF65-F5344CB8AC3E}">
        <p14:creationId xmlns:p14="http://schemas.microsoft.com/office/powerpoint/2010/main" val="28681551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cs typeface="Arial" panose="020B0604020202020204" pitchFamily="34" charset="0"/>
              </a:rPr>
              <a:t>Note the differences in terms of cost and in terms of policies and procedures. In terms of policies and procedures,</a:t>
            </a:r>
            <a:r>
              <a:rPr lang="en-US" altLang="en-US" baseline="0" dirty="0">
                <a:latin typeface="Arial" panose="020B0604020202020204" pitchFamily="34" charset="0"/>
                <a:cs typeface="Arial" panose="020B0604020202020204" pitchFamily="34" charset="0"/>
              </a:rPr>
              <a:t> you can go from completely ad hoc to something very formalized and measurable. As you get more formal and mandated about it, the level of reuse and its cost go up.</a:t>
            </a:r>
            <a:endParaRPr lang="en-US" altLang="en-US" dirty="0">
              <a:latin typeface="Arial" panose="020B0604020202020204" pitchFamily="34" charset="0"/>
              <a:cs typeface="Arial" panose="020B0604020202020204" pitchFamily="34" charset="0"/>
            </a:endParaRPr>
          </a:p>
        </p:txBody>
      </p:sp>
      <p:sp>
        <p:nvSpPr>
          <p:cNvPr id="839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7656CF1-C163-4D31-B048-90540DC9E4D5}" type="slidenum">
              <a:rPr lang="en-US" altLang="en-US">
                <a:latin typeface="Tahoma" panose="020B0604030504040204" pitchFamily="34" charset="0"/>
              </a:rPr>
              <a:pPr eaLnBrk="1" hangingPunct="1"/>
              <a:t>36</a:t>
            </a:fld>
            <a:endParaRPr lang="en-US" altLang="en-US">
              <a:latin typeface="Tahoma" panose="020B0604030504040204" pitchFamily="34" charset="0"/>
            </a:endParaRPr>
          </a:p>
        </p:txBody>
      </p:sp>
    </p:spTree>
    <p:extLst>
      <p:ext uri="{BB962C8B-B14F-4D97-AF65-F5344CB8AC3E}">
        <p14:creationId xmlns:p14="http://schemas.microsoft.com/office/powerpoint/2010/main" val="41261494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2DB1FBF-D29C-4648-BBB0-0D6AF007DD02}" type="slidenum">
              <a:rPr lang="en-US" altLang="en-US">
                <a:latin typeface="Tahoma" panose="020B0604030504040204" pitchFamily="34" charset="0"/>
              </a:rPr>
              <a:pPr eaLnBrk="1" hangingPunct="1"/>
              <a:t>37</a:t>
            </a:fld>
            <a:endParaRPr lang="en-US" altLang="en-US">
              <a:latin typeface="Tahoma" panose="020B0604030504040204" pitchFamily="34" charset="0"/>
            </a:endParaRPr>
          </a:p>
        </p:txBody>
      </p:sp>
    </p:spTree>
    <p:extLst>
      <p:ext uri="{BB962C8B-B14F-4D97-AF65-F5344CB8AC3E}">
        <p14:creationId xmlns:p14="http://schemas.microsoft.com/office/powerpoint/2010/main" val="31451441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951829253"/>
      </p:ext>
    </p:extLst>
  </p:cSld>
  <p:clrMapOvr>
    <a:overrideClrMapping bg1="lt1" tx1="dk1" bg2="lt2" tx2="dk2" accent1="accent1" accent2="accent2" accent3="accent3" accent4="accent4" accent5="accent5" accent6="accent6" hlink="hlink" folHlink="folHlink"/>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0024002"/>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6940190"/>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0778965"/>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8" name="Group 4"/>
          <p:cNvGrpSpPr>
            <a:grpSpLocks/>
          </p:cNvGrpSpPr>
          <p:nvPr/>
        </p:nvGrpSpPr>
        <p:grpSpPr bwMode="auto">
          <a:xfrm>
            <a:off x="0" y="0"/>
            <a:ext cx="9144000" cy="546100"/>
            <a:chOff x="0" y="0"/>
            <a:chExt cx="5760" cy="344"/>
          </a:xfrm>
        </p:grpSpPr>
        <p:sp>
          <p:nvSpPr>
            <p:cNvPr id="1033"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defRPr/>
              </a:pPr>
              <a:endParaRPr lang="en-US" sz="2400">
                <a:latin typeface="Times New Roman" pitchFamily="18" charset="0"/>
                <a:cs typeface="Arial" charset="0"/>
              </a:endParaRPr>
            </a:p>
          </p:txBody>
        </p:sp>
        <p:sp>
          <p:nvSpPr>
            <p:cNvPr id="1034"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a:defRPr/>
              </a:pPr>
              <a:endParaRPr lang="en-US" sz="2400">
                <a:latin typeface="Times New Roman" pitchFamily="18" charset="0"/>
                <a:cs typeface="Arial" charset="0"/>
              </a:endParaRPr>
            </a:p>
          </p:txBody>
        </p:sp>
        <p:sp>
          <p:nvSpPr>
            <p:cNvPr id="1035"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6"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7"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sp>
          <p:nvSpPr>
            <p:cNvPr id="1038"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a:defRPr/>
              </a:pPr>
              <a:endParaRPr lang="en-US">
                <a:solidFill>
                  <a:schemeClr val="hlink"/>
                </a:solidFill>
                <a:latin typeface="Arial" charset="0"/>
                <a:cs typeface="Arial" charset="0"/>
              </a:endParaRPr>
            </a:p>
          </p:txBody>
        </p:sp>
        <p:sp>
          <p:nvSpPr>
            <p:cNvPr id="1039"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a:defRPr/>
              </a:pPr>
              <a:endParaRPr lang="en-US" sz="2400">
                <a:latin typeface="Times New Roman" pitchFamily="18" charset="0"/>
                <a:cs typeface="Arial" charset="0"/>
              </a:endParaRPr>
            </a:p>
          </p:txBody>
        </p:sp>
        <p:sp>
          <p:nvSpPr>
            <p:cNvPr id="1040"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sp>
          <p:nvSpPr>
            <p:cNvPr id="1041"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a:defRPr/>
              </a:pPr>
              <a:endParaRPr lang="en-US">
                <a:solidFill>
                  <a:schemeClr val="accent2"/>
                </a:solidFill>
                <a:latin typeface="Arial" charset="0"/>
                <a:cs typeface="Arial" charset="0"/>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86737" name="Rectangle 17"/>
          <p:cNvSpPr>
            <a:spLocks noChangeArrowheads="1"/>
          </p:cNvSpPr>
          <p:nvPr userDrawn="1"/>
        </p:nvSpPr>
        <p:spPr bwMode="auto">
          <a:xfrm>
            <a:off x="3276600" y="6153150"/>
            <a:ext cx="2895600" cy="476250"/>
          </a:xfrm>
          <a:prstGeom prst="rect">
            <a:avLst/>
          </a:prstGeom>
          <a:noFill/>
          <a:ln w="9525">
            <a:noFill/>
            <a:miter lim="800000"/>
            <a:headEnd/>
            <a:tailEnd/>
          </a:ln>
          <a:effectLst/>
        </p:spPr>
        <p:txBody>
          <a:bodyPr anchor="b"/>
          <a:lstStyle/>
          <a:p>
            <a:pPr algn="ctr">
              <a:defRPr/>
            </a:pPr>
            <a:endParaRPr lang="en-US" sz="1400">
              <a:solidFill>
                <a:srgbClr val="000000"/>
              </a:solidFill>
              <a:effectLst>
                <a:outerShdw blurRad="38100" dist="38100" dir="2700000" algn="tl">
                  <a:srgbClr val="C0C0C0"/>
                </a:outerShdw>
              </a:effectLst>
              <a:latin typeface="Arial" charset="0"/>
              <a:cs typeface="Arial" charset="0"/>
            </a:endParaRPr>
          </a:p>
        </p:txBody>
      </p:sp>
      <p:sp>
        <p:nvSpPr>
          <p:cNvPr id="18" name="Text Box 7"/>
          <p:cNvSpPr txBox="1">
            <a:spLocks noChangeArrowheads="1"/>
          </p:cNvSpPr>
          <p:nvPr userDrawn="1"/>
        </p:nvSpPr>
        <p:spPr bwMode="auto">
          <a:xfrm>
            <a:off x="485907" y="6313488"/>
            <a:ext cx="1088760" cy="369332"/>
          </a:xfrm>
          <a:prstGeom prst="rect">
            <a:avLst/>
          </a:prstGeom>
          <a:noFill/>
          <a:ln>
            <a:miter lim="800000"/>
            <a:headEnd/>
            <a:tailEnd/>
          </a:ln>
        </p:spPr>
        <p:txBody>
          <a:bodyPr anchor="b"/>
          <a:lstStyle>
            <a:defPPr>
              <a:defRPr lang="en-US"/>
            </a:defPPr>
            <a:lvl1pPr algn="ctr">
              <a:defRPr>
                <a:solidFill>
                  <a:srgbClr val="000000"/>
                </a:solidFill>
                <a:effectLst>
                  <a:outerShdw blurRad="38100" dist="38100" dir="2700000" algn="tl">
                    <a:srgbClr val="FFFFFF"/>
                  </a:outerShdw>
                </a:effectLst>
                <a:latin typeface="Times New Roman" pitchFamily="18" charset="0"/>
              </a:defRPr>
            </a:lvl1pPr>
          </a:lstStyle>
          <a:p>
            <a:pPr lvl="0"/>
            <a:r>
              <a:rPr lang="en-US" sz="1600" dirty="0"/>
              <a:t>Chapter 2</a:t>
            </a:r>
          </a:p>
        </p:txBody>
      </p:sp>
      <p:sp>
        <p:nvSpPr>
          <p:cNvPr id="19" name="Rectangle 5"/>
          <p:cNvSpPr txBox="1">
            <a:spLocks noGrp="1" noChangeArrowheads="1"/>
          </p:cNvSpPr>
          <p:nvPr userDrawn="1"/>
        </p:nvSpPr>
        <p:spPr bwMode="auto">
          <a:xfrm>
            <a:off x="1328738" y="6242050"/>
            <a:ext cx="6386512" cy="476250"/>
          </a:xfrm>
          <a:prstGeom prst="rect">
            <a:avLst/>
          </a:prstGeom>
          <a:noFill/>
          <a:ln>
            <a:miter lim="800000"/>
            <a:headEnd/>
            <a:tailEnd/>
          </a:ln>
        </p:spPr>
        <p:txBody>
          <a:bodyPr anchor="b"/>
          <a:lstStyle/>
          <a:p>
            <a:pPr algn="ctr">
              <a:defRPr/>
            </a:pPr>
            <a:r>
              <a:rPr lang="en-US" sz="1600" dirty="0">
                <a:solidFill>
                  <a:srgbClr val="000000"/>
                </a:solidFill>
                <a:effectLst>
                  <a:outerShdw blurRad="38100" dist="38100" dir="2700000" algn="tl">
                    <a:srgbClr val="FFFFFF"/>
                  </a:outerShdw>
                </a:effectLst>
                <a:latin typeface="Times New Roman" pitchFamily="18" charset="0"/>
              </a:rPr>
              <a:t>Copyright © 2017 Pearson Education, Ltd. </a:t>
            </a:r>
          </a:p>
        </p:txBody>
      </p:sp>
      <p:sp>
        <p:nvSpPr>
          <p:cNvPr id="20" name="TextBox 19"/>
          <p:cNvSpPr txBox="1"/>
          <p:nvPr userDrawn="1"/>
        </p:nvSpPr>
        <p:spPr>
          <a:xfrm>
            <a:off x="7821038" y="6348968"/>
            <a:ext cx="972766" cy="369332"/>
          </a:xfrm>
          <a:prstGeom prst="rect">
            <a:avLst/>
          </a:prstGeom>
          <a:noFill/>
          <a:ln>
            <a:miter lim="800000"/>
            <a:headEnd/>
            <a:tailEnd/>
          </a:ln>
        </p:spPr>
        <p:txBody>
          <a:bodyPr anchor="b"/>
          <a:lstStyle>
            <a:defPPr>
              <a:defRPr lang="en-US"/>
            </a:defPPr>
            <a:lvl1pPr algn="ctr">
              <a:defRPr>
                <a:solidFill>
                  <a:srgbClr val="000000"/>
                </a:solidFill>
                <a:effectLst>
                  <a:outerShdw blurRad="38100" dist="38100" dir="2700000" algn="tl">
                    <a:srgbClr val="FFFFFF"/>
                  </a:outerShdw>
                </a:effectLst>
                <a:latin typeface="Times New Roman" pitchFamily="18" charset="0"/>
              </a:defRPr>
            </a:lvl1pPr>
          </a:lstStyle>
          <a:p>
            <a:pPr lvl="0"/>
            <a:r>
              <a:rPr lang="en-US" sz="1600" dirty="0"/>
              <a:t>2-</a:t>
            </a:r>
            <a:fld id="{6FB4FC82-C793-4410-817F-D8BC0BBDC2E9}" type="slidenum">
              <a:rPr lang="en-US" sz="1600" smtClean="0"/>
              <a:pPr lvl="0"/>
              <a:t>‹#›</a:t>
            </a:fld>
            <a:endParaRPr lang="en-US" sz="1600" dirty="0"/>
          </a:p>
        </p:txBody>
      </p:sp>
    </p:spTree>
  </p:cSld>
  <p:clrMap bg1="lt1" tx1="dk1" bg2="lt2" tx2="dk2" accent1="accent1" accent2="accent2" accent3="accent3" accent4="accent4" accent5="accent5" accent6="accent6" hlink="hlink" folHlink="folHlink"/>
  <p:sldLayoutIdLst>
    <p:sldLayoutId id="2147483779" r:id="rId1"/>
    <p:sldLayoutId id="2147483773" r:id="rId2"/>
    <p:sldLayoutId id="2147483774" r:id="rId3"/>
    <p:sldLayoutId id="2147483775" r:id="rId4"/>
  </p:sldLayoutIdLst>
  <p:transition>
    <p:zoom/>
  </p:transition>
  <p:hf hdr="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Grp="1" noChangeArrowheads="1"/>
          </p:cNvSpPr>
          <p:nvPr>
            <p:ph type="subTitle" idx="1"/>
          </p:nvPr>
        </p:nvSpPr>
        <p:spPr>
          <a:xfrm>
            <a:off x="990600" y="4495800"/>
            <a:ext cx="7086600" cy="1752600"/>
          </a:xfrm>
        </p:spPr>
        <p:txBody>
          <a:bodyPr/>
          <a:lstStyle/>
          <a:p>
            <a:pPr eaLnBrk="1" hangingPunct="1"/>
            <a:r>
              <a:rPr lang="en-US" altLang="en-US" sz="3600" b="1" dirty="0"/>
              <a:t>Chapter 2 </a:t>
            </a:r>
          </a:p>
          <a:p>
            <a:pPr eaLnBrk="1" hangingPunct="1"/>
            <a:r>
              <a:rPr lang="en-US" altLang="en-US" sz="3600" b="1" dirty="0"/>
              <a:t>The Origins of Software</a:t>
            </a:r>
          </a:p>
        </p:txBody>
      </p:sp>
      <p:sp>
        <p:nvSpPr>
          <p:cNvPr id="3075" name="Rectangle 8"/>
          <p:cNvSpPr>
            <a:spLocks noChangeArrowheads="1"/>
          </p:cNvSpPr>
          <p:nvPr/>
        </p:nvSpPr>
        <p:spPr bwMode="auto">
          <a:xfrm>
            <a:off x="914400" y="685800"/>
            <a:ext cx="74676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75000"/>
              </a:lnSpc>
            </a:pPr>
            <a:endParaRPr lang="en-US" altLang="en-US" sz="4000" b="1" dirty="0">
              <a:solidFill>
                <a:schemeClr val="tx2"/>
              </a:solidFill>
            </a:endParaRPr>
          </a:p>
          <a:p>
            <a:pPr algn="ctr" eaLnBrk="1" hangingPunct="1">
              <a:lnSpc>
                <a:spcPct val="75000"/>
              </a:lnSpc>
            </a:pPr>
            <a:endParaRPr lang="en-US" altLang="en-US" sz="4000" b="1" dirty="0">
              <a:solidFill>
                <a:schemeClr val="tx2"/>
              </a:solidFill>
            </a:endParaRPr>
          </a:p>
          <a:p>
            <a:pPr algn="ctr" eaLnBrk="1" hangingPunct="1"/>
            <a:r>
              <a:rPr lang="en-US" altLang="en-US" sz="4000" b="1" dirty="0">
                <a:solidFill>
                  <a:schemeClr val="tx2"/>
                </a:solidFill>
              </a:rPr>
              <a:t>Modern Systems Analysis</a:t>
            </a:r>
            <a:br>
              <a:rPr lang="en-US" altLang="en-US" sz="4000" b="1" dirty="0">
                <a:solidFill>
                  <a:schemeClr val="tx2"/>
                </a:solidFill>
              </a:rPr>
            </a:br>
            <a:r>
              <a:rPr lang="en-US" altLang="en-US" sz="4000" b="1" dirty="0">
                <a:solidFill>
                  <a:schemeClr val="tx2"/>
                </a:solidFill>
              </a:rPr>
              <a:t>and Design</a:t>
            </a:r>
            <a:br>
              <a:rPr lang="en-US" altLang="en-US" sz="4000" b="1" dirty="0">
                <a:solidFill>
                  <a:schemeClr val="tx2"/>
                </a:solidFill>
              </a:rPr>
            </a:br>
            <a:r>
              <a:rPr lang="en-US" altLang="en-US" sz="2400" b="1" dirty="0">
                <a:solidFill>
                  <a:schemeClr val="tx2"/>
                </a:solidFill>
              </a:rPr>
              <a:t>Eighth Edition</a:t>
            </a:r>
            <a:r>
              <a:rPr lang="en-US" altLang="en-US" sz="2400" b="1">
                <a:solidFill>
                  <a:schemeClr val="tx2"/>
                </a:solidFill>
              </a:rPr>
              <a:t>, Global </a:t>
            </a:r>
            <a:r>
              <a:rPr lang="en-US" altLang="en-US" sz="2400" b="1" dirty="0">
                <a:solidFill>
                  <a:schemeClr val="tx2"/>
                </a:solidFill>
              </a:rPr>
              <a:t>Edition </a:t>
            </a:r>
            <a:br>
              <a:rPr lang="en-US" altLang="en-US" sz="4000" b="1" dirty="0">
                <a:solidFill>
                  <a:schemeClr val="tx2"/>
                </a:solidFill>
              </a:rPr>
            </a:br>
            <a:br>
              <a:rPr lang="en-US" altLang="en-US" sz="4000" b="1" dirty="0">
                <a:solidFill>
                  <a:schemeClr val="tx2"/>
                </a:solidFill>
              </a:rPr>
            </a:br>
            <a:r>
              <a:rPr lang="en-US" altLang="en-US" sz="2800" b="1" dirty="0">
                <a:solidFill>
                  <a:schemeClr val="tx2"/>
                </a:solidFill>
              </a:rPr>
              <a:t>Joseph S. Valacich</a:t>
            </a:r>
            <a:br>
              <a:rPr lang="en-US" altLang="en-US" sz="2800" b="1" dirty="0">
                <a:solidFill>
                  <a:schemeClr val="tx2"/>
                </a:solidFill>
              </a:rPr>
            </a:br>
            <a:r>
              <a:rPr lang="en-US" altLang="en-US" sz="2800" b="1" dirty="0">
                <a:solidFill>
                  <a:schemeClr val="tx2"/>
                </a:solidFill>
              </a:rPr>
              <a:t>Joey F. George</a:t>
            </a: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pPr eaLnBrk="1" hangingPunct="1"/>
            <a:r>
              <a:rPr lang="en-US" altLang="en-US"/>
              <a:t>Learning Objectives</a:t>
            </a:r>
          </a:p>
        </p:txBody>
      </p:sp>
      <p:sp>
        <p:nvSpPr>
          <p:cNvPr id="3078" name="Rectangle 3"/>
          <p:cNvSpPr>
            <a:spLocks noGrp="1" noChangeArrowheads="1"/>
          </p:cNvSpPr>
          <p:nvPr>
            <p:ph type="body" idx="1"/>
          </p:nvPr>
        </p:nvSpPr>
        <p:spPr/>
        <p:txBody>
          <a:bodyPr/>
          <a:lstStyle/>
          <a:p>
            <a:pPr eaLnBrk="1" hangingPunct="1">
              <a:lnSpc>
                <a:spcPct val="90000"/>
              </a:lnSpc>
              <a:buClr>
                <a:srgbClr val="BA2212"/>
              </a:buClr>
              <a:buFont typeface="Wingdings" panose="05000000000000000000" pitchFamily="2" charset="2"/>
              <a:buChar char="ü"/>
            </a:pPr>
            <a:r>
              <a:rPr lang="en-US" altLang="en-US" sz="3600"/>
              <a:t>Explain outsourcing.</a:t>
            </a:r>
          </a:p>
          <a:p>
            <a:pPr eaLnBrk="1" hangingPunct="1">
              <a:lnSpc>
                <a:spcPct val="90000"/>
              </a:lnSpc>
              <a:buClr>
                <a:srgbClr val="BA2212"/>
              </a:buClr>
              <a:buFont typeface="Wingdings" panose="05000000000000000000" pitchFamily="2" charset="2"/>
              <a:buChar char="ü"/>
            </a:pPr>
            <a:r>
              <a:rPr lang="en-US" altLang="en-US" sz="3600"/>
              <a:t>Describe six different sources of software.</a:t>
            </a:r>
          </a:p>
          <a:p>
            <a:pPr eaLnBrk="1" hangingPunct="1">
              <a:lnSpc>
                <a:spcPct val="90000"/>
              </a:lnSpc>
              <a:buClr>
                <a:srgbClr val="BA2212"/>
              </a:buClr>
              <a:buFont typeface="Wingdings" panose="05000000000000000000" pitchFamily="2" charset="2"/>
              <a:buChar char="ü"/>
            </a:pPr>
            <a:r>
              <a:rPr lang="en-US" altLang="en-US" sz="3600"/>
              <a:t>Discuss how to evaluate off-the-shelf software.</a:t>
            </a:r>
          </a:p>
          <a:p>
            <a:pPr eaLnBrk="1" hangingPunct="1">
              <a:lnSpc>
                <a:spcPct val="90000"/>
              </a:lnSpc>
              <a:buClr>
                <a:srgbClr val="BA2212"/>
              </a:buClr>
              <a:buFont typeface="Wingdings" panose="05000000000000000000" pitchFamily="2" charset="2"/>
              <a:buChar char="ü"/>
            </a:pPr>
            <a:r>
              <a:rPr lang="en-US" altLang="en-US" sz="3600"/>
              <a:t>Explain reuse and its role in software development.</a:t>
            </a:r>
          </a:p>
        </p:txBody>
      </p:sp>
    </p:spTree>
    <p:extLst>
      <p:ext uri="{BB962C8B-B14F-4D97-AF65-F5344CB8AC3E}">
        <p14:creationId xmlns:p14="http://schemas.microsoft.com/office/powerpoint/2010/main" val="4277648685"/>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p:cNvSpPr>
            <a:spLocks noGrp="1" noChangeArrowheads="1"/>
          </p:cNvSpPr>
          <p:nvPr>
            <p:ph type="title"/>
          </p:nvPr>
        </p:nvSpPr>
        <p:spPr/>
        <p:txBody>
          <a:bodyPr/>
          <a:lstStyle/>
          <a:p>
            <a:r>
              <a:rPr lang="en-US" altLang="en-US" dirty="0"/>
              <a:t>Introduction</a:t>
            </a:r>
          </a:p>
        </p:txBody>
      </p:sp>
      <p:sp>
        <p:nvSpPr>
          <p:cNvPr id="4102" name="Rectangle 3"/>
          <p:cNvSpPr>
            <a:spLocks noGrp="1" noChangeArrowheads="1"/>
          </p:cNvSpPr>
          <p:nvPr>
            <p:ph type="body" idx="1"/>
          </p:nvPr>
        </p:nvSpPr>
        <p:spPr>
          <a:xfrm>
            <a:off x="533400" y="1676400"/>
            <a:ext cx="8229600" cy="3048000"/>
          </a:xfrm>
        </p:spPr>
        <p:txBody>
          <a:bodyPr/>
          <a:lstStyle/>
          <a:p>
            <a:r>
              <a:rPr lang="en-US" altLang="en-US" dirty="0"/>
              <a:t>Historically, software development for a corporate information systems department was done primarily in-house.</a:t>
            </a:r>
          </a:p>
          <a:p>
            <a:r>
              <a:rPr lang="en-US" altLang="en-US" dirty="0"/>
              <a:t>Now it involves use of components from external sources.</a:t>
            </a:r>
          </a:p>
          <a:p>
            <a:r>
              <a:rPr lang="en-US" altLang="en-US" dirty="0"/>
              <a:t>Much in-house application coding involves making the components work together.</a:t>
            </a:r>
          </a:p>
          <a:p>
            <a:endParaRPr lang="en-US" altLang="en-US" dirty="0"/>
          </a:p>
        </p:txBody>
      </p:sp>
    </p:spTree>
    <p:extLst>
      <p:ext uri="{BB962C8B-B14F-4D97-AF65-F5344CB8AC3E}">
        <p14:creationId xmlns:p14="http://schemas.microsoft.com/office/powerpoint/2010/main" val="4046805437"/>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p:cNvSpPr>
            <a:spLocks noGrp="1" noChangeArrowheads="1"/>
          </p:cNvSpPr>
          <p:nvPr>
            <p:ph type="title"/>
          </p:nvPr>
        </p:nvSpPr>
        <p:spPr/>
        <p:txBody>
          <a:bodyPr/>
          <a:lstStyle/>
          <a:p>
            <a:r>
              <a:rPr lang="en-US" altLang="en-US" dirty="0"/>
              <a:t>Introduction (cont.)</a:t>
            </a:r>
          </a:p>
        </p:txBody>
      </p:sp>
      <p:sp>
        <p:nvSpPr>
          <p:cNvPr id="4102" name="Rectangle 3"/>
          <p:cNvSpPr>
            <a:spLocks noGrp="1" noChangeArrowheads="1"/>
          </p:cNvSpPr>
          <p:nvPr>
            <p:ph type="body" idx="1"/>
          </p:nvPr>
        </p:nvSpPr>
        <p:spPr>
          <a:xfrm>
            <a:off x="533400" y="1676400"/>
            <a:ext cx="8229600" cy="3048000"/>
          </a:xfrm>
        </p:spPr>
        <p:txBody>
          <a:bodyPr/>
          <a:lstStyle/>
          <a:p>
            <a:r>
              <a:rPr lang="en-US" altLang="en-US" dirty="0"/>
              <a:t>Six sources of software:</a:t>
            </a:r>
          </a:p>
          <a:p>
            <a:pPr lvl="1"/>
            <a:r>
              <a:rPr lang="en-US" altLang="en-US" dirty="0"/>
              <a:t>Information technology service firms</a:t>
            </a:r>
          </a:p>
          <a:p>
            <a:pPr lvl="1"/>
            <a:r>
              <a:rPr lang="en-US" altLang="en-US" dirty="0"/>
              <a:t>Packaged software providers</a:t>
            </a:r>
          </a:p>
          <a:p>
            <a:pPr lvl="1"/>
            <a:r>
              <a:rPr lang="en-US" altLang="en-US" dirty="0"/>
              <a:t>Vendors of enterprise-wide solution software</a:t>
            </a:r>
          </a:p>
          <a:p>
            <a:pPr lvl="1"/>
            <a:r>
              <a:rPr lang="en-US" altLang="en-US" dirty="0"/>
              <a:t>Cloud computing</a:t>
            </a:r>
          </a:p>
          <a:p>
            <a:pPr lvl="1"/>
            <a:r>
              <a:rPr lang="en-US" altLang="en-US" dirty="0"/>
              <a:t>Open-source software</a:t>
            </a:r>
          </a:p>
          <a:p>
            <a:pPr lvl="1"/>
            <a:r>
              <a:rPr lang="en-US" altLang="en-US" dirty="0"/>
              <a:t>In-house development</a:t>
            </a:r>
          </a:p>
          <a:p>
            <a:r>
              <a:rPr lang="en-US" altLang="en-US" dirty="0"/>
              <a:t>There are ways to evaluate software from sources</a:t>
            </a:r>
          </a:p>
          <a:p>
            <a:endParaRPr lang="en-US" altLang="en-US" dirty="0"/>
          </a:p>
        </p:txBody>
      </p:sp>
    </p:spTree>
    <p:extLst>
      <p:ext uri="{BB962C8B-B14F-4D97-AF65-F5344CB8AC3E}">
        <p14:creationId xmlns:p14="http://schemas.microsoft.com/office/powerpoint/2010/main" val="2184309072"/>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print"/>
          <a:srcRect r="2366"/>
          <a:stretch/>
        </p:blipFill>
        <p:spPr>
          <a:xfrm flipH="1">
            <a:off x="6172200" y="3377648"/>
            <a:ext cx="2362200" cy="1772532"/>
          </a:xfrm>
          <a:prstGeom prst="rect">
            <a:avLst/>
          </a:prstGeom>
        </p:spPr>
      </p:pic>
      <p:sp>
        <p:nvSpPr>
          <p:cNvPr id="8197" name="Rectangle 2"/>
          <p:cNvSpPr>
            <a:spLocks noGrp="1" noChangeArrowheads="1"/>
          </p:cNvSpPr>
          <p:nvPr>
            <p:ph type="title"/>
          </p:nvPr>
        </p:nvSpPr>
        <p:spPr/>
        <p:txBody>
          <a:bodyPr/>
          <a:lstStyle/>
          <a:p>
            <a:pPr eaLnBrk="1" hangingPunct="1"/>
            <a:r>
              <a:rPr lang="en-US" altLang="en-US"/>
              <a:t>Sources of Software</a:t>
            </a:r>
          </a:p>
        </p:txBody>
      </p:sp>
      <p:sp>
        <p:nvSpPr>
          <p:cNvPr id="8198" name="Rectangle 3"/>
          <p:cNvSpPr>
            <a:spLocks noGrp="1" noChangeArrowheads="1"/>
          </p:cNvSpPr>
          <p:nvPr>
            <p:ph type="body" idx="1"/>
          </p:nvPr>
        </p:nvSpPr>
        <p:spPr>
          <a:xfrm>
            <a:off x="304800" y="1447800"/>
            <a:ext cx="8458200" cy="3886200"/>
          </a:xfrm>
        </p:spPr>
        <p:txBody>
          <a:bodyPr/>
          <a:lstStyle/>
          <a:p>
            <a:pPr eaLnBrk="1" hangingPunct="1"/>
            <a:r>
              <a:rPr lang="en-US" altLang="en-US" sz="3000" dirty="0"/>
              <a:t>Information technology services firm</a:t>
            </a:r>
          </a:p>
          <a:p>
            <a:pPr eaLnBrk="1" hangingPunct="1"/>
            <a:r>
              <a:rPr lang="en-US" altLang="en-US" sz="3000" dirty="0"/>
              <a:t>Packaged software producers</a:t>
            </a:r>
          </a:p>
          <a:p>
            <a:pPr eaLnBrk="1" hangingPunct="1"/>
            <a:r>
              <a:rPr lang="en-US" altLang="en-US" sz="3000" dirty="0"/>
              <a:t>Enterprise solutions software</a:t>
            </a:r>
          </a:p>
          <a:p>
            <a:pPr lvl="1" eaLnBrk="1" hangingPunct="1"/>
            <a:r>
              <a:rPr lang="en-US" altLang="en-US" sz="2600" dirty="0"/>
              <a:t>Enterprise Resource Planning (ERP)</a:t>
            </a:r>
          </a:p>
          <a:p>
            <a:pPr eaLnBrk="1" hangingPunct="1"/>
            <a:r>
              <a:rPr lang="en-US" altLang="en-US" sz="3000" dirty="0"/>
              <a:t>Cloud computing</a:t>
            </a:r>
          </a:p>
          <a:p>
            <a:pPr eaLnBrk="1" hangingPunct="1"/>
            <a:r>
              <a:rPr lang="en-US" altLang="en-US" sz="3000" dirty="0"/>
              <a:t>Open source software</a:t>
            </a:r>
          </a:p>
          <a:p>
            <a:pPr eaLnBrk="1" hangingPunct="1"/>
            <a:r>
              <a:rPr lang="en-US" altLang="en-US" sz="3000" dirty="0"/>
              <a:t>In-house developers</a:t>
            </a:r>
          </a:p>
          <a:p>
            <a:pPr eaLnBrk="1" hangingPunct="1"/>
            <a:endParaRPr lang="en-US" altLang="en-US" sz="2800" dirty="0"/>
          </a:p>
          <a:p>
            <a:pPr eaLnBrk="1" hangingPunct="1"/>
            <a:r>
              <a:rPr lang="en-US" altLang="en-US" sz="2800" dirty="0"/>
              <a:t>There are ways to evaluate software from sources</a:t>
            </a:r>
          </a:p>
          <a:p>
            <a:pPr eaLnBrk="1" hangingPunct="1"/>
            <a:endParaRPr lang="en-US" altLang="en-US" sz="3000" dirty="0"/>
          </a:p>
          <a:p>
            <a:pPr eaLnBrk="1" hangingPunct="1"/>
            <a:endParaRPr lang="en-US" altLang="en-US" sz="4000" dirty="0"/>
          </a:p>
        </p:txBody>
      </p:sp>
      <p:sp>
        <p:nvSpPr>
          <p:cNvPr id="5" name="Rectangle 7"/>
          <p:cNvSpPr>
            <a:spLocks noChangeArrowheads="1"/>
          </p:cNvSpPr>
          <p:nvPr/>
        </p:nvSpPr>
        <p:spPr bwMode="auto">
          <a:xfrm>
            <a:off x="6096000" y="5177135"/>
            <a:ext cx="2819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b="1" dirty="0"/>
              <a:t>FIGURE 2-1</a:t>
            </a:r>
          </a:p>
          <a:p>
            <a:pPr eaLnBrk="1" hangingPunct="1"/>
            <a:r>
              <a:rPr lang="en-US" altLang="en-US" sz="1200" dirty="0"/>
              <a:t>Sources of Application Software</a:t>
            </a:r>
          </a:p>
        </p:txBody>
      </p:sp>
    </p:spTree>
    <p:extLst>
      <p:ext uri="{BB962C8B-B14F-4D97-AF65-F5344CB8AC3E}">
        <p14:creationId xmlns:p14="http://schemas.microsoft.com/office/powerpoint/2010/main" val="960498687"/>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p:cNvSpPr>
            <a:spLocks noGrp="1" noChangeArrowheads="1"/>
          </p:cNvSpPr>
          <p:nvPr>
            <p:ph type="title"/>
          </p:nvPr>
        </p:nvSpPr>
        <p:spPr/>
        <p:txBody>
          <a:bodyPr/>
          <a:lstStyle/>
          <a:p>
            <a:pPr eaLnBrk="1" hangingPunct="1"/>
            <a:r>
              <a:rPr lang="en-US" altLang="en-US" sz="4000"/>
              <a:t>Systems Acquisition: Outsourcing</a:t>
            </a:r>
          </a:p>
        </p:txBody>
      </p:sp>
      <p:sp>
        <p:nvSpPr>
          <p:cNvPr id="5126" name="Rectangle 3"/>
          <p:cNvSpPr>
            <a:spLocks noGrp="1" noChangeArrowheads="1"/>
          </p:cNvSpPr>
          <p:nvPr>
            <p:ph type="body" idx="1"/>
          </p:nvPr>
        </p:nvSpPr>
        <p:spPr/>
        <p:txBody>
          <a:bodyPr/>
          <a:lstStyle/>
          <a:p>
            <a:pPr eaLnBrk="1" hangingPunct="1"/>
            <a:r>
              <a:rPr lang="en-US" altLang="en-US" sz="3600" b="1" dirty="0"/>
              <a:t>Outsourcing</a:t>
            </a:r>
            <a:r>
              <a:rPr lang="en-US" altLang="en-US" sz="3600" dirty="0"/>
              <a:t>: The practice of turning over responsibility of some or all of an organization’s information systems applications and operations to an outside firm</a:t>
            </a:r>
          </a:p>
        </p:txBody>
      </p:sp>
    </p:spTree>
    <p:extLst>
      <p:ext uri="{BB962C8B-B14F-4D97-AF65-F5344CB8AC3E}">
        <p14:creationId xmlns:p14="http://schemas.microsoft.com/office/powerpoint/2010/main" val="607894856"/>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p:cNvSpPr>
            <a:spLocks noGrp="1" noChangeArrowheads="1"/>
          </p:cNvSpPr>
          <p:nvPr>
            <p:ph type="title"/>
          </p:nvPr>
        </p:nvSpPr>
        <p:spPr/>
        <p:txBody>
          <a:bodyPr/>
          <a:lstStyle/>
          <a:p>
            <a:pPr eaLnBrk="1" hangingPunct="1"/>
            <a:r>
              <a:rPr lang="en-US" altLang="en-US" sz="4000"/>
              <a:t>Systems Acquisition: Outsourcing (Cont.)</a:t>
            </a:r>
          </a:p>
        </p:txBody>
      </p:sp>
      <p:sp>
        <p:nvSpPr>
          <p:cNvPr id="6150" name="Rectangle 3"/>
          <p:cNvSpPr>
            <a:spLocks noGrp="1" noChangeArrowheads="1"/>
          </p:cNvSpPr>
          <p:nvPr>
            <p:ph type="body" idx="1"/>
          </p:nvPr>
        </p:nvSpPr>
        <p:spPr/>
        <p:txBody>
          <a:bodyPr/>
          <a:lstStyle/>
          <a:p>
            <a:pPr eaLnBrk="1" hangingPunct="1"/>
            <a:r>
              <a:rPr lang="en-US" altLang="en-US" sz="3600"/>
              <a:t>Outsourcing Example</a:t>
            </a:r>
          </a:p>
          <a:p>
            <a:pPr lvl="1" eaLnBrk="1" hangingPunct="1"/>
            <a:r>
              <a:rPr lang="en-US" altLang="en-US" sz="3200"/>
              <a:t>Shell Oil outsource spending: $3.2 billion (2008)</a:t>
            </a:r>
          </a:p>
          <a:p>
            <a:pPr lvl="1" eaLnBrk="1" hangingPunct="1"/>
            <a:r>
              <a:rPr lang="en-US" altLang="en-US" sz="3200"/>
              <a:t>Shell’s outsourcing vendors (2008-2011): EDS, T-Systems, AT&amp;T, IBM, Logica, Wipro, Accenture</a:t>
            </a:r>
          </a:p>
        </p:txBody>
      </p:sp>
    </p:spTree>
    <p:extLst>
      <p:ext uri="{BB962C8B-B14F-4D97-AF65-F5344CB8AC3E}">
        <p14:creationId xmlns:p14="http://schemas.microsoft.com/office/powerpoint/2010/main" val="2584383274"/>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2"/>
          <p:cNvSpPr>
            <a:spLocks noGrp="1" noChangeArrowheads="1"/>
          </p:cNvSpPr>
          <p:nvPr>
            <p:ph type="title"/>
          </p:nvPr>
        </p:nvSpPr>
        <p:spPr/>
        <p:txBody>
          <a:bodyPr/>
          <a:lstStyle/>
          <a:p>
            <a:pPr eaLnBrk="1" hangingPunct="1"/>
            <a:r>
              <a:rPr lang="en-US" altLang="en-US"/>
              <a:t>Outsourcing (Cont.)</a:t>
            </a:r>
          </a:p>
        </p:txBody>
      </p:sp>
      <p:sp>
        <p:nvSpPr>
          <p:cNvPr id="7174" name="Rectangle 3"/>
          <p:cNvSpPr>
            <a:spLocks noGrp="1" noChangeArrowheads="1"/>
          </p:cNvSpPr>
          <p:nvPr>
            <p:ph type="body" idx="1"/>
          </p:nvPr>
        </p:nvSpPr>
        <p:spPr>
          <a:xfrm>
            <a:off x="424070" y="1524000"/>
            <a:ext cx="8229600" cy="3886200"/>
          </a:xfrm>
        </p:spPr>
        <p:txBody>
          <a:bodyPr/>
          <a:lstStyle/>
          <a:p>
            <a:pPr eaLnBrk="1" hangingPunct="1">
              <a:lnSpc>
                <a:spcPct val="80000"/>
              </a:lnSpc>
            </a:pPr>
            <a:r>
              <a:rPr lang="en-US" altLang="en-US" sz="4000" dirty="0"/>
              <a:t>Reasons to outsource</a:t>
            </a:r>
          </a:p>
          <a:p>
            <a:pPr lvl="1" eaLnBrk="1" hangingPunct="1"/>
            <a:r>
              <a:rPr lang="en-US" altLang="en-US" sz="2600" dirty="0"/>
              <a:t>Cost-effectiveness</a:t>
            </a:r>
          </a:p>
          <a:p>
            <a:pPr lvl="1" eaLnBrk="1" hangingPunct="1"/>
            <a:r>
              <a:rPr lang="en-US" altLang="en-US" sz="2600" dirty="0"/>
              <a:t>Take advantage of economies of scale</a:t>
            </a:r>
          </a:p>
          <a:p>
            <a:pPr lvl="1" eaLnBrk="1" hangingPunct="1"/>
            <a:r>
              <a:rPr lang="en-US" altLang="en-US" sz="2600" dirty="0"/>
              <a:t>Make up for lack of in-house knowledge</a:t>
            </a:r>
          </a:p>
          <a:p>
            <a:pPr lvl="1" eaLnBrk="1" hangingPunct="1"/>
            <a:r>
              <a:rPr lang="en-US" altLang="en-US" sz="2600" dirty="0"/>
              <a:t>Free up internal resources</a:t>
            </a:r>
          </a:p>
          <a:p>
            <a:pPr lvl="1" eaLnBrk="1" hangingPunct="1"/>
            <a:r>
              <a:rPr lang="en-US" altLang="en-US" sz="2600" dirty="0"/>
              <a:t>Reduce time to market</a:t>
            </a:r>
          </a:p>
          <a:p>
            <a:pPr lvl="1" eaLnBrk="1" hangingPunct="1"/>
            <a:r>
              <a:rPr lang="en-US" altLang="en-US" sz="2600" dirty="0"/>
              <a:t>Increase process efficiencies</a:t>
            </a:r>
          </a:p>
          <a:p>
            <a:pPr lvl="1" eaLnBrk="1" hangingPunct="1"/>
            <a:r>
              <a:rPr lang="en-US" altLang="en-US" sz="2600" dirty="0"/>
              <a:t>System development is a non-core activity for the organization</a:t>
            </a:r>
          </a:p>
          <a:p>
            <a:pPr lvl="1" eaLnBrk="1" hangingPunct="1"/>
            <a:r>
              <a:rPr lang="en-US" altLang="en-US" sz="2400" dirty="0"/>
              <a:t>Political reasons (e.g. labor disputes)</a:t>
            </a:r>
          </a:p>
          <a:p>
            <a:pPr lvl="1" eaLnBrk="1" hangingPunct="1"/>
            <a:endParaRPr lang="en-US" altLang="en-US" sz="2600" dirty="0"/>
          </a:p>
          <a:p>
            <a:pPr lvl="1" eaLnBrk="1" hangingPunct="1">
              <a:lnSpc>
                <a:spcPct val="80000"/>
              </a:lnSpc>
            </a:pPr>
            <a:endParaRPr lang="en-US" altLang="en-US" sz="3600" dirty="0"/>
          </a:p>
        </p:txBody>
      </p:sp>
    </p:spTree>
    <p:extLst>
      <p:ext uri="{BB962C8B-B14F-4D97-AF65-F5344CB8AC3E}">
        <p14:creationId xmlns:p14="http://schemas.microsoft.com/office/powerpoint/2010/main" val="1567701630"/>
      </p:ext>
    </p:extLst>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Global Outsourcing</a:t>
            </a:r>
          </a:p>
        </p:txBody>
      </p:sp>
      <p:sp>
        <p:nvSpPr>
          <p:cNvPr id="3" name="Content Placeholder 2"/>
          <p:cNvSpPr>
            <a:spLocks noGrp="1"/>
          </p:cNvSpPr>
          <p:nvPr>
            <p:ph idx="1"/>
          </p:nvPr>
        </p:nvSpPr>
        <p:spPr/>
        <p:txBody>
          <a:bodyPr/>
          <a:lstStyle/>
          <a:p>
            <a:r>
              <a:rPr lang="en-US" dirty="0"/>
              <a:t>Top outsourcing countries: India, China, Malaysia (A.T. Kearny report 2014)</a:t>
            </a:r>
          </a:p>
          <a:p>
            <a:r>
              <a:rPr lang="en-US" dirty="0"/>
              <a:t>Top 10 are in Asia, Latin America, Europe, and Africa</a:t>
            </a:r>
          </a:p>
          <a:p>
            <a:r>
              <a:rPr lang="en-US" dirty="0"/>
              <a:t>Some U.S. firms are switching to nearshoring (same time zone, low labor costs)</a:t>
            </a:r>
          </a:p>
        </p:txBody>
      </p:sp>
    </p:spTree>
    <p:extLst>
      <p:ext uri="{BB962C8B-B14F-4D97-AF65-F5344CB8AC3E}">
        <p14:creationId xmlns:p14="http://schemas.microsoft.com/office/powerpoint/2010/main" val="1020554731"/>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2"/>
          <p:cNvSpPr>
            <a:spLocks noGrp="1" noChangeArrowheads="1"/>
          </p:cNvSpPr>
          <p:nvPr>
            <p:ph type="title"/>
          </p:nvPr>
        </p:nvSpPr>
        <p:spPr>
          <a:xfrm>
            <a:off x="457200" y="152400"/>
            <a:ext cx="8305800" cy="1143000"/>
          </a:xfrm>
        </p:spPr>
        <p:txBody>
          <a:bodyPr/>
          <a:lstStyle/>
          <a:p>
            <a:pPr eaLnBrk="1" hangingPunct="1"/>
            <a:r>
              <a:rPr lang="en-US" altLang="en-US"/>
              <a:t>Sources of Software (Cont.)</a:t>
            </a:r>
          </a:p>
        </p:txBody>
      </p:sp>
      <p:pic>
        <p:nvPicPr>
          <p:cNvPr id="2" name="Picture 1"/>
          <p:cNvPicPr>
            <a:picLocks noChangeAspect="1"/>
          </p:cNvPicPr>
          <p:nvPr/>
        </p:nvPicPr>
        <p:blipFill>
          <a:blip r:embed="rId3" cstate="print"/>
          <a:stretch>
            <a:fillRect/>
          </a:stretch>
        </p:blipFill>
        <p:spPr>
          <a:xfrm>
            <a:off x="1042987" y="1143000"/>
            <a:ext cx="7134225" cy="4910339"/>
          </a:xfrm>
          <a:prstGeom prst="rect">
            <a:avLst/>
          </a:prstGeom>
        </p:spPr>
      </p:pic>
    </p:spTree>
    <p:extLst>
      <p:ext uri="{BB962C8B-B14F-4D97-AF65-F5344CB8AC3E}">
        <p14:creationId xmlns:p14="http://schemas.microsoft.com/office/powerpoint/2010/main" val="891189380"/>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p:cNvSpPr>
            <a:spLocks noGrp="1" noChangeArrowheads="1"/>
          </p:cNvSpPr>
          <p:nvPr>
            <p:ph type="title"/>
          </p:nvPr>
        </p:nvSpPr>
        <p:spPr/>
        <p:txBody>
          <a:bodyPr/>
          <a:lstStyle/>
          <a:p>
            <a:pPr eaLnBrk="1" hangingPunct="1"/>
            <a:r>
              <a:rPr lang="en-US" altLang="en-US" sz="4000"/>
              <a:t>Information Technology (IT) Services Firms</a:t>
            </a:r>
          </a:p>
        </p:txBody>
      </p:sp>
      <p:sp>
        <p:nvSpPr>
          <p:cNvPr id="11270" name="Rectangle 3"/>
          <p:cNvSpPr>
            <a:spLocks noGrp="1" noChangeArrowheads="1"/>
          </p:cNvSpPr>
          <p:nvPr>
            <p:ph type="body" idx="1"/>
          </p:nvPr>
        </p:nvSpPr>
        <p:spPr/>
        <p:txBody>
          <a:bodyPr/>
          <a:lstStyle/>
          <a:p>
            <a:pPr eaLnBrk="1" hangingPunct="1"/>
            <a:r>
              <a:rPr lang="en-US" altLang="en-US" dirty="0"/>
              <a:t>Help companies develop custom information systems for internal use</a:t>
            </a:r>
          </a:p>
          <a:p>
            <a:pPr eaLnBrk="1" hangingPunct="1"/>
            <a:r>
              <a:rPr lang="en-US" altLang="en-US" dirty="0"/>
              <a:t>Develop, host, and run applications for customers</a:t>
            </a:r>
          </a:p>
          <a:p>
            <a:pPr eaLnBrk="1" hangingPunct="1"/>
            <a:r>
              <a:rPr lang="en-US" altLang="en-US" dirty="0"/>
              <a:t>Provide other services (management, accounting, auditing, financial)</a:t>
            </a:r>
          </a:p>
        </p:txBody>
      </p:sp>
    </p:spTree>
    <p:extLst>
      <p:ext uri="{BB962C8B-B14F-4D97-AF65-F5344CB8AC3E}">
        <p14:creationId xmlns:p14="http://schemas.microsoft.com/office/powerpoint/2010/main" val="186683173"/>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p:txBody>
          <a:bodyPr/>
          <a:lstStyle/>
          <a:p>
            <a:pPr eaLnBrk="1" hangingPunct="1"/>
            <a:r>
              <a:rPr lang="en-US" altLang="en-US"/>
              <a:t>Packaged Software Producers</a:t>
            </a:r>
          </a:p>
        </p:txBody>
      </p:sp>
      <p:sp>
        <p:nvSpPr>
          <p:cNvPr id="12294" name="Rectangle 3"/>
          <p:cNvSpPr>
            <a:spLocks noGrp="1" noChangeArrowheads="1"/>
          </p:cNvSpPr>
          <p:nvPr>
            <p:ph type="body" idx="1"/>
          </p:nvPr>
        </p:nvSpPr>
        <p:spPr/>
        <p:txBody>
          <a:bodyPr/>
          <a:lstStyle/>
          <a:p>
            <a:pPr eaLnBrk="1" hangingPunct="1"/>
            <a:r>
              <a:rPr lang="en-US" altLang="en-US" sz="3600"/>
              <a:t>Serve many market segments</a:t>
            </a:r>
          </a:p>
          <a:p>
            <a:pPr eaLnBrk="1" hangingPunct="1"/>
            <a:r>
              <a:rPr lang="en-US" altLang="en-US" sz="3600"/>
              <a:t>Provide software ranging from broad-based packages (i.e. general ledger) to niche packages (i.e. day care management) </a:t>
            </a:r>
          </a:p>
          <a:p>
            <a:pPr eaLnBrk="1" hangingPunct="1"/>
            <a:r>
              <a:rPr lang="en-US" altLang="en-US" sz="3600"/>
              <a:t>Pre-packaged, off-the-shelf software</a:t>
            </a:r>
          </a:p>
          <a:p>
            <a:pPr eaLnBrk="1" hangingPunct="1"/>
            <a:endParaRPr lang="en-US" altLang="en-US" sz="3600"/>
          </a:p>
          <a:p>
            <a:pPr eaLnBrk="1" hangingPunct="1">
              <a:buFont typeface="Wingdings" panose="05000000000000000000" pitchFamily="2" charset="2"/>
              <a:buNone/>
            </a:pPr>
            <a:endParaRPr lang="en-US" altLang="en-US"/>
          </a:p>
        </p:txBody>
      </p:sp>
    </p:spTree>
    <p:extLst>
      <p:ext uri="{BB962C8B-B14F-4D97-AF65-F5344CB8AC3E}">
        <p14:creationId xmlns:p14="http://schemas.microsoft.com/office/powerpoint/2010/main" val="3797905212"/>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2"/>
          <p:cNvSpPr>
            <a:spLocks noGrp="1" noChangeArrowheads="1"/>
          </p:cNvSpPr>
          <p:nvPr>
            <p:ph type="title"/>
          </p:nvPr>
        </p:nvSpPr>
        <p:spPr/>
        <p:txBody>
          <a:bodyPr/>
          <a:lstStyle/>
          <a:p>
            <a:pPr eaLnBrk="1" hangingPunct="1"/>
            <a:r>
              <a:rPr lang="en-US" altLang="en-US" sz="4000"/>
              <a:t>Packaged Software Producers (Cont.)</a:t>
            </a:r>
          </a:p>
        </p:txBody>
      </p:sp>
      <p:sp>
        <p:nvSpPr>
          <p:cNvPr id="13318" name="Rectangle 3"/>
          <p:cNvSpPr>
            <a:spLocks noGrp="1" noChangeArrowheads="1"/>
          </p:cNvSpPr>
          <p:nvPr>
            <p:ph type="body" idx="1"/>
          </p:nvPr>
        </p:nvSpPr>
        <p:spPr/>
        <p:txBody>
          <a:bodyPr/>
          <a:lstStyle/>
          <a:p>
            <a:pPr eaLnBrk="1" hangingPunct="1"/>
            <a:r>
              <a:rPr lang="en-US" altLang="en-US" sz="3000"/>
              <a:t>Software runs on all size computers, from microcomputers to large mainframes.</a:t>
            </a:r>
          </a:p>
          <a:p>
            <a:pPr eaLnBrk="1" hangingPunct="1"/>
            <a:r>
              <a:rPr lang="en-US" altLang="en-US" sz="3000"/>
              <a:t>Prepackaged software is off-the-shelf, turnkey software (i.e. not customizable).</a:t>
            </a:r>
          </a:p>
          <a:p>
            <a:pPr eaLnBrk="1" hangingPunct="1"/>
            <a:r>
              <a:rPr lang="en-US" altLang="en-US" sz="3000"/>
              <a:t>Off-the-shelf software, at best, meets 70% of organizations’ needs.</a:t>
            </a:r>
          </a:p>
          <a:p>
            <a:pPr eaLnBrk="1" hangingPunct="1">
              <a:buFont typeface="Wingdings" panose="05000000000000000000" pitchFamily="2" charset="2"/>
              <a:buNone/>
            </a:pPr>
            <a:endParaRPr lang="en-US" altLang="en-US"/>
          </a:p>
        </p:txBody>
      </p:sp>
    </p:spTree>
    <p:extLst>
      <p:ext uri="{BB962C8B-B14F-4D97-AF65-F5344CB8AC3E}">
        <p14:creationId xmlns:p14="http://schemas.microsoft.com/office/powerpoint/2010/main" val="2013069292"/>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a:xfrm>
            <a:off x="457200" y="228600"/>
            <a:ext cx="8229600" cy="1371600"/>
          </a:xfrm>
        </p:spPr>
        <p:txBody>
          <a:bodyPr/>
          <a:lstStyle/>
          <a:p>
            <a:pPr eaLnBrk="1" hangingPunct="1"/>
            <a:r>
              <a:rPr lang="en-US" altLang="en-US" dirty="0"/>
              <a:t>Prepackaged Software</a:t>
            </a:r>
          </a:p>
        </p:txBody>
      </p:sp>
      <p:sp>
        <p:nvSpPr>
          <p:cNvPr id="14342" name="Text Box 9"/>
          <p:cNvSpPr txBox="1">
            <a:spLocks noChangeArrowheads="1"/>
          </p:cNvSpPr>
          <p:nvPr/>
        </p:nvSpPr>
        <p:spPr bwMode="auto">
          <a:xfrm>
            <a:off x="1524000" y="5638800"/>
            <a:ext cx="548554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2-2 </a:t>
            </a:r>
            <a:r>
              <a:rPr lang="en-US" dirty="0"/>
              <a:t>A document created in Microsoft’s Word </a:t>
            </a:r>
          </a:p>
          <a:p>
            <a:pPr eaLnBrk="1" hangingPunct="1"/>
            <a:r>
              <a:rPr lang="en-US" altLang="en-US" sz="1600" dirty="0"/>
              <a:t>(</a:t>
            </a:r>
            <a:r>
              <a:rPr lang="en-US" altLang="en-US" sz="1600" i="1" dirty="0"/>
              <a:t>Source: </a:t>
            </a:r>
            <a:r>
              <a:rPr lang="en-US" altLang="en-US" sz="1600" dirty="0"/>
              <a:t>Microsoft Corporation.)</a:t>
            </a:r>
          </a:p>
        </p:txBody>
      </p:sp>
      <p:pic>
        <p:nvPicPr>
          <p:cNvPr id="2" name="Picture 1"/>
          <p:cNvPicPr>
            <a:picLocks noChangeAspect="1"/>
          </p:cNvPicPr>
          <p:nvPr/>
        </p:nvPicPr>
        <p:blipFill>
          <a:blip r:embed="rId3" cstate="print"/>
          <a:stretch>
            <a:fillRect/>
          </a:stretch>
        </p:blipFill>
        <p:spPr>
          <a:xfrm>
            <a:off x="1524000" y="1295399"/>
            <a:ext cx="6172200" cy="4372287"/>
          </a:xfrm>
          <a:prstGeom prst="rect">
            <a:avLst/>
          </a:prstGeom>
        </p:spPr>
      </p:pic>
    </p:spTree>
    <p:extLst>
      <p:ext uri="{BB962C8B-B14F-4D97-AF65-F5344CB8AC3E}">
        <p14:creationId xmlns:p14="http://schemas.microsoft.com/office/powerpoint/2010/main" val="2099124432"/>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p:txBody>
          <a:bodyPr/>
          <a:lstStyle/>
          <a:p>
            <a:pPr eaLnBrk="1" hangingPunct="1"/>
            <a:r>
              <a:rPr lang="en-US" altLang="en-US"/>
              <a:t>Enterprise Solutions Software</a:t>
            </a:r>
          </a:p>
        </p:txBody>
      </p:sp>
      <p:sp>
        <p:nvSpPr>
          <p:cNvPr id="15366" name="Rectangle 3"/>
          <p:cNvSpPr>
            <a:spLocks noGrp="1" noChangeArrowheads="1"/>
          </p:cNvSpPr>
          <p:nvPr>
            <p:ph type="body" idx="1"/>
          </p:nvPr>
        </p:nvSpPr>
        <p:spPr/>
        <p:txBody>
          <a:bodyPr/>
          <a:lstStyle/>
          <a:p>
            <a:pPr eaLnBrk="1" hangingPunct="1"/>
            <a:r>
              <a:rPr lang="en-US" altLang="en-US" sz="2800" b="1" i="1"/>
              <a:t>Enterprise Resource Planning (ERP)</a:t>
            </a:r>
            <a:r>
              <a:rPr lang="en-US" altLang="en-US" sz="2800"/>
              <a:t>  systems integrate individual traditional business functions into modules enabling a single seamless transaction to cut across functional boundaries.</a:t>
            </a:r>
          </a:p>
          <a:p>
            <a:pPr eaLnBrk="1" hangingPunct="1"/>
            <a:r>
              <a:rPr lang="en-US" altLang="en-US" sz="2800"/>
              <a:t>SAP AG is the leading vendor of ERP systems.</a:t>
            </a:r>
          </a:p>
        </p:txBody>
      </p:sp>
    </p:spTree>
    <p:extLst>
      <p:ext uri="{BB962C8B-B14F-4D97-AF65-F5344CB8AC3E}">
        <p14:creationId xmlns:p14="http://schemas.microsoft.com/office/powerpoint/2010/main" val="1678540371"/>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a:xfrm>
            <a:off x="457200" y="152400"/>
            <a:ext cx="8229600" cy="1371600"/>
          </a:xfrm>
        </p:spPr>
        <p:txBody>
          <a:bodyPr/>
          <a:lstStyle/>
          <a:p>
            <a:pPr eaLnBrk="1" hangingPunct="1"/>
            <a:r>
              <a:rPr lang="en-US" altLang="en-US" sz="3600"/>
              <a:t>Enterprise Solutions Software (Cont.)</a:t>
            </a:r>
          </a:p>
        </p:txBody>
      </p:sp>
      <p:sp>
        <p:nvSpPr>
          <p:cNvPr id="16390" name="Text Box 9"/>
          <p:cNvSpPr txBox="1">
            <a:spLocks noChangeArrowheads="1"/>
          </p:cNvSpPr>
          <p:nvPr/>
        </p:nvSpPr>
        <p:spPr bwMode="auto">
          <a:xfrm>
            <a:off x="152400" y="5638800"/>
            <a:ext cx="8763000"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2-3 </a:t>
            </a:r>
            <a:r>
              <a:rPr lang="en-US" altLang="en-US" sz="1600" dirty="0"/>
              <a:t>SAP’s Business ByDesign, a product designed for medium sized companies.</a:t>
            </a:r>
          </a:p>
          <a:p>
            <a:r>
              <a:rPr lang="en-US" altLang="en-US" sz="1400" dirty="0"/>
              <a:t>(</a:t>
            </a:r>
            <a:r>
              <a:rPr lang="en-US" altLang="en-US" sz="1400" i="1" dirty="0"/>
              <a:t>Source: </a:t>
            </a:r>
            <a:r>
              <a:rPr lang="en-US" sz="1400" dirty="0"/>
              <a:t>www.sap.com/usa/solutions/Sme/Businessbydesign/Flash/bsm/A1S.html. © Copyright SAP AG. All rights reserved.)</a:t>
            </a:r>
            <a:endParaRPr lang="en-US" altLang="en-US" sz="1600" dirty="0"/>
          </a:p>
        </p:txBody>
      </p:sp>
      <p:pic>
        <p:nvPicPr>
          <p:cNvPr id="2" name="Picture 1"/>
          <p:cNvPicPr>
            <a:picLocks noChangeAspect="1"/>
          </p:cNvPicPr>
          <p:nvPr/>
        </p:nvPicPr>
        <p:blipFill>
          <a:blip r:embed="rId3" cstate="print"/>
          <a:stretch>
            <a:fillRect/>
          </a:stretch>
        </p:blipFill>
        <p:spPr>
          <a:xfrm>
            <a:off x="1420501" y="1219200"/>
            <a:ext cx="5894699" cy="4419600"/>
          </a:xfrm>
          <a:prstGeom prst="rect">
            <a:avLst/>
          </a:prstGeom>
        </p:spPr>
      </p:pic>
    </p:spTree>
    <p:extLst>
      <p:ext uri="{BB962C8B-B14F-4D97-AF65-F5344CB8AC3E}">
        <p14:creationId xmlns:p14="http://schemas.microsoft.com/office/powerpoint/2010/main" val="2012968517"/>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2"/>
          <p:cNvSpPr>
            <a:spLocks noGrp="1" noChangeArrowheads="1"/>
          </p:cNvSpPr>
          <p:nvPr>
            <p:ph type="title"/>
          </p:nvPr>
        </p:nvSpPr>
        <p:spPr/>
        <p:txBody>
          <a:bodyPr/>
          <a:lstStyle/>
          <a:p>
            <a:pPr eaLnBrk="1" hangingPunct="1"/>
            <a:r>
              <a:rPr lang="en-US" altLang="en-US" sz="4000"/>
              <a:t>Cloud Computing</a:t>
            </a:r>
          </a:p>
        </p:txBody>
      </p:sp>
      <p:sp>
        <p:nvSpPr>
          <p:cNvPr id="17414" name="Rectangle 3"/>
          <p:cNvSpPr>
            <a:spLocks noGrp="1" noChangeArrowheads="1"/>
          </p:cNvSpPr>
          <p:nvPr>
            <p:ph type="body" idx="1"/>
          </p:nvPr>
        </p:nvSpPr>
        <p:spPr>
          <a:xfrm>
            <a:off x="457200" y="1828800"/>
            <a:ext cx="8229600" cy="3886200"/>
          </a:xfrm>
        </p:spPr>
        <p:txBody>
          <a:bodyPr/>
          <a:lstStyle/>
          <a:p>
            <a:r>
              <a:rPr lang="en-US" altLang="en-US" sz="3600" dirty="0"/>
              <a:t>The provision of computing resources, including applications, over the Internet, so customers do not have to invest in the computing infrastructure needed to run and maintain the resources</a:t>
            </a:r>
          </a:p>
          <a:p>
            <a:r>
              <a:rPr lang="en-US" altLang="en-US" sz="3600" dirty="0"/>
              <a:t>Pay-per-use or monthly/yearly licenses</a:t>
            </a:r>
          </a:p>
        </p:txBody>
      </p:sp>
    </p:spTree>
    <p:extLst>
      <p:ext uri="{BB962C8B-B14F-4D97-AF65-F5344CB8AC3E}">
        <p14:creationId xmlns:p14="http://schemas.microsoft.com/office/powerpoint/2010/main" val="1624741836"/>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sz="4000"/>
              <a:t>Cloud Computing (Cont.)</a:t>
            </a:r>
          </a:p>
        </p:txBody>
      </p:sp>
      <p:sp>
        <p:nvSpPr>
          <p:cNvPr id="18435" name="Content Placeholder 2"/>
          <p:cNvSpPr>
            <a:spLocks noGrp="1"/>
          </p:cNvSpPr>
          <p:nvPr>
            <p:ph idx="1"/>
          </p:nvPr>
        </p:nvSpPr>
        <p:spPr>
          <a:xfrm>
            <a:off x="381000" y="1600200"/>
            <a:ext cx="8229600" cy="3886200"/>
          </a:xfrm>
        </p:spPr>
        <p:txBody>
          <a:bodyPr/>
          <a:lstStyle/>
          <a:p>
            <a:r>
              <a:rPr lang="en-US" altLang="en-US" dirty="0"/>
              <a:t>Examples: </a:t>
            </a:r>
          </a:p>
          <a:p>
            <a:pPr lvl="1"/>
            <a:r>
              <a:rPr lang="en-US" altLang="en-US" dirty="0"/>
              <a:t>Google Apps– for sharing documents, spreadsheets, and presentations</a:t>
            </a:r>
          </a:p>
          <a:p>
            <a:pPr lvl="1"/>
            <a:r>
              <a:rPr lang="en-US" altLang="en-US" dirty="0"/>
              <a:t>Salesforce.com – online customer relationship management (CRM) software</a:t>
            </a:r>
          </a:p>
          <a:p>
            <a:pPr lvl="2"/>
            <a:r>
              <a:rPr lang="en-US" altLang="en-US" dirty="0"/>
              <a:t>An example of software as a service (SaaS)</a:t>
            </a:r>
          </a:p>
          <a:p>
            <a:pPr lvl="1"/>
            <a:r>
              <a:rPr lang="en-US" altLang="en-US" dirty="0"/>
              <a:t>Microsoft Azure platform</a:t>
            </a:r>
          </a:p>
          <a:p>
            <a:pPr lvl="1"/>
            <a:r>
              <a:rPr lang="en-US" altLang="en-US" dirty="0"/>
              <a:t>Amazon.com cloud infrastructure and services</a:t>
            </a:r>
          </a:p>
          <a:p>
            <a:pPr lvl="2"/>
            <a:r>
              <a:rPr lang="en-US" altLang="en-US" dirty="0"/>
              <a:t>An example of hardware as a service (</a:t>
            </a:r>
            <a:r>
              <a:rPr lang="en-US" altLang="en-US" dirty="0" err="1"/>
              <a:t>HaaS</a:t>
            </a:r>
            <a:r>
              <a:rPr lang="en-US" altLang="en-US" dirty="0"/>
              <a:t>)</a:t>
            </a:r>
          </a:p>
          <a:p>
            <a:endParaRPr lang="en-US" altLang="en-US" dirty="0"/>
          </a:p>
        </p:txBody>
      </p:sp>
    </p:spTree>
    <p:extLst>
      <p:ext uri="{BB962C8B-B14F-4D97-AF65-F5344CB8AC3E}">
        <p14:creationId xmlns:p14="http://schemas.microsoft.com/office/powerpoint/2010/main" val="4150925157"/>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76200"/>
            <a:ext cx="8229600" cy="1371600"/>
          </a:xfrm>
        </p:spPr>
        <p:txBody>
          <a:bodyPr/>
          <a:lstStyle/>
          <a:p>
            <a:pPr eaLnBrk="1" hangingPunct="1"/>
            <a:r>
              <a:rPr lang="en-US" altLang="en-US" sz="4000"/>
              <a:t>Cloud Computing (Cont.)</a:t>
            </a:r>
          </a:p>
        </p:txBody>
      </p:sp>
      <p:sp>
        <p:nvSpPr>
          <p:cNvPr id="19459" name="Content Placeholder 2"/>
          <p:cNvSpPr>
            <a:spLocks noGrp="1"/>
          </p:cNvSpPr>
          <p:nvPr>
            <p:ph idx="1"/>
          </p:nvPr>
        </p:nvSpPr>
        <p:spPr>
          <a:xfrm>
            <a:off x="381000" y="1143000"/>
            <a:ext cx="8458200" cy="3886200"/>
          </a:xfrm>
        </p:spPr>
        <p:txBody>
          <a:bodyPr/>
          <a:lstStyle/>
          <a:p>
            <a:r>
              <a:rPr lang="en-US" altLang="en-US" dirty="0"/>
              <a:t>Heavy growth predicted</a:t>
            </a:r>
          </a:p>
          <a:p>
            <a:r>
              <a:rPr lang="en-US" altLang="en-US" dirty="0"/>
              <a:t>Benefits: </a:t>
            </a:r>
          </a:p>
          <a:p>
            <a:pPr lvl="1"/>
            <a:r>
              <a:rPr lang="en-US" altLang="en-US" dirty="0"/>
              <a:t>Frees company of internal IT staff requirements</a:t>
            </a:r>
          </a:p>
          <a:p>
            <a:pPr lvl="1"/>
            <a:r>
              <a:rPr lang="en-US" altLang="en-US" dirty="0"/>
              <a:t>Faster access to application than via internal development</a:t>
            </a:r>
          </a:p>
          <a:p>
            <a:pPr lvl="1"/>
            <a:r>
              <a:rPr lang="en-US" altLang="en-US" dirty="0"/>
              <a:t>Lower cost than internal development</a:t>
            </a:r>
          </a:p>
          <a:p>
            <a:r>
              <a:rPr lang="en-US" altLang="en-US" dirty="0"/>
              <a:t>Concerns</a:t>
            </a:r>
          </a:p>
          <a:p>
            <a:pPr lvl="1"/>
            <a:r>
              <a:rPr lang="en-US" altLang="en-US" dirty="0"/>
              <a:t>Security</a:t>
            </a:r>
          </a:p>
          <a:p>
            <a:pPr lvl="1"/>
            <a:r>
              <a:rPr lang="en-US" altLang="en-US" dirty="0"/>
              <a:t>Reliability</a:t>
            </a:r>
          </a:p>
          <a:p>
            <a:pPr lvl="1"/>
            <a:r>
              <a:rPr lang="en-US" altLang="en-US" dirty="0"/>
              <a:t>Regulation compliance </a:t>
            </a:r>
          </a:p>
          <a:p>
            <a:endParaRPr lang="en-US" altLang="en-US" dirty="0"/>
          </a:p>
        </p:txBody>
      </p:sp>
    </p:spTree>
    <p:extLst>
      <p:ext uri="{BB962C8B-B14F-4D97-AF65-F5344CB8AC3E}">
        <p14:creationId xmlns:p14="http://schemas.microsoft.com/office/powerpoint/2010/main" val="1223027834"/>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2"/>
          <p:cNvSpPr>
            <a:spLocks noGrp="1" noChangeArrowheads="1"/>
          </p:cNvSpPr>
          <p:nvPr>
            <p:ph type="title"/>
          </p:nvPr>
        </p:nvSpPr>
        <p:spPr>
          <a:xfrm>
            <a:off x="457200" y="304800"/>
            <a:ext cx="8229600" cy="1371600"/>
          </a:xfrm>
        </p:spPr>
        <p:txBody>
          <a:bodyPr/>
          <a:lstStyle/>
          <a:p>
            <a:pPr eaLnBrk="1" hangingPunct="1"/>
            <a:r>
              <a:rPr lang="en-US" altLang="en-US"/>
              <a:t>Open Source Software</a:t>
            </a:r>
          </a:p>
        </p:txBody>
      </p:sp>
      <p:sp>
        <p:nvSpPr>
          <p:cNvPr id="20486" name="Rectangle 3"/>
          <p:cNvSpPr>
            <a:spLocks noGrp="1" noChangeArrowheads="1"/>
          </p:cNvSpPr>
          <p:nvPr>
            <p:ph type="body" idx="1"/>
          </p:nvPr>
        </p:nvSpPr>
        <p:spPr>
          <a:xfrm>
            <a:off x="457200" y="1447800"/>
            <a:ext cx="8229600" cy="4953000"/>
          </a:xfrm>
        </p:spPr>
        <p:txBody>
          <a:bodyPr>
            <a:normAutofit lnSpcReduction="10000"/>
          </a:bodyPr>
          <a:lstStyle/>
          <a:p>
            <a:pPr eaLnBrk="1" hangingPunct="1">
              <a:defRPr/>
            </a:pPr>
            <a:r>
              <a:rPr lang="en-US" dirty="0"/>
              <a:t>Freely available including source code</a:t>
            </a:r>
          </a:p>
          <a:p>
            <a:pPr eaLnBrk="1" hangingPunct="1">
              <a:defRPr/>
            </a:pPr>
            <a:r>
              <a:rPr lang="en-US" dirty="0"/>
              <a:t>Developed by a community of interested people</a:t>
            </a:r>
          </a:p>
          <a:p>
            <a:pPr eaLnBrk="1" hangingPunct="1">
              <a:defRPr/>
            </a:pPr>
            <a:r>
              <a:rPr lang="en-US" dirty="0"/>
              <a:t>Performs the same functions as commercial software</a:t>
            </a:r>
          </a:p>
          <a:p>
            <a:pPr eaLnBrk="1" hangingPunct="1">
              <a:defRPr/>
            </a:pPr>
            <a:r>
              <a:rPr lang="en-US" dirty="0"/>
              <a:t>Examples: Linux, </a:t>
            </a:r>
            <a:r>
              <a:rPr lang="en-US" dirty="0" err="1"/>
              <a:t>mySQL</a:t>
            </a:r>
            <a:r>
              <a:rPr lang="en-US" dirty="0"/>
              <a:t>, Firefox</a:t>
            </a:r>
          </a:p>
          <a:p>
            <a:pPr eaLnBrk="1" hangingPunct="1">
              <a:defRPr/>
            </a:pPr>
            <a:r>
              <a:rPr lang="en-US" dirty="0"/>
              <a:t>How to make money? </a:t>
            </a:r>
          </a:p>
          <a:p>
            <a:pPr lvl="1" eaLnBrk="1" hangingPunct="1">
              <a:defRPr/>
            </a:pPr>
            <a:r>
              <a:rPr lang="en-US" dirty="0"/>
              <a:t>Provide maintenance/services </a:t>
            </a:r>
          </a:p>
          <a:p>
            <a:pPr lvl="1" eaLnBrk="1" hangingPunct="1">
              <a:defRPr/>
            </a:pPr>
            <a:r>
              <a:rPr lang="en-US" dirty="0"/>
              <a:t>Sell a more featured version of the free software</a:t>
            </a:r>
          </a:p>
        </p:txBody>
      </p:sp>
    </p:spTree>
    <p:extLst>
      <p:ext uri="{BB962C8B-B14F-4D97-AF65-F5344CB8AC3E}">
        <p14:creationId xmlns:p14="http://schemas.microsoft.com/office/powerpoint/2010/main" val="2065620577"/>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2"/>
          <p:cNvSpPr>
            <a:spLocks noGrp="1" noChangeArrowheads="1"/>
          </p:cNvSpPr>
          <p:nvPr>
            <p:ph type="title"/>
          </p:nvPr>
        </p:nvSpPr>
        <p:spPr/>
        <p:txBody>
          <a:bodyPr/>
          <a:lstStyle/>
          <a:p>
            <a:pPr eaLnBrk="1" hangingPunct="1"/>
            <a:r>
              <a:rPr lang="en-US" altLang="en-US"/>
              <a:t>In-House Development</a:t>
            </a:r>
          </a:p>
        </p:txBody>
      </p:sp>
      <p:sp>
        <p:nvSpPr>
          <p:cNvPr id="21510" name="Rectangle 3"/>
          <p:cNvSpPr>
            <a:spLocks noGrp="1" noChangeArrowheads="1"/>
          </p:cNvSpPr>
          <p:nvPr>
            <p:ph type="body" idx="1"/>
          </p:nvPr>
        </p:nvSpPr>
        <p:spPr/>
        <p:txBody>
          <a:bodyPr/>
          <a:lstStyle/>
          <a:p>
            <a:pPr eaLnBrk="1" hangingPunct="1"/>
            <a:r>
              <a:rPr lang="en-US" altLang="en-US" sz="2800" dirty="0"/>
              <a:t>If sufficient system development expertise with the chosen platform exists in-house, then some or all of the system can be developed by the organization’s own staff.</a:t>
            </a:r>
          </a:p>
          <a:p>
            <a:pPr lvl="1" eaLnBrk="1" hangingPunct="1"/>
            <a:r>
              <a:rPr lang="en-US" altLang="en-US" sz="2400" dirty="0"/>
              <a:t>In-house development usually leads to more maintenance burden than other approaches</a:t>
            </a:r>
          </a:p>
          <a:p>
            <a:pPr eaLnBrk="1" hangingPunct="1"/>
            <a:r>
              <a:rPr lang="en-US" altLang="en-US" sz="2800" dirty="0"/>
              <a:t>Hybrid solutions involving some purchased and some in-house components are common.</a:t>
            </a:r>
          </a:p>
        </p:txBody>
      </p:sp>
    </p:spTree>
    <p:extLst>
      <p:ext uri="{BB962C8B-B14F-4D97-AF65-F5344CB8AC3E}">
        <p14:creationId xmlns:p14="http://schemas.microsoft.com/office/powerpoint/2010/main" val="1180755902"/>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itle 1"/>
          <p:cNvSpPr>
            <a:spLocks noGrp="1"/>
          </p:cNvSpPr>
          <p:nvPr>
            <p:ph type="title"/>
          </p:nvPr>
        </p:nvSpPr>
        <p:spPr>
          <a:xfrm>
            <a:off x="176213" y="228600"/>
            <a:ext cx="8763000" cy="1371600"/>
          </a:xfrm>
        </p:spPr>
        <p:txBody>
          <a:bodyPr/>
          <a:lstStyle/>
          <a:p>
            <a:r>
              <a:rPr lang="en-US" altLang="en-US"/>
              <a:t>Sources of Software Components</a:t>
            </a:r>
          </a:p>
        </p:txBody>
      </p:sp>
      <p:pic>
        <p:nvPicPr>
          <p:cNvPr id="2" name="Picture 1"/>
          <p:cNvPicPr>
            <a:picLocks noChangeAspect="1"/>
          </p:cNvPicPr>
          <p:nvPr/>
        </p:nvPicPr>
        <p:blipFill>
          <a:blip r:embed="rId3" cstate="print"/>
          <a:stretch>
            <a:fillRect/>
          </a:stretch>
        </p:blipFill>
        <p:spPr>
          <a:xfrm>
            <a:off x="381000" y="1295399"/>
            <a:ext cx="8229600" cy="4860161"/>
          </a:xfrm>
          <a:prstGeom prst="rect">
            <a:avLst/>
          </a:prstGeom>
        </p:spPr>
      </p:pic>
    </p:spTree>
    <p:extLst>
      <p:ext uri="{BB962C8B-B14F-4D97-AF65-F5344CB8AC3E}">
        <p14:creationId xmlns:p14="http://schemas.microsoft.com/office/powerpoint/2010/main" val="1852925989"/>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p:txBody>
          <a:bodyPr/>
          <a:lstStyle/>
          <a:p>
            <a:pPr eaLnBrk="1" hangingPunct="1"/>
            <a:r>
              <a:rPr lang="en-US" altLang="en-US"/>
              <a:t>Selecting Off-the-Shelf Software</a:t>
            </a:r>
          </a:p>
        </p:txBody>
      </p:sp>
      <p:sp>
        <p:nvSpPr>
          <p:cNvPr id="23558" name="Rectangle 3"/>
          <p:cNvSpPr>
            <a:spLocks noGrp="1" noChangeArrowheads="1"/>
          </p:cNvSpPr>
          <p:nvPr>
            <p:ph type="body" idx="1"/>
          </p:nvPr>
        </p:nvSpPr>
        <p:spPr/>
        <p:txBody>
          <a:bodyPr/>
          <a:lstStyle/>
          <a:p>
            <a:pPr eaLnBrk="1" hangingPunct="1">
              <a:lnSpc>
                <a:spcPct val="90000"/>
              </a:lnSpc>
            </a:pPr>
            <a:r>
              <a:rPr lang="en-US" altLang="en-US" sz="3600" b="1" dirty="0"/>
              <a:t>Cost</a:t>
            </a:r>
            <a:r>
              <a:rPr lang="en-US" altLang="en-US" sz="3600" dirty="0"/>
              <a:t>: comparing the cost of developing the same system in-house with the cost of purchasing or licensing the software package</a:t>
            </a:r>
          </a:p>
          <a:p>
            <a:pPr eaLnBrk="1" hangingPunct="1">
              <a:lnSpc>
                <a:spcPct val="90000"/>
              </a:lnSpc>
            </a:pPr>
            <a:r>
              <a:rPr lang="en-US" altLang="en-US" sz="3600" b="1" dirty="0"/>
              <a:t>Functionality</a:t>
            </a:r>
            <a:r>
              <a:rPr lang="en-US" altLang="en-US" sz="3600" dirty="0"/>
              <a:t>: the tasks that the software can perform and the mandatory, essential, and desired system features</a:t>
            </a:r>
          </a:p>
          <a:p>
            <a:pPr eaLnBrk="1" hangingPunct="1">
              <a:lnSpc>
                <a:spcPct val="90000"/>
              </a:lnSpc>
            </a:pPr>
            <a:endParaRPr lang="en-US" altLang="en-US" sz="3600" dirty="0"/>
          </a:p>
        </p:txBody>
      </p:sp>
    </p:spTree>
    <p:extLst>
      <p:ext uri="{BB962C8B-B14F-4D97-AF65-F5344CB8AC3E}">
        <p14:creationId xmlns:p14="http://schemas.microsoft.com/office/powerpoint/2010/main" val="1785833342"/>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p:nvPr>
        </p:nvSpPr>
        <p:spPr/>
        <p:txBody>
          <a:bodyPr/>
          <a:lstStyle/>
          <a:p>
            <a:pPr eaLnBrk="1" hangingPunct="1"/>
            <a:r>
              <a:rPr lang="en-US" altLang="en-US"/>
              <a:t>Selecting Off-the-Shelf Software (Cont.)</a:t>
            </a:r>
          </a:p>
        </p:txBody>
      </p:sp>
      <p:sp>
        <p:nvSpPr>
          <p:cNvPr id="25606" name="Rectangle 3"/>
          <p:cNvSpPr>
            <a:spLocks noGrp="1" noChangeArrowheads="1"/>
          </p:cNvSpPr>
          <p:nvPr>
            <p:ph type="body" idx="1"/>
          </p:nvPr>
        </p:nvSpPr>
        <p:spPr/>
        <p:txBody>
          <a:bodyPr/>
          <a:lstStyle/>
          <a:p>
            <a:r>
              <a:rPr lang="en-US" altLang="en-US" sz="4000" b="1" dirty="0"/>
              <a:t>Vendor support</a:t>
            </a:r>
            <a:r>
              <a:rPr lang="en-US" altLang="en-US" sz="4000" dirty="0"/>
              <a:t>: whether and how much support the vendor can provide and at what cost</a:t>
            </a:r>
          </a:p>
          <a:p>
            <a:r>
              <a:rPr lang="en-US" altLang="en-US" sz="4000" b="1" dirty="0"/>
              <a:t>Viability of vendor</a:t>
            </a:r>
            <a:r>
              <a:rPr lang="en-US" altLang="en-US" sz="4000" dirty="0"/>
              <a:t>: can vendor continue to adapt/update software to changes in systems software and hardware</a:t>
            </a:r>
          </a:p>
          <a:p>
            <a:endParaRPr lang="en-US" altLang="en-US" sz="4000" dirty="0"/>
          </a:p>
        </p:txBody>
      </p:sp>
    </p:spTree>
    <p:extLst>
      <p:ext uri="{BB962C8B-B14F-4D97-AF65-F5344CB8AC3E}">
        <p14:creationId xmlns:p14="http://schemas.microsoft.com/office/powerpoint/2010/main" val="3464196829"/>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p:txBody>
          <a:bodyPr/>
          <a:lstStyle/>
          <a:p>
            <a:pPr eaLnBrk="1" hangingPunct="1"/>
            <a:r>
              <a:rPr lang="en-US" altLang="en-US"/>
              <a:t>Selecting Off-the-Shelf Software (Cont.)</a:t>
            </a:r>
          </a:p>
        </p:txBody>
      </p:sp>
      <p:sp>
        <p:nvSpPr>
          <p:cNvPr id="27654" name="Rectangle 3"/>
          <p:cNvSpPr>
            <a:spLocks noGrp="1" noChangeArrowheads="1"/>
          </p:cNvSpPr>
          <p:nvPr>
            <p:ph type="body" idx="1"/>
          </p:nvPr>
        </p:nvSpPr>
        <p:spPr/>
        <p:txBody>
          <a:bodyPr/>
          <a:lstStyle/>
          <a:p>
            <a:pPr eaLnBrk="1" hangingPunct="1"/>
            <a:r>
              <a:rPr lang="en-US" altLang="en-US" sz="3600" b="1"/>
              <a:t>Flexibility</a:t>
            </a:r>
            <a:r>
              <a:rPr lang="en-US" altLang="en-US" sz="3600"/>
              <a:t>: the ease with which software is customized</a:t>
            </a:r>
          </a:p>
          <a:p>
            <a:pPr eaLnBrk="1" hangingPunct="1"/>
            <a:r>
              <a:rPr lang="en-US" altLang="en-US" sz="3600" b="1"/>
              <a:t>Documentation</a:t>
            </a:r>
            <a:r>
              <a:rPr lang="en-US" altLang="en-US" sz="3600"/>
              <a:t>: understandable and up-to-date user’s manual and technical documentation</a:t>
            </a:r>
          </a:p>
        </p:txBody>
      </p:sp>
    </p:spTree>
    <p:extLst>
      <p:ext uri="{BB962C8B-B14F-4D97-AF65-F5344CB8AC3E}">
        <p14:creationId xmlns:p14="http://schemas.microsoft.com/office/powerpoint/2010/main" val="1474974304"/>
      </p:ext>
    </p:extLst>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ChangeArrowheads="1"/>
          </p:cNvSpPr>
          <p:nvPr>
            <p:ph type="title"/>
          </p:nvPr>
        </p:nvSpPr>
        <p:spPr/>
        <p:txBody>
          <a:bodyPr/>
          <a:lstStyle/>
          <a:p>
            <a:pPr eaLnBrk="1" hangingPunct="1"/>
            <a:r>
              <a:rPr lang="en-US" altLang="en-US"/>
              <a:t>Selecting Off-the-Shelf Software (Cont.)</a:t>
            </a:r>
          </a:p>
        </p:txBody>
      </p:sp>
      <p:sp>
        <p:nvSpPr>
          <p:cNvPr id="28678" name="Rectangle 3"/>
          <p:cNvSpPr>
            <a:spLocks noGrp="1" noChangeArrowheads="1"/>
          </p:cNvSpPr>
          <p:nvPr>
            <p:ph type="body" idx="1"/>
          </p:nvPr>
        </p:nvSpPr>
        <p:spPr/>
        <p:txBody>
          <a:bodyPr/>
          <a:lstStyle/>
          <a:p>
            <a:pPr eaLnBrk="1" hangingPunct="1">
              <a:lnSpc>
                <a:spcPct val="90000"/>
              </a:lnSpc>
            </a:pPr>
            <a:r>
              <a:rPr lang="en-US" altLang="en-US" sz="3600" b="1"/>
              <a:t>Response time</a:t>
            </a:r>
            <a:r>
              <a:rPr lang="en-US" altLang="en-US" sz="3600"/>
              <a:t>: how long it takes the software package to respond to the user’s requests in an interactive session</a:t>
            </a:r>
          </a:p>
          <a:p>
            <a:pPr eaLnBrk="1" hangingPunct="1">
              <a:lnSpc>
                <a:spcPct val="90000"/>
              </a:lnSpc>
            </a:pPr>
            <a:r>
              <a:rPr lang="en-US" altLang="en-US" sz="3600" b="1"/>
              <a:t>Ease of installation</a:t>
            </a:r>
            <a:r>
              <a:rPr lang="en-US" altLang="en-US" sz="3600"/>
              <a:t>: a measure of the difficulty of loading the software and making it operational</a:t>
            </a:r>
          </a:p>
        </p:txBody>
      </p:sp>
    </p:spTree>
    <p:extLst>
      <p:ext uri="{BB962C8B-B14F-4D97-AF65-F5344CB8AC3E}">
        <p14:creationId xmlns:p14="http://schemas.microsoft.com/office/powerpoint/2010/main" val="2391263797"/>
      </p:ext>
    </p:ext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nvPr>
        </p:nvSpPr>
        <p:spPr/>
        <p:txBody>
          <a:bodyPr/>
          <a:lstStyle/>
          <a:p>
            <a:pPr eaLnBrk="1" hangingPunct="1"/>
            <a:r>
              <a:rPr lang="en-US" altLang="en-US" sz="4000"/>
              <a:t>Validating Purchased Software Information</a:t>
            </a:r>
          </a:p>
        </p:txBody>
      </p:sp>
      <p:sp>
        <p:nvSpPr>
          <p:cNvPr id="29702" name="Rectangle 3"/>
          <p:cNvSpPr>
            <a:spLocks noGrp="1" noChangeArrowheads="1"/>
          </p:cNvSpPr>
          <p:nvPr>
            <p:ph type="body" idx="1"/>
          </p:nvPr>
        </p:nvSpPr>
        <p:spPr>
          <a:xfrm>
            <a:off x="152400" y="2209800"/>
            <a:ext cx="8991600" cy="3886200"/>
          </a:xfrm>
        </p:spPr>
        <p:txBody>
          <a:bodyPr/>
          <a:lstStyle/>
          <a:p>
            <a:pPr eaLnBrk="1" hangingPunct="1"/>
            <a:r>
              <a:rPr lang="en-US" altLang="en-US" sz="2800" dirty="0"/>
              <a:t>Send a </a:t>
            </a:r>
            <a:r>
              <a:rPr lang="en-US" altLang="en-US" sz="2800" b="1" dirty="0"/>
              <a:t>request for proposal (RFP) </a:t>
            </a:r>
            <a:r>
              <a:rPr lang="en-US" altLang="en-US" sz="2800" dirty="0"/>
              <a:t>to vendors.</a:t>
            </a:r>
          </a:p>
          <a:p>
            <a:pPr lvl="1" eaLnBrk="1" hangingPunct="1"/>
            <a:r>
              <a:rPr lang="en-US" altLang="en-US" sz="2400" dirty="0"/>
              <a:t>RFP – a document provided to vendors to ask them to propose hardware and system software that will meet the requirements of a new system</a:t>
            </a:r>
          </a:p>
          <a:p>
            <a:pPr eaLnBrk="1" hangingPunct="1"/>
            <a:r>
              <a:rPr lang="en-US" altLang="en-US" sz="2800" dirty="0"/>
              <a:t>Use a variety of information sources:</a:t>
            </a:r>
          </a:p>
          <a:p>
            <a:pPr lvl="1" eaLnBrk="1" hangingPunct="1"/>
            <a:r>
              <a:rPr lang="en-US" altLang="en-US" sz="2400" dirty="0"/>
              <a:t>Collect information from vendor</a:t>
            </a:r>
          </a:p>
          <a:p>
            <a:pPr lvl="1" eaLnBrk="1" hangingPunct="1"/>
            <a:r>
              <a:rPr lang="en-US" altLang="en-US" sz="2400" dirty="0"/>
              <a:t>Software documentation</a:t>
            </a:r>
          </a:p>
          <a:p>
            <a:pPr lvl="1" eaLnBrk="1" hangingPunct="1"/>
            <a:r>
              <a:rPr lang="en-US" altLang="en-US" sz="2400" dirty="0"/>
              <a:t>Technical marketing literature</a:t>
            </a:r>
          </a:p>
          <a:p>
            <a:pPr eaLnBrk="1" hangingPunct="1">
              <a:buFont typeface="Wingdings" panose="05000000000000000000" pitchFamily="2" charset="2"/>
              <a:buNone/>
            </a:pPr>
            <a:endParaRPr lang="en-US" altLang="en-US" sz="2800" dirty="0"/>
          </a:p>
        </p:txBody>
      </p:sp>
    </p:spTree>
    <p:extLst>
      <p:ext uri="{BB962C8B-B14F-4D97-AF65-F5344CB8AC3E}">
        <p14:creationId xmlns:p14="http://schemas.microsoft.com/office/powerpoint/2010/main" val="3356125457"/>
      </p:ext>
    </p:extLst>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ChangeArrowheads="1"/>
          </p:cNvSpPr>
          <p:nvPr>
            <p:ph type="title"/>
          </p:nvPr>
        </p:nvSpPr>
        <p:spPr/>
        <p:txBody>
          <a:bodyPr/>
          <a:lstStyle/>
          <a:p>
            <a:pPr eaLnBrk="1" hangingPunct="1"/>
            <a:r>
              <a:rPr lang="en-US" altLang="en-US" dirty="0"/>
              <a:t>Request For Proposal (RFP)</a:t>
            </a:r>
          </a:p>
        </p:txBody>
      </p:sp>
      <p:sp>
        <p:nvSpPr>
          <p:cNvPr id="31750" name="Rectangle 3"/>
          <p:cNvSpPr>
            <a:spLocks noGrp="1" noChangeArrowheads="1"/>
          </p:cNvSpPr>
          <p:nvPr>
            <p:ph type="body" idx="1"/>
          </p:nvPr>
        </p:nvSpPr>
        <p:spPr/>
        <p:txBody>
          <a:bodyPr/>
          <a:lstStyle/>
          <a:p>
            <a:pPr eaLnBrk="1" hangingPunct="1"/>
            <a:r>
              <a:rPr lang="en-US" altLang="en-US" sz="3600"/>
              <a:t>Sometimes called a </a:t>
            </a:r>
            <a:r>
              <a:rPr lang="en-US" altLang="en-US" sz="3600" b="1"/>
              <a:t>Request For Quote</a:t>
            </a:r>
            <a:r>
              <a:rPr lang="en-US" altLang="en-US" sz="3600"/>
              <a:t> (</a:t>
            </a:r>
            <a:r>
              <a:rPr lang="en-US" altLang="en-US" sz="3600" b="1"/>
              <a:t>RFQ</a:t>
            </a:r>
            <a:r>
              <a:rPr lang="en-US" altLang="en-US" sz="3600"/>
              <a:t>)</a:t>
            </a:r>
          </a:p>
          <a:p>
            <a:pPr eaLnBrk="1" hangingPunct="1"/>
            <a:r>
              <a:rPr lang="en-US" altLang="en-US" sz="3600"/>
              <a:t>Analyst selects best candidates based on:</a:t>
            </a:r>
          </a:p>
          <a:p>
            <a:pPr lvl="1" eaLnBrk="1" hangingPunct="1"/>
            <a:r>
              <a:rPr lang="en-US" altLang="en-US"/>
              <a:t> vendor bids</a:t>
            </a:r>
          </a:p>
          <a:p>
            <a:pPr lvl="1" eaLnBrk="1" hangingPunct="1"/>
            <a:r>
              <a:rPr lang="en-US" altLang="en-US"/>
              <a:t> a variety of information sources </a:t>
            </a:r>
            <a:endParaRPr lang="en-US" altLang="en-US" sz="3600"/>
          </a:p>
        </p:txBody>
      </p:sp>
    </p:spTree>
    <p:extLst>
      <p:ext uri="{BB962C8B-B14F-4D97-AF65-F5344CB8AC3E}">
        <p14:creationId xmlns:p14="http://schemas.microsoft.com/office/powerpoint/2010/main" val="2561590596"/>
      </p:ext>
    </p:extLst>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title"/>
          </p:nvPr>
        </p:nvSpPr>
        <p:spPr/>
        <p:txBody>
          <a:bodyPr/>
          <a:lstStyle/>
          <a:p>
            <a:pPr eaLnBrk="1" hangingPunct="1"/>
            <a:r>
              <a:rPr lang="en-US" altLang="en-US"/>
              <a:t>Information Sources For RFP</a:t>
            </a:r>
          </a:p>
        </p:txBody>
      </p:sp>
      <p:sp>
        <p:nvSpPr>
          <p:cNvPr id="32774" name="Rectangle 3"/>
          <p:cNvSpPr>
            <a:spLocks noGrp="1" noChangeArrowheads="1"/>
          </p:cNvSpPr>
          <p:nvPr>
            <p:ph type="body" idx="1"/>
          </p:nvPr>
        </p:nvSpPr>
        <p:spPr>
          <a:xfrm>
            <a:off x="457200" y="1752600"/>
            <a:ext cx="8382000" cy="3886200"/>
          </a:xfrm>
        </p:spPr>
        <p:txBody>
          <a:bodyPr/>
          <a:lstStyle/>
          <a:p>
            <a:pPr eaLnBrk="1" hangingPunct="1"/>
            <a:r>
              <a:rPr lang="en-US" altLang="en-US" dirty="0"/>
              <a:t>Vendor’s proposal</a:t>
            </a:r>
          </a:p>
          <a:p>
            <a:pPr eaLnBrk="1" hangingPunct="1"/>
            <a:r>
              <a:rPr lang="en-US" altLang="en-US" dirty="0"/>
              <a:t>Running software through a series of tests</a:t>
            </a:r>
          </a:p>
          <a:p>
            <a:pPr eaLnBrk="1" hangingPunct="1"/>
            <a:r>
              <a:rPr lang="en-US" altLang="en-US" dirty="0"/>
              <a:t>Feedback from other users of the vendor’s product</a:t>
            </a:r>
          </a:p>
          <a:p>
            <a:pPr eaLnBrk="1" hangingPunct="1"/>
            <a:r>
              <a:rPr lang="en-US" altLang="en-US" dirty="0"/>
              <a:t>Independent software testing services</a:t>
            </a:r>
          </a:p>
          <a:p>
            <a:pPr eaLnBrk="1" hangingPunct="1"/>
            <a:r>
              <a:rPr lang="en-US" altLang="en-US" dirty="0"/>
              <a:t>Customer surveys</a:t>
            </a:r>
          </a:p>
          <a:p>
            <a:pPr eaLnBrk="1" hangingPunct="1"/>
            <a:r>
              <a:rPr lang="en-US" altLang="en-US" dirty="0"/>
              <a:t>Articles in trade publications are sometimes biased (seeded by manufacturer)</a:t>
            </a:r>
          </a:p>
        </p:txBody>
      </p:sp>
    </p:spTree>
    <p:extLst>
      <p:ext uri="{BB962C8B-B14F-4D97-AF65-F5344CB8AC3E}">
        <p14:creationId xmlns:p14="http://schemas.microsoft.com/office/powerpoint/2010/main" val="772456017"/>
      </p:ext>
    </p:extLst>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title"/>
          </p:nvPr>
        </p:nvSpPr>
        <p:spPr/>
        <p:txBody>
          <a:bodyPr/>
          <a:lstStyle/>
          <a:p>
            <a:pPr eaLnBrk="1" hangingPunct="1"/>
            <a:r>
              <a:rPr lang="en-US" altLang="en-US"/>
              <a:t>Reuse</a:t>
            </a:r>
          </a:p>
        </p:txBody>
      </p:sp>
      <p:sp>
        <p:nvSpPr>
          <p:cNvPr id="33798" name="Rectangle 3"/>
          <p:cNvSpPr>
            <a:spLocks noGrp="1" noChangeArrowheads="1"/>
          </p:cNvSpPr>
          <p:nvPr>
            <p:ph type="body" idx="1"/>
          </p:nvPr>
        </p:nvSpPr>
        <p:spPr/>
        <p:txBody>
          <a:bodyPr/>
          <a:lstStyle/>
          <a:p>
            <a:pPr eaLnBrk="1" hangingPunct="1"/>
            <a:r>
              <a:rPr lang="en-US" altLang="en-US"/>
              <a:t>The use of previously written software resources, especially objects and components, in new applications</a:t>
            </a:r>
          </a:p>
          <a:p>
            <a:pPr eaLnBrk="1" hangingPunct="1"/>
            <a:r>
              <a:rPr lang="en-US" altLang="en-US"/>
              <a:t>Commonly applied to two different development technologies:</a:t>
            </a:r>
          </a:p>
          <a:p>
            <a:pPr lvl="1" eaLnBrk="1" hangingPunct="1"/>
            <a:r>
              <a:rPr lang="en-US" altLang="en-US"/>
              <a:t>Object-oriented development</a:t>
            </a:r>
          </a:p>
          <a:p>
            <a:pPr lvl="1" eaLnBrk="1" hangingPunct="1"/>
            <a:r>
              <a:rPr lang="en-US" altLang="en-US"/>
              <a:t>Component-based development</a:t>
            </a:r>
          </a:p>
        </p:txBody>
      </p:sp>
    </p:spTree>
    <p:extLst>
      <p:ext uri="{BB962C8B-B14F-4D97-AF65-F5344CB8AC3E}">
        <p14:creationId xmlns:p14="http://schemas.microsoft.com/office/powerpoint/2010/main" val="347408103"/>
      </p:ext>
    </p:extLst>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ChangeArrowheads="1"/>
          </p:cNvSpPr>
          <p:nvPr>
            <p:ph type="title"/>
          </p:nvPr>
        </p:nvSpPr>
        <p:spPr/>
        <p:txBody>
          <a:bodyPr/>
          <a:lstStyle/>
          <a:p>
            <a:pPr eaLnBrk="1" hangingPunct="1"/>
            <a:r>
              <a:rPr lang="en-US" altLang="en-US"/>
              <a:t>Reuse (Cont.)</a:t>
            </a:r>
          </a:p>
        </p:txBody>
      </p:sp>
      <p:sp>
        <p:nvSpPr>
          <p:cNvPr id="34822" name="Rectangle 3"/>
          <p:cNvSpPr>
            <a:spLocks noGrp="1" noChangeArrowheads="1"/>
          </p:cNvSpPr>
          <p:nvPr>
            <p:ph type="body" idx="1"/>
          </p:nvPr>
        </p:nvSpPr>
        <p:spPr/>
        <p:txBody>
          <a:bodyPr/>
          <a:lstStyle/>
          <a:p>
            <a:pPr eaLnBrk="1" hangingPunct="1">
              <a:lnSpc>
                <a:spcPct val="90000"/>
              </a:lnSpc>
            </a:pPr>
            <a:r>
              <a:rPr lang="en-US" altLang="en-US" b="1"/>
              <a:t>Object-oriented development</a:t>
            </a:r>
          </a:p>
          <a:p>
            <a:pPr lvl="1" eaLnBrk="1" hangingPunct="1">
              <a:lnSpc>
                <a:spcPct val="90000"/>
              </a:lnSpc>
            </a:pPr>
            <a:r>
              <a:rPr lang="en-US" altLang="en-US"/>
              <a:t>Object class encapsulates data and behavior of common organizational entities (e.g. employees)</a:t>
            </a:r>
          </a:p>
          <a:p>
            <a:pPr eaLnBrk="1" hangingPunct="1">
              <a:lnSpc>
                <a:spcPct val="90000"/>
              </a:lnSpc>
            </a:pPr>
            <a:r>
              <a:rPr lang="en-US" altLang="en-US" b="1"/>
              <a:t>Component-based development</a:t>
            </a:r>
          </a:p>
          <a:p>
            <a:pPr lvl="1" eaLnBrk="1" hangingPunct="1">
              <a:lnSpc>
                <a:spcPct val="90000"/>
              </a:lnSpc>
            </a:pPr>
            <a:r>
              <a:rPr lang="en-US" altLang="en-US"/>
              <a:t>Components can be as small as objects or as large as pieces of software that handle single business functions</a:t>
            </a:r>
          </a:p>
        </p:txBody>
      </p:sp>
    </p:spTree>
    <p:extLst>
      <p:ext uri="{BB962C8B-B14F-4D97-AF65-F5344CB8AC3E}">
        <p14:creationId xmlns:p14="http://schemas.microsoft.com/office/powerpoint/2010/main" val="3609306636"/>
      </p:ext>
    </p:extLst>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ChangeArrowheads="1"/>
          </p:cNvSpPr>
          <p:nvPr>
            <p:ph type="title"/>
          </p:nvPr>
        </p:nvSpPr>
        <p:spPr/>
        <p:txBody>
          <a:bodyPr/>
          <a:lstStyle/>
          <a:p>
            <a:pPr eaLnBrk="1" hangingPunct="1"/>
            <a:r>
              <a:rPr lang="en-US" altLang="en-US"/>
              <a:t>Reuse (Cont.)</a:t>
            </a:r>
          </a:p>
        </p:txBody>
      </p:sp>
      <p:sp>
        <p:nvSpPr>
          <p:cNvPr id="36870" name="Rectangle 3"/>
          <p:cNvSpPr>
            <a:spLocks noGrp="1" noChangeArrowheads="1"/>
          </p:cNvSpPr>
          <p:nvPr>
            <p:ph type="body" idx="1"/>
          </p:nvPr>
        </p:nvSpPr>
        <p:spPr/>
        <p:txBody>
          <a:bodyPr/>
          <a:lstStyle/>
          <a:p>
            <a:pPr eaLnBrk="1" hangingPunct="1">
              <a:lnSpc>
                <a:spcPct val="90000"/>
              </a:lnSpc>
            </a:pPr>
            <a:r>
              <a:rPr lang="en-US" altLang="en-US" dirty="0"/>
              <a:t>Can be effective (increased productivity, less defects, reduced rework)</a:t>
            </a:r>
          </a:p>
          <a:p>
            <a:pPr eaLnBrk="1" hangingPunct="1">
              <a:lnSpc>
                <a:spcPct val="90000"/>
              </a:lnSpc>
            </a:pPr>
            <a:r>
              <a:rPr lang="en-US" altLang="en-US" dirty="0"/>
              <a:t>Technical issues – lack of methodology for component library (creating and labeling reusable components)</a:t>
            </a:r>
          </a:p>
          <a:p>
            <a:pPr eaLnBrk="1" hangingPunct="1">
              <a:lnSpc>
                <a:spcPct val="90000"/>
              </a:lnSpc>
            </a:pPr>
            <a:r>
              <a:rPr lang="en-US" altLang="en-US" dirty="0"/>
              <a:t>Organizational issues – lack of commitment, training, and organizational support; hard to measure economic benefits; legal and contractual issues</a:t>
            </a:r>
          </a:p>
          <a:p>
            <a:pPr eaLnBrk="1" hangingPunct="1">
              <a:lnSpc>
                <a:spcPct val="90000"/>
              </a:lnSpc>
            </a:pPr>
            <a:endParaRPr lang="en-US" altLang="en-US" dirty="0"/>
          </a:p>
        </p:txBody>
      </p:sp>
    </p:spTree>
    <p:extLst>
      <p:ext uri="{BB962C8B-B14F-4D97-AF65-F5344CB8AC3E}">
        <p14:creationId xmlns:p14="http://schemas.microsoft.com/office/powerpoint/2010/main" val="8931995"/>
      </p:ext>
    </p:extLst>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ChangeArrowheads="1"/>
          </p:cNvSpPr>
          <p:nvPr>
            <p:ph type="title"/>
          </p:nvPr>
        </p:nvSpPr>
        <p:spPr/>
        <p:txBody>
          <a:bodyPr/>
          <a:lstStyle/>
          <a:p>
            <a:pPr eaLnBrk="1" hangingPunct="1"/>
            <a:r>
              <a:rPr lang="en-US" altLang="en-US"/>
              <a:t>Costs and Benefits of Reuse</a:t>
            </a:r>
          </a:p>
        </p:txBody>
      </p:sp>
      <p:pic>
        <p:nvPicPr>
          <p:cNvPr id="37894" name="Picture 6" descr="Noname.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3000" y="1524000"/>
            <a:ext cx="6610350"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Rectangle 7"/>
          <p:cNvSpPr>
            <a:spLocks noChangeArrowheads="1"/>
          </p:cNvSpPr>
          <p:nvPr/>
        </p:nvSpPr>
        <p:spPr bwMode="auto">
          <a:xfrm>
            <a:off x="457200" y="5046663"/>
            <a:ext cx="845820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dirty="0"/>
              <a:t>FIGURE 2-5</a:t>
            </a:r>
          </a:p>
          <a:p>
            <a:pPr eaLnBrk="1" hangingPunct="1"/>
            <a:r>
              <a:rPr lang="en-US" altLang="en-US" sz="1600" dirty="0"/>
              <a:t>Investments necessary to achieve reusable components</a:t>
            </a:r>
          </a:p>
          <a:p>
            <a:pPr eaLnBrk="1" hangingPunct="1"/>
            <a:r>
              <a:rPr lang="en-US" altLang="en-US" sz="1400" dirty="0"/>
              <a:t>(</a:t>
            </a:r>
            <a:r>
              <a:rPr lang="en-US" altLang="en-US" sz="1400" i="1" dirty="0"/>
              <a:t>Source: </a:t>
            </a:r>
            <a:r>
              <a:rPr lang="en-US" altLang="en-US" sz="1400" dirty="0"/>
              <a:t>Royce, Walker, </a:t>
            </a:r>
            <a:r>
              <a:rPr lang="en-US" altLang="en-US" sz="1400" i="1" dirty="0"/>
              <a:t>Software Project Management: A Unified Framework, </a:t>
            </a:r>
            <a:r>
              <a:rPr lang="en-US" altLang="en-US" sz="1400" dirty="0"/>
              <a:t>1st ed.,</a:t>
            </a:r>
          </a:p>
          <a:p>
            <a:pPr eaLnBrk="1" hangingPunct="1"/>
            <a:r>
              <a:rPr lang="en-US" altLang="en-US" sz="1400" dirty="0"/>
              <a:t>©1998. Reprinted and Electronically reproduced by permission of Pearson Education, Inc. Upper Saddle River, New Jersey.)</a:t>
            </a:r>
          </a:p>
        </p:txBody>
      </p:sp>
    </p:spTree>
    <p:extLst>
      <p:ext uri="{BB962C8B-B14F-4D97-AF65-F5344CB8AC3E}">
        <p14:creationId xmlns:p14="http://schemas.microsoft.com/office/powerpoint/2010/main" val="32870674"/>
      </p:ext>
    </p:extLst>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Steps of Software Reuse</a:t>
            </a:r>
          </a:p>
        </p:txBody>
      </p:sp>
      <p:sp>
        <p:nvSpPr>
          <p:cNvPr id="3" name="Content Placeholder 2"/>
          <p:cNvSpPr>
            <a:spLocks noGrp="1"/>
          </p:cNvSpPr>
          <p:nvPr>
            <p:ph idx="1"/>
          </p:nvPr>
        </p:nvSpPr>
        <p:spPr/>
        <p:txBody>
          <a:bodyPr/>
          <a:lstStyle/>
          <a:p>
            <a:r>
              <a:rPr lang="en-US" dirty="0"/>
              <a:t>Abstraction – design of reusable piece of software</a:t>
            </a:r>
          </a:p>
          <a:p>
            <a:r>
              <a:rPr lang="en-US" dirty="0"/>
              <a:t>Storage – making software assets available for others</a:t>
            </a:r>
          </a:p>
          <a:p>
            <a:r>
              <a:rPr lang="en-US" dirty="0"/>
              <a:t>Recontextualization – making the software understandable to developers </a:t>
            </a:r>
          </a:p>
          <a:p>
            <a:endParaRPr lang="en-US" dirty="0"/>
          </a:p>
          <a:p>
            <a:pPr marL="0" indent="0">
              <a:buNone/>
            </a:pPr>
            <a:r>
              <a:rPr lang="en-US" dirty="0"/>
              <a:t>(Grinter, 2001)</a:t>
            </a:r>
          </a:p>
          <a:p>
            <a:endParaRPr lang="en-US" dirty="0"/>
          </a:p>
        </p:txBody>
      </p:sp>
    </p:spTree>
    <p:extLst>
      <p:ext uri="{BB962C8B-B14F-4D97-AF65-F5344CB8AC3E}">
        <p14:creationId xmlns:p14="http://schemas.microsoft.com/office/powerpoint/2010/main" val="2353449243"/>
      </p:ext>
    </p:extLst>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p:cNvSpPr>
            <a:spLocks noGrp="1" noChangeArrowheads="1"/>
          </p:cNvSpPr>
          <p:nvPr>
            <p:ph type="title"/>
          </p:nvPr>
        </p:nvSpPr>
        <p:spPr/>
        <p:txBody>
          <a:bodyPr/>
          <a:lstStyle/>
          <a:p>
            <a:pPr eaLnBrk="1" hangingPunct="1"/>
            <a:r>
              <a:rPr lang="en-US" altLang="en-US" dirty="0"/>
              <a:t>Approaches to Reuse </a:t>
            </a:r>
          </a:p>
        </p:txBody>
      </p:sp>
      <p:sp>
        <p:nvSpPr>
          <p:cNvPr id="38918" name="Rectangle 3"/>
          <p:cNvSpPr>
            <a:spLocks noGrp="1" noChangeArrowheads="1"/>
          </p:cNvSpPr>
          <p:nvPr>
            <p:ph type="body" idx="1"/>
          </p:nvPr>
        </p:nvSpPr>
        <p:spPr>
          <a:xfrm>
            <a:off x="424070" y="1600200"/>
            <a:ext cx="8229600" cy="3886200"/>
          </a:xfrm>
        </p:spPr>
        <p:txBody>
          <a:bodyPr/>
          <a:lstStyle/>
          <a:p>
            <a:pPr eaLnBrk="1" hangingPunct="1"/>
            <a:r>
              <a:rPr lang="en-US" altLang="en-US" sz="2800" b="1" dirty="0"/>
              <a:t>Ad-hoc</a:t>
            </a:r>
            <a:r>
              <a:rPr lang="en-US" altLang="en-US" sz="2800" dirty="0"/>
              <a:t>: individuals are free to find or develop reusable assets on their own</a:t>
            </a:r>
          </a:p>
          <a:p>
            <a:pPr eaLnBrk="1" hangingPunct="1"/>
            <a:r>
              <a:rPr lang="en-US" altLang="en-US" sz="2800" b="1" dirty="0"/>
              <a:t>Facilitated</a:t>
            </a:r>
            <a:r>
              <a:rPr lang="en-US" altLang="en-US" sz="2800" dirty="0"/>
              <a:t>: developers are encouraged to practice reuse</a:t>
            </a:r>
          </a:p>
          <a:p>
            <a:pPr eaLnBrk="1" hangingPunct="1"/>
            <a:r>
              <a:rPr lang="en-US" altLang="en-US" sz="2800" b="1" dirty="0"/>
              <a:t>Managed</a:t>
            </a:r>
            <a:r>
              <a:rPr lang="en-US" altLang="en-US" sz="2800" dirty="0"/>
              <a:t>: the development, sharing, and adoption of reusable assets is mandated</a:t>
            </a:r>
          </a:p>
          <a:p>
            <a:pPr eaLnBrk="1" hangingPunct="1"/>
            <a:r>
              <a:rPr lang="en-US" altLang="en-US" sz="2800" b="1" dirty="0"/>
              <a:t>Designed</a:t>
            </a:r>
            <a:r>
              <a:rPr lang="en-US" altLang="en-US" sz="2800" dirty="0"/>
              <a:t>: assets mandated for reuse as they are being designed for specific applications</a:t>
            </a:r>
          </a:p>
          <a:p>
            <a:pPr eaLnBrk="1" hangingPunct="1"/>
            <a:endParaRPr lang="en-US" altLang="en-US" sz="2800" dirty="0"/>
          </a:p>
          <a:p>
            <a:pPr marL="0" indent="0" eaLnBrk="1" hangingPunct="1">
              <a:buNone/>
            </a:pPr>
            <a:r>
              <a:rPr lang="en-US" altLang="en-US" sz="2800" dirty="0"/>
              <a:t>(Griss 2003)</a:t>
            </a:r>
          </a:p>
          <a:p>
            <a:pPr eaLnBrk="1" hangingPunct="1"/>
            <a:endParaRPr lang="en-US" altLang="en-US" sz="2800" dirty="0"/>
          </a:p>
        </p:txBody>
      </p:sp>
    </p:spTree>
    <p:extLst>
      <p:ext uri="{BB962C8B-B14F-4D97-AF65-F5344CB8AC3E}">
        <p14:creationId xmlns:p14="http://schemas.microsoft.com/office/powerpoint/2010/main" val="2310330488"/>
      </p:ext>
    </p:extLst>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itle 1"/>
          <p:cNvSpPr>
            <a:spLocks noGrp="1"/>
          </p:cNvSpPr>
          <p:nvPr>
            <p:ph type="title"/>
          </p:nvPr>
        </p:nvSpPr>
        <p:spPr/>
        <p:txBody>
          <a:bodyPr/>
          <a:lstStyle/>
          <a:p>
            <a:r>
              <a:rPr lang="en-US" altLang="en-US"/>
              <a:t>Approaches to Reuse (Cont.)</a:t>
            </a:r>
          </a:p>
        </p:txBody>
      </p:sp>
      <p:pic>
        <p:nvPicPr>
          <p:cNvPr id="2" name="Picture 1"/>
          <p:cNvPicPr>
            <a:picLocks noChangeAspect="1"/>
          </p:cNvPicPr>
          <p:nvPr/>
        </p:nvPicPr>
        <p:blipFill>
          <a:blip r:embed="rId3" cstate="print"/>
          <a:stretch>
            <a:fillRect/>
          </a:stretch>
        </p:blipFill>
        <p:spPr>
          <a:xfrm>
            <a:off x="304800" y="1600200"/>
            <a:ext cx="8503268" cy="4419600"/>
          </a:xfrm>
          <a:prstGeom prst="rect">
            <a:avLst/>
          </a:prstGeom>
        </p:spPr>
      </p:pic>
    </p:spTree>
    <p:extLst>
      <p:ext uri="{BB962C8B-B14F-4D97-AF65-F5344CB8AC3E}">
        <p14:creationId xmlns:p14="http://schemas.microsoft.com/office/powerpoint/2010/main" val="18533105"/>
      </p:ext>
    </p:extLst>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p:cNvSpPr>
            <a:spLocks noGrp="1" noChangeArrowheads="1"/>
          </p:cNvSpPr>
          <p:nvPr>
            <p:ph type="title"/>
          </p:nvPr>
        </p:nvSpPr>
        <p:spPr/>
        <p:txBody>
          <a:bodyPr/>
          <a:lstStyle/>
          <a:p>
            <a:pPr eaLnBrk="1" hangingPunct="1"/>
            <a:r>
              <a:rPr lang="en-US" altLang="en-US"/>
              <a:t>Summary</a:t>
            </a:r>
          </a:p>
        </p:txBody>
      </p:sp>
      <p:sp>
        <p:nvSpPr>
          <p:cNvPr id="41990" name="Rectangle 3"/>
          <p:cNvSpPr>
            <a:spLocks noGrp="1" noChangeArrowheads="1"/>
          </p:cNvSpPr>
          <p:nvPr>
            <p:ph type="body" idx="1"/>
          </p:nvPr>
        </p:nvSpPr>
        <p:spPr>
          <a:xfrm>
            <a:off x="609600" y="1752600"/>
            <a:ext cx="7772400" cy="4114800"/>
          </a:xfrm>
        </p:spPr>
        <p:txBody>
          <a:bodyPr/>
          <a:lstStyle/>
          <a:p>
            <a:pPr eaLnBrk="1" hangingPunct="1"/>
            <a:r>
              <a:rPr lang="en-US" altLang="en-US"/>
              <a:t>In this chapter you learned how to:</a:t>
            </a:r>
          </a:p>
          <a:p>
            <a:pPr lvl="1" eaLnBrk="1" hangingPunct="1">
              <a:buClr>
                <a:srgbClr val="BA2212"/>
              </a:buClr>
              <a:buFont typeface="Wingdings" panose="05000000000000000000" pitchFamily="2" charset="2"/>
              <a:buChar char="ü"/>
            </a:pPr>
            <a:r>
              <a:rPr lang="en-US" altLang="en-US"/>
              <a:t>Explain outsourcing.</a:t>
            </a:r>
          </a:p>
          <a:p>
            <a:pPr lvl="1" eaLnBrk="1" hangingPunct="1">
              <a:buClr>
                <a:srgbClr val="BA2212"/>
              </a:buClr>
              <a:buFont typeface="Wingdings" panose="05000000000000000000" pitchFamily="2" charset="2"/>
              <a:buChar char="ü"/>
            </a:pPr>
            <a:r>
              <a:rPr lang="en-US" altLang="en-US"/>
              <a:t>Describe six different sources of software.</a:t>
            </a:r>
          </a:p>
          <a:p>
            <a:pPr lvl="1" eaLnBrk="1" hangingPunct="1">
              <a:buClr>
                <a:srgbClr val="BA2212"/>
              </a:buClr>
              <a:buFont typeface="Wingdings" panose="05000000000000000000" pitchFamily="2" charset="2"/>
              <a:buChar char="ü"/>
            </a:pPr>
            <a:r>
              <a:rPr lang="en-US" altLang="en-US"/>
              <a:t>Discuss how to evaluate off-the-shelf software.</a:t>
            </a:r>
          </a:p>
          <a:p>
            <a:pPr lvl="1" eaLnBrk="1" hangingPunct="1">
              <a:buClr>
                <a:srgbClr val="BA2212"/>
              </a:buClr>
              <a:buFont typeface="Wingdings" panose="05000000000000000000" pitchFamily="2" charset="2"/>
              <a:buChar char="ü"/>
            </a:pPr>
            <a:r>
              <a:rPr lang="en-US" altLang="en-US"/>
              <a:t>Explain reuse and its role in software development.</a:t>
            </a:r>
          </a:p>
          <a:p>
            <a:pPr eaLnBrk="1" hangingPunct="1">
              <a:buFont typeface="Wingdings" panose="05000000000000000000" pitchFamily="2" charset="2"/>
              <a:buNone/>
            </a:pPr>
            <a:endParaRPr lang="en-US" altLang="en-US"/>
          </a:p>
        </p:txBody>
      </p:sp>
    </p:spTree>
    <p:extLst>
      <p:ext uri="{BB962C8B-B14F-4D97-AF65-F5344CB8AC3E}">
        <p14:creationId xmlns:p14="http://schemas.microsoft.com/office/powerpoint/2010/main" val="1295057682"/>
      </p:ext>
    </p:extLst>
  </p:cSld>
  <p:clrMapOvr>
    <a:masterClrMapping/>
  </p:clrMapOvr>
  <p:transition>
    <p:zoom/>
  </p:transition>
</p:sld>
</file>

<file path=ppt/theme/theme1.xml><?xml version="1.0" encoding="utf-8"?>
<a:theme xmlns:a="http://schemas.openxmlformats.org/drawingml/2006/main" name="Pixel">
  <a:themeElements>
    <a:clrScheme name="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fontScheme name="Pixe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1_Pixel 13">
    <a:dk1>
      <a:srgbClr val="000000"/>
    </a:dk1>
    <a:lt1>
      <a:srgbClr val="FFFFFF"/>
    </a:lt1>
    <a:dk2>
      <a:srgbClr val="000000"/>
    </a:dk2>
    <a:lt2>
      <a:srgbClr val="3399FF"/>
    </a:lt2>
    <a:accent1>
      <a:srgbClr val="009900"/>
    </a:accent1>
    <a:accent2>
      <a:srgbClr val="CC0066"/>
    </a:accent2>
    <a:accent3>
      <a:srgbClr val="FFFFFF"/>
    </a:accent3>
    <a:accent4>
      <a:srgbClr val="000000"/>
    </a:accent4>
    <a:accent5>
      <a:srgbClr val="AACAAA"/>
    </a:accent5>
    <a:accent6>
      <a:srgbClr val="B9005C"/>
    </a:accent6>
    <a:hlink>
      <a:srgbClr val="CC99FF"/>
    </a:hlink>
    <a:folHlink>
      <a:srgbClr val="FF660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FCC3DBBDD27046996F6B28FDDA9AA6" ma:contentTypeVersion="0" ma:contentTypeDescription="Create a new document." ma:contentTypeScope="" ma:versionID="f903405ccd5a60f45f459749f97675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321A1EB-0455-4832-88F5-EF187F35C8F9}"/>
</file>

<file path=customXml/itemProps2.xml><?xml version="1.0" encoding="utf-8"?>
<ds:datastoreItem xmlns:ds="http://schemas.openxmlformats.org/officeDocument/2006/customXml" ds:itemID="{8900E9F7-9C9B-4190-8575-2C4A9F9D67BF}"/>
</file>

<file path=customXml/itemProps3.xml><?xml version="1.0" encoding="utf-8"?>
<ds:datastoreItem xmlns:ds="http://schemas.openxmlformats.org/officeDocument/2006/customXml" ds:itemID="{D4619857-5312-40E1-8CFE-BFECDC9D879A}"/>
</file>

<file path=docProps/app.xml><?xml version="1.0" encoding="utf-8"?>
<Properties xmlns="http://schemas.openxmlformats.org/officeDocument/2006/extended-properties" xmlns:vt="http://schemas.openxmlformats.org/officeDocument/2006/docPropsVTypes">
  <Template/>
  <TotalTime>11945</TotalTime>
  <Words>2624</Words>
  <Application>Microsoft Office PowerPoint</Application>
  <PresentationFormat>On-screen Show (4:3)</PresentationFormat>
  <Paragraphs>252</Paragraphs>
  <Slides>37</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Tahoma</vt:lpstr>
      <vt:lpstr>Times New Roman</vt:lpstr>
      <vt:lpstr>Wingdings</vt:lpstr>
      <vt:lpstr>Pixel</vt:lpstr>
      <vt:lpstr>PowerPoint Presentation</vt:lpstr>
      <vt:lpstr>Learning Objectives</vt:lpstr>
      <vt:lpstr>Introduction</vt:lpstr>
      <vt:lpstr>Introduction (cont.)</vt:lpstr>
      <vt:lpstr>Sources of Software</vt:lpstr>
      <vt:lpstr>Systems Acquisition: Outsourcing</vt:lpstr>
      <vt:lpstr>Systems Acquisition: Outsourcing (Cont.)</vt:lpstr>
      <vt:lpstr>Outsourcing (Cont.)</vt:lpstr>
      <vt:lpstr>Global Outsourcing</vt:lpstr>
      <vt:lpstr>Sources of Software (Cont.)</vt:lpstr>
      <vt:lpstr>Information Technology (IT) Services Firms</vt:lpstr>
      <vt:lpstr>Packaged Software Producers</vt:lpstr>
      <vt:lpstr>Packaged Software Producers (Cont.)</vt:lpstr>
      <vt:lpstr>Prepackaged Software</vt:lpstr>
      <vt:lpstr>Enterprise Solutions Software</vt:lpstr>
      <vt:lpstr>Enterprise Solutions Software (Cont.)</vt:lpstr>
      <vt:lpstr>Cloud Computing</vt:lpstr>
      <vt:lpstr>Cloud Computing (Cont.)</vt:lpstr>
      <vt:lpstr>Cloud Computing (Cont.)</vt:lpstr>
      <vt:lpstr>Open Source Software</vt:lpstr>
      <vt:lpstr>In-House Development</vt:lpstr>
      <vt:lpstr>Sources of Software Components</vt:lpstr>
      <vt:lpstr>Selecting Off-the-Shelf Software</vt:lpstr>
      <vt:lpstr>Selecting Off-the-Shelf Software (Cont.)</vt:lpstr>
      <vt:lpstr>Selecting Off-the-Shelf Software (Cont.)</vt:lpstr>
      <vt:lpstr>Selecting Off-the-Shelf Software (Cont.)</vt:lpstr>
      <vt:lpstr>Validating Purchased Software Information</vt:lpstr>
      <vt:lpstr>Request For Proposal (RFP)</vt:lpstr>
      <vt:lpstr>Information Sources For RFP</vt:lpstr>
      <vt:lpstr>Reuse</vt:lpstr>
      <vt:lpstr>Reuse (Cont.)</vt:lpstr>
      <vt:lpstr>Reuse (Cont.)</vt:lpstr>
      <vt:lpstr>Costs and Benefits of Reuse</vt:lpstr>
      <vt:lpstr>3 Steps of Software Reuse</vt:lpstr>
      <vt:lpstr>Approaches to Reuse </vt:lpstr>
      <vt:lpstr>Approaches to Reuse (Cont.)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Systems Analysis and Design Ch1</dc:title>
  <dc:creator>Mike Mitri</dc:creator>
  <cp:lastModifiedBy>User</cp:lastModifiedBy>
  <cp:revision>593</cp:revision>
  <cp:lastPrinted>1601-01-01T00:00:00Z</cp:lastPrinted>
  <dcterms:created xsi:type="dcterms:W3CDTF">2000-04-11T00:26:26Z</dcterms:created>
  <dcterms:modified xsi:type="dcterms:W3CDTF">2022-02-17T14:21:25Z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0x01010058FCC3DBBDD27046996F6B28FDDA9AA6</vt:lpwstr>
  </property>
</Properties>
</file>